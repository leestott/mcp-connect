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0:00-0:45. Open, establish stakes, and move on.</a:t>
            </a:r>
          </a:p>
          <a:p/>
          <a:p>
            <a:r>
              <a:t>SAY: "Connecting an agent to a tool is straightforward. Knowing whether that tool</a:t>
            </a:r>
          </a:p>
          <a:p>
            <a:r>
              <a:t>should be called, what happens if it fails, and who is accountable for the result</a:t>
            </a:r>
          </a:p>
          <a:p>
            <a:r>
              <a:t>is the engineering problem. Today our system will assess a recall affecting 2,196</a:t>
            </a:r>
          </a:p>
          <a:p>
            <a:r>
              <a:t>units. The question is not whether a model can write a convincing recommendation.</a:t>
            </a:r>
          </a:p>
          <a:p>
            <a:r>
              <a:t>It is whether the application can act safely, explain what happened and survive a retry."</a:t>
            </a:r>
          </a:p>
          <a:p/>
          <a:p>
            <a:r>
              <a:t>POINT: Introduce the session as From Prototype to Production: Engineering Agent Systems with MCP, Multi-Agent Patterns and Real Work. This is a developer session about</a:t>
            </a:r>
          </a:p>
          <a:p>
            <a:r>
              <a:t>boundaries, orchestration and evidence, not prompt tricks or a healthcare product pitch.</a:t>
            </a:r>
          </a:p>
          <a:p>
            <a:r>
              <a:t>Microsoft Agent Framework supplies the workflow implementation; Microsoft Foundry is</a:t>
            </a:r>
          </a:p>
          <a:p>
            <a:r>
              <a:t>the hosted example; MCP supplies the tool boundary. These have different responsibilities.</a:t>
            </a:r>
          </a:p>
          <a:p/>
          <a:p>
            <a:r>
              <a:t>OPTIONAL DEPTH: The audience does not need protocol expertise. Explain MCP as a shared</a:t>
            </a:r>
          </a:p>
          <a:p>
            <a:r>
              <a:t>language through which an agent application discovers and calls external capabilities.</a:t>
            </a:r>
          </a:p>
          <a:p>
            <a:r>
              <a:t>The rest of the talk is about the software around that connection. The patterns apply</a:t>
            </a:r>
          </a:p>
          <a:p>
            <a:r>
              <a:t>with other hosts and model providers as well.</a:t>
            </a:r>
          </a:p>
          <a:p/>
          <a:p>
            <a:r>
              <a:t>CAUTION: Caldova and its operational data are fictional. We will show a local controls</a:t>
            </a:r>
          </a:p>
          <a:p>
            <a:r>
              <a:t>demo and a separate hosted reasoning demo, not a deployed enterprise recall product.</a:t>
            </a:r>
          </a:p>
          <a:p>
            <a:r>
              <a:t>Some patterns are compared on slides rather than executed. Do not promise dynamic</a:t>
            </a:r>
          </a:p>
          <a:p>
            <a:r>
              <a:t>supervisor routing in the live example.</a:t>
            </a:r>
          </a:p>
          <a:p/>
          <a:p>
            <a:r>
              <a:t>TRANSITION: "First, meet the workload. What exactly would a correct outcome look like?"</a:t>
            </a:r>
          </a:p>
          <a:p>
            <a:r>
              <a:t>Source: https://globalai.community/e/bd1o37ln</a:t>
            </a:r>
          </a:p>
          <a:p/>
          <a:p>
            <a:r>
              <a:t>OPTIONAL ENGINEERING DETAIL / Q&amp;A</a:t>
            </a:r>
          </a:p>
          <a:p>
            <a:r>
              <a:t>LEARNING CONTRACT: By the end, an attendee should be able to locate the MCP client/server</a:t>
            </a:r>
          </a:p>
          <a:p>
            <a:r>
              <a:t>boundary, inspect one discovered tool schema, call it without a model, interpret structured</a:t>
            </a:r>
          </a:p>
          <a:p>
            <a:r>
              <a:t>results and failures, and distinguish protocol behavior from workflow and business policy.</a:t>
            </a:r>
          </a:p>
          <a:p>
            <a:r>
              <a:t>For developers, the payoff is a repeatable integration and test pattern. For AI engineers,</a:t>
            </a:r>
          </a:p>
          <a:p>
            <a:r>
              <a:t>it is separating tool evidence from model quality so failures can be evaluated accurately.</a:t>
            </a:r>
          </a:p>
          <a:p>
            <a:r>
              <a:t>These are assessable outcomes, not a promise of complete production deployment training.</a:t>
            </a:r>
          </a:p>
          <a:p/>
          <a:p>
            <a:r>
              <a:t>DELIVERY: The detailed notes are preparation and Q&amp;A material, not a script to read</a:t>
            </a:r>
          </a:p>
          <a:p>
            <a:r>
              <a:t>verbatim. Use SAY and the timed cues for the live talk; select one technical point per slide.</a:t>
            </a:r>
          </a:p>
          <a:p>
            <a:r>
              <a:t>Ask: 'If the model confidently says stock is quarantined, what would you inspect to prove it?'</a:t>
            </a:r>
          </a:p>
          <a:p>
            <a:r>
              <a:t>Return to that question when the result and audit are visible.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0:45-1:30. Establish the acceptance contract before the architecture.</a:t>
            </a:r>
          </a:p>
          <a:p/>
          <a:p>
            <a:r>
              <a:t>SAY: "This is Caldova Recall Control Tower. A fictional cold-chain incident affects</a:t>
            </a:r>
          </a:p>
          <a:p>
            <a:r>
              <a:t>one batch across four stock locations. The system has to establish recall facts,</a:t>
            </a:r>
          </a:p>
          <a:p>
            <a:r>
              <a:t>calculate exposure, inspect supplier constraints and prepare a decision brief. A</a:t>
            </a:r>
          </a:p>
          <a:p>
            <a:r>
              <a:t>named person must approve before the application changes stock. Retrying must not</a:t>
            </a:r>
          </a:p>
          <a:p>
            <a:r>
              <a:t>change the same positions again. That is our definition of success."</a:t>
            </a:r>
          </a:p>
          <a:p/>
          <a:p>
            <a:r>
              <a:t>POINT: Start at 2,196 units, then point to the screenshot of the actual local UI.</a:t>
            </a:r>
          </a:p>
          <a:p>
            <a:r>
              <a:t>The large number is an operational invariant, not a model-generated estimate.</a:t>
            </a:r>
          </a:p>
          <a:p>
            <a:r>
              <a:t>The fixture contains Bengaluru DC 1,240, Chennai DC 760, Bengaluru Store 031 112,</a:t>
            </a:r>
          </a:p>
          <a:p>
            <a:r>
              <a:t>and Mysuru Store 014 84. The batch is B-2408-AX7, Caldova Relief 20 mg tablets.</a:t>
            </a:r>
          </a:p>
          <a:p>
            <a:r>
              <a:t>Do not read all locations aloud unless asked; they are useful when checking a live answer.</a:t>
            </a:r>
          </a:p>
          <a:p/>
          <a:p>
            <a:r>
              <a:t>OPTIONAL DEPTH: This is beyond a chatbot because a state transition matters. A fluent</a:t>
            </a:r>
          </a:p>
          <a:p>
            <a:r>
              <a:t>answer can still omit evidence, invent stock or claim an action that never occurred.</a:t>
            </a:r>
          </a:p>
          <a:p>
            <a:r>
              <a:t>We therefore distinguish the decision brief from permission, the mutation from the</a:t>
            </a:r>
          </a:p>
          <a:p>
            <a:r>
              <a:t>description of a mutation, and an audit record from conversational text.</a:t>
            </a:r>
          </a:p>
          <a:p/>
          <a:p>
            <a:r>
              <a:t>CAUTION: This is a saved screenshot. These counts are synthetic acceptance criteria,</a:t>
            </a:r>
          </a:p>
          <a:p>
            <a:r>
              <a:t>not evidence that a fresh invocation or tests passed today. Avoid saying the demo</a:t>
            </a:r>
          </a:p>
          <a:p>
            <a:r>
              <a:t>is medically validated or connected to real inventory.</a:t>
            </a:r>
          </a:p>
          <a:p/>
          <a:p>
            <a:r>
              <a:t>TRANSITION: "Now let us place the UI, agents and protocol in the solution architecture."</a:t>
            </a:r>
          </a:p>
          <a:p/>
          <a:p>
            <a:r>
              <a:t>OPTIONAL ENGINEERING DETAIL / Q&amp;A</a:t>
            </a:r>
          </a:p>
          <a:p>
            <a:r>
              <a:t>ENGINEERING DETAIL: Turn the story into invariants: a known batch, exact stock exposure,</a:t>
            </a:r>
          </a:p>
          <a:p>
            <a:r>
              <a:t>no unapproved mutation, and zero new mutations on replay. MCP transports the request and</a:t>
            </a:r>
          </a:p>
          <a:p>
            <a:r>
              <a:t>result; the domain owns the inventory computation. The model does not get to invent the</a:t>
            </a:r>
          </a:p>
          <a:p>
            <a:r>
              <a:t>stock count. This makes the example useful beyond pharmaceutical recall: the same split</a:t>
            </a:r>
          </a:p>
          <a:p>
            <a:r>
              <a:t>appears in refund approval, order cancellation and infrastructure change workflows.</a:t>
            </a:r>
          </a:p>
          <a:p/>
          <a:p>
            <a:r>
              <a:t>QUESTION: 'Could a single deterministic service do this?' Yes, and the local demo does.</a:t>
            </a:r>
          </a:p>
          <a:p>
            <a:r>
              <a:t>The separate agent path explores unstructured requests and synthesis. Additional agents</a:t>
            </a:r>
          </a:p>
          <a:p>
            <a:r>
              <a:t>should earn their complexity through measurable task decomposition, not through branding.</a:t>
            </a:r>
          </a:p>
          <a:p>
            <a:r>
              <a:t>The saved UI's Model Router badge is not evidence that this browser path calls a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1:30-3:00. This diagram is the anchor for the rest of the session.</a:t>
            </a:r>
          </a:p>
          <a:p/>
          <a:p>
            <a:r>
              <a:t>SAY: "There are two separate paths here. At the top, the browser calls the local</a:t>
            </a:r>
          </a:p>
          <a:p>
            <a:r>
              <a:t>FastAPI application. That application makes real in-memory MCP calls to the server.</a:t>
            </a:r>
          </a:p>
          <a:p>
            <a:r>
              <a:t>The domain layer owns approval validation, inventory changes, replay behavior and</a:t>
            </a:r>
          </a:p>
          <a:p>
            <a:r>
              <a:t>audit. This path demonstrates controls deterministically; it does not invoke an LLM."</a:t>
            </a:r>
          </a:p>
          <a:p/>
          <a:p>
            <a:r>
              <a:t>POINT: Trace the top lane left to right. The human approval arrives through the</a:t>
            </a:r>
          </a:p>
          <a:p>
            <a:r>
              <a:t>application. The application retains the usable approval token and exposes a local</a:t>
            </a:r>
          </a:p>
          <a:p>
            <a:r>
              <a:t>handle to the UI. A typed approver name is demonstration input, not authenticated identity.</a:t>
            </a:r>
          </a:p>
          <a:p/>
          <a:p>
            <a:r>
              <a:t>SAY: "Below is the actual agent path. A separate request reaches a Responses host</a:t>
            </a:r>
          </a:p>
          <a:p>
            <a:r>
              <a:t>in Microsoft Foundry. Microsoft Agent Framework runs four agents with a model client.</a:t>
            </a:r>
          </a:p>
          <a:p>
            <a:r>
              <a:t>Their tools call a read-only bridge, which uses an isolated MCP interpreter. The</a:t>
            </a:r>
          </a:p>
          <a:p>
            <a:r>
              <a:t>agents can inspect recall evidence, but they cannot approve or quarantine stock."</a:t>
            </a:r>
          </a:p>
          <a:p/>
          <a:p>
            <a:r>
              <a:t>OPTIONAL DEPTH: These paths reuse domain code and synthetic fixtures, not a shared</a:t>
            </a:r>
          </a:p>
          <a:p>
            <a:r>
              <a:t>live database. The current Control Tower does not call the hosted workflow. A</a:t>
            </a:r>
          </a:p>
          <a:p>
            <a:r>
              <a:t>deployment of the same code is not evidence that local mutation state appears in</a:t>
            </a:r>
          </a:p>
          <a:p>
            <a:r>
              <a:t>the hosted agent. Wiring a production UI, identity boundary and durable store would</a:t>
            </a:r>
          </a:p>
          <a:p>
            <a:r>
              <a:t>be additional work. The diagram describes logical components, not network segmentation.</a:t>
            </a:r>
          </a:p>
          <a:p/>
          <a:p>
            <a:r>
              <a:t>HOST, CLIENT, SERVER: An MCP host is the application that owns user interaction and</a:t>
            </a:r>
          </a:p>
          <a:p>
            <a:r>
              <a:t>tool-use policy. A client is its protocol connection/session; a server exposes capabilities.</a:t>
            </a:r>
          </a:p>
          <a:p>
            <a:r>
              <a:t>The model is not the MCP client. In this local path FastAPI owns Client(mcp). The hosted</a:t>
            </a:r>
          </a:p>
          <a:p>
            <a:r>
              <a:t>agent gets explicitly registered Python wrappers, not dynamically discovered MCP tools.</a:t>
            </a:r>
          </a:p>
          <a:p>
            <a:r>
              <a:t>main.py starts mcp_v2_bridge.py with a tool name and JSON argument on the command line;</a:t>
            </a:r>
          </a:p>
          <a:p>
            <a:r>
              <a:t>that child opens Client(mcp) in process and prints JSON back. This outer CLI/JSON adapter</a:t>
            </a:r>
          </a:p>
          <a:p>
            <a:r>
              <a:t>is custom application code, not an MCP transport. The new inspect_mcp.py demonstration</a:t>
            </a:r>
          </a:p>
          <a:p>
            <a:r>
              <a:t>instead launches caldova_mcp.py using StdioServerParameters and genuinely exercises</a:t>
            </a:r>
          </a:p>
          <a:p>
            <a:r>
              <a:t>MCP stdio. Distinguish the three paths when pointing at the diagram.</a:t>
            </a:r>
          </a:p>
          <a:p/>
          <a:p>
            <a:r>
              <a:t>CAUTION: Do not draw an imaginary UI-to-Foundry integration while narrating. Hosting,</a:t>
            </a:r>
          </a:p>
          <a:p>
            <a:r>
              <a:t>model access, MCP calls and business authorization are separate responsibilities.</a:t>
            </a:r>
          </a:p>
          <a:p>
            <a:r>
              <a:t>Source anchors: control_tower_api.py run_analysis/invoke; main.py build_workflow;</a:t>
            </a:r>
          </a:p>
          <a:p>
            <a:r>
              <a:t>mcp_v2_bridge.py read-tool boundary.</a:t>
            </a:r>
          </a:p>
          <a:p/>
          <a:p>
            <a:r>
              <a:t>TRANSITION: "MCP is the contract inside both paths. Here is what a well-designed tool exposes."</a:t>
            </a:r>
          </a:p>
          <a:p/>
          <a:p>
            <a:r>
              <a:t>OPTIONAL ENGINEERING DETAIL / Q&amp;A</a:t>
            </a:r>
          </a:p>
          <a:p>
            <a:r>
              <a:t>SOURCE WALK: Open control_tower_api.py at invoke to show Client(mcp), then caldova_mcp.py</a:t>
            </a:r>
          </a:p>
          <a:p>
            <a:r>
              <a:t>at locate_inventory to show its domain call. For the hosted lane, follow main.py's</a:t>
            </a:r>
          </a:p>
          <a:p>
            <a:r>
              <a:t>locate_inventory wrapper into _call_mcp_read_tool and then mcp_v2_bridge.py call_tool.</a:t>
            </a:r>
          </a:p>
          <a:p>
            <a:r>
              <a:t>Do not show credential-bearing environment files or deployment caches while navigating.</a:t>
            </a:r>
          </a:p>
          <a:p/>
          <a:p>
            <a:r>
              <a:t>TRADEOFF: Isolating incompatible packages solves a dependency boundary, but adds process</a:t>
            </a:r>
          </a:p>
          <a:p>
            <a:r>
              <a:t>startup overhead and another failure point. This sample does not provide a long-lived</a:t>
            </a:r>
          </a:p>
          <a:p>
            <a:r>
              <a:t>remote MCP server, connection pool, shared state store, or dynamic discovery-driven agent</a:t>
            </a:r>
          </a:p>
          <a:p>
            <a:r>
              <a:t>registration. Those would be explicit design choices, not consequences of using MCP.</a:t>
            </a:r>
          </a:p>
          <a:p>
            <a:r>
              <a:t>CHECK: Ask which component decides the next specialist. Answer: the fixed workflow graph,</a:t>
            </a:r>
          </a:p>
          <a:p>
            <a:r>
              <a:t>not the MCP server. Ask which enforces approval. Answer: application and domain policy.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3:00-4:00. Teach tool design using one concrete contract.</a:t>
            </a:r>
          </a:p>
          <a:p/>
          <a:p>
            <a:r>
              <a:t>SAY: "A useful tool is narrower than the business request. Instead of a generic</a:t>
            </a:r>
          </a:p>
          <a:p>
            <a:r>
              <a:t>execute-anything endpoint, locate_inventory answers one question: where is this</a:t>
            </a:r>
          </a:p>
          <a:p>
            <a:r>
              <a:t>batch and how much stock is affected? Its input identifies the batch. Its result</a:t>
            </a:r>
          </a:p>
          <a:p>
            <a:r>
              <a:t>contains positions, units and a location count that our workflow can verify."</a:t>
            </a:r>
          </a:p>
          <a:p/>
          <a:p>
            <a:r>
              <a:t>POINT: Read the lifecycle across the top. Initialization negotiates protocol version</a:t>
            </a:r>
          </a:p>
          <a:p>
            <a:r>
              <a:t>and capabilities; the SDK manages that exchange and the initialized notification.</a:t>
            </a:r>
          </a:p>
          <a:p>
            <a:r>
              <a:t>tools/list describes available tools, including inputSchema and optional outputSchema.</a:t>
            </a:r>
          </a:p>
          <a:p>
            <a:r>
              <a:t>tools/call names one tool and supplies arguments. The response can contain content</a:t>
            </a:r>
          </a:p>
          <a:p>
            <a:r>
              <a:t>blocks, structuredContent, and isError. These examples are selected fields, not full</a:t>
            </a:r>
          </a:p>
          <a:p>
            <a:r>
              <a:t>JSON-RPC envelopes. Do not imply that a model opens the connection itself.</a:t>
            </a:r>
          </a:p>
          <a:p/>
          <a:p>
            <a:r>
              <a:t>TECHNICAL WALKTHROUGH: The required batch_id is a string of 1 to 64 characters,</a:t>
            </a:r>
          </a:p>
          <a:p>
            <a:r>
              <a:t>restricted to uppercase letters, digits and hyphens. A JSON request can be syntactically</a:t>
            </a:r>
          </a:p>
          <a:p>
            <a:r>
              <a:t>valid yet fail this schema. A request can also pass its schema and fail business policy.</a:t>
            </a:r>
          </a:p>
          <a:p>
            <a:r>
              <a:t>The live inspection demonstrates both. In the Python SDK the wire fields inputSchema,</a:t>
            </a:r>
          </a:p>
          <a:p>
            <a:r>
              <a:t>structuredContent and isError appear as input_schema, structured_content and is_error.</a:t>
            </a:r>
          </a:p>
          <a:p/>
          <a:p>
            <a:r>
              <a:t>IMPORTANT LIMIT: The real return annotation is dict[str, Any], so this server advertises</a:t>
            </a:r>
          </a:p>
          <a:p>
            <a:r>
              <a:t>a generic object outputSchema with additionalProperties allowed. It does not enforce</a:t>
            </a:r>
          </a:p>
          <a:p>
            <a:r>
              <a:t>required inventory fields or validate the sum. The client/test asserts 2,196 and four</a:t>
            </a:r>
          </a:p>
          <a:p>
            <a:r>
              <a:t>locations. A typed result model plus explicit invariant checks would strengthen the</a:t>
            </a:r>
          </a:p>
          <a:p>
            <a:r>
              <a:t>contract; that improvement is not implemented here. Structured data is easier to check,</a:t>
            </a:r>
          </a:p>
          <a:p>
            <a:r>
              <a:t>but merely receiving structured JSON is not evidence of factual correctness.</a:t>
            </a:r>
          </a:p>
          <a:p/>
          <a:p>
            <a:r>
              <a:t>OPTIONAL DEPTH: Tool descriptions should say when to use the tool, its input constraints,</a:t>
            </a:r>
          </a:p>
          <a:p>
            <a:r>
              <a:t>side effects and failure behavior. Prefer structured results that downstream code can</a:t>
            </a:r>
          </a:p>
          <a:p>
            <a:r>
              <a:t>check. Bound result size and avoid returning an entire operational database to a model.</a:t>
            </a:r>
          </a:p>
          <a:p>
            <a:r>
              <a:t>Read-only or destructive annotations help a client reason about intent, but neither</a:t>
            </a:r>
          </a:p>
          <a:p>
            <a:r>
              <a:t>an annotation nor a prompt grants authorization. Treat returned prose as untrusted data.</a:t>
            </a:r>
          </a:p>
          <a:p/>
          <a:p>
            <a:r>
              <a:t>CAUTION: The agent-facing bridge in this implementation allow-lists read tools.</a:t>
            </a:r>
          </a:p>
          <a:p>
            <a:r>
              <a:t>Remote authentication and action authorization remain separate requirements. MCP</a:t>
            </a:r>
          </a:p>
          <a:p>
            <a:r>
              <a:t>does not choose the workflow graph or implement the inventory transaction for us.</a:t>
            </a:r>
          </a:p>
          <a:p/>
          <a:p>
            <a:r>
              <a:t>TRANSITION: "The tool contract is clear. Which orchestration shape should consume it?"</a:t>
            </a:r>
          </a:p>
          <a:p>
            <a:r>
              <a:t>Reference: https://modelcontextprotocol.io/docs/learn/architecture</a:t>
            </a:r>
          </a:p>
          <a:p/>
          <a:p>
            <a:r>
              <a:t>OPTIONAL ENGINEERING DETAIL / Q&amp;A</a:t>
            </a:r>
          </a:p>
          <a:p>
            <a:r>
              <a:t>THREE CHECKS: Parse JSON; validate its shape; validate business meaning. These are separate</a:t>
            </a:r>
          </a:p>
          <a:p>
            <a:r>
              <a:t>checks. The regex rejects malformed identifiers, but does not prove the batch exists.</a:t>
            </a:r>
          </a:p>
          <a:p>
            <a:r>
              <a:t>An output schema can describe fields, but does not prove the inventory source is correct.</a:t>
            </a:r>
          </a:p>
          <a:p>
            <a:r>
              <a:t>A readOnlyHint communicates intent, but does not constrain a malicious server's behavior.</a:t>
            </a:r>
          </a:p>
          <a:p/>
          <a:p>
            <a:r>
              <a:t>API DESIGN: Prefer narrow names and bounded arguments over an execute_sql or run_command</a:t>
            </a:r>
          </a:p>
          <a:p>
            <a:r>
              <a:t>tool. Describe unknown data explicitly. Avoid stuffing instructions into tool results;</a:t>
            </a:r>
          </a:p>
          <a:p>
            <a:r>
              <a:t>the host should treat results as external evidence, not higher-priority instructions.</a:t>
            </a:r>
          </a:p>
          <a:p>
            <a:r>
              <a:t>Contract changes need compatibility tests across consumers. Discovery helps clients learn</a:t>
            </a:r>
          </a:p>
          <a:p>
            <a:r>
              <a:t>the shape, but does not guarantee that old prompts or client logic will interpret a new</a:t>
            </a:r>
          </a:p>
          <a:p>
            <a:r>
              <a:t>field correctly. Check the hidden code appendix for the exact SDK-to-wire field mapping.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4:00-5:15. Compare patterns without promising three live implementations.</a:t>
            </a:r>
          </a:p>
          <a:p/>
          <a:p>
            <a:r>
              <a:t>SAY: "Start with the smallest workflow that can do the job. If every step depends</a:t>
            </a:r>
          </a:p>
          <a:p>
            <a:r>
              <a:t>on evidence from the previous one, a sequential workflow gives you a predictable</a:t>
            </a:r>
          </a:p>
          <a:p>
            <a:r>
              <a:t>order and a clear place to validate the handoff. That is what this sample implements."</a:t>
            </a:r>
          </a:p>
          <a:p/>
          <a:p>
            <a:r>
              <a:t>POINT: Move to the middle diagram. "Supervisor routing is different. A controller</a:t>
            </a:r>
          </a:p>
          <a:p>
            <a:r>
              <a:t>chooses which specialist should handle the next task. That can help when requests</a:t>
            </a:r>
          </a:p>
          <a:p>
            <a:r>
              <a:t>vary, but it introduces routing errors, loops and a termination problem. Bound the</a:t>
            </a:r>
          </a:p>
          <a:p>
            <a:r>
              <a:t>choices, give the router explicit completion criteria and evaluate its decisions."</a:t>
            </a:r>
          </a:p>
          <a:p/>
          <a:p>
            <a:r>
              <a:t>SAY: "Use parallel collaboration when evidence sources are independent. Fan out,</a:t>
            </a:r>
          </a:p>
          <a:p>
            <a:r>
              <a:t>then join and reconcile the results. You gain potential latency benefits but need</a:t>
            </a:r>
          </a:p>
          <a:p>
            <a:r>
              <a:t>a partial-failure policy, consistent inputs and rules for disagreement. More agents</a:t>
            </a:r>
          </a:p>
          <a:p>
            <a:r>
              <a:t>are not automatically more intelligence. Sometimes one tool-enabled agent is sufficient."</a:t>
            </a:r>
          </a:p>
          <a:p/>
          <a:p>
            <a:r>
              <a:t>OPTIONAL DEPTH: Supervisor routing and decentralized handoffs are not identical:</a:t>
            </a:r>
          </a:p>
          <a:p>
            <a:r>
              <a:t>one centralizes the choice, the other delegates it between participants. Neither is</a:t>
            </a:r>
          </a:p>
          <a:p>
            <a:r>
              <a:t>shown live here. In our sample the agent named supervisor is the final synthesizer,</a:t>
            </a:r>
          </a:p>
          <a:p>
            <a:r>
              <a:t>not a dynamic router. Human approval can sit after any of these patterns because</a:t>
            </a:r>
          </a:p>
          <a:p>
            <a:r>
              <a:t>business authority is independent of who produced the recommendation.</a:t>
            </a:r>
          </a:p>
          <a:p/>
          <a:p>
            <a:r>
              <a:t>CAUTION: Only sequential collaboration and application-level human approval are</a:t>
            </a:r>
          </a:p>
          <a:p>
            <a:r>
              <a:t>demonstrated. Routing and parallel execution are design comparisons. If the abstract</a:t>
            </a:r>
          </a:p>
          <a:p>
            <a:r>
              <a:t>must promise all patterns live, that requires new demo implementation and rehearsal.</a:t>
            </a:r>
          </a:p>
          <a:p/>
          <a:p>
            <a:r>
              <a:t>TRANSITION: "Let us look at the exact sequence our Agent Framework code builds."</a:t>
            </a:r>
          </a:p>
          <a:p>
            <a:r>
              <a:t>Reference: https://github.com/microsoft/agent-framework/tree/main/python/packages/orchestrations</a:t>
            </a:r>
          </a:p>
          <a:p/>
          <a:p>
            <a:r>
              <a:t>OPTIONAL ENGINEERING DETAIL / Q&amp;A</a:t>
            </a:r>
          </a:p>
          <a:p>
            <a:r>
              <a:t>DECISION RULE: Before adding agents, ask whether steps require separate instructions,</a:t>
            </a:r>
          </a:p>
          <a:p>
            <a:r>
              <a:t>tools, evaluation criteria, or context. This demo's three read sources could be fetched</a:t>
            </a:r>
          </a:p>
          <a:p>
            <a:r>
              <a:t>concurrently for the known batch; the implemented sequence is a teaching/design choice,</a:t>
            </a:r>
          </a:p>
          <a:p>
            <a:r>
              <a:t>not proof that the data requires sequential access. A production comparison should</a:t>
            </a:r>
          </a:p>
          <a:p>
            <a:r>
              <a:t>measure single-agent, deterministic fan-out, and multi-agent designs on quality, latency,</a:t>
            </a:r>
          </a:p>
          <a:p>
            <a:r>
              <a:t>cost and failure recovery. MCP does not mandate any one orchestration pattern.</a:t>
            </a:r>
          </a:p>
          <a:p/>
          <a:p>
            <a:r>
              <a:t>Q&amp;A: 'Does the router in Model Router choose the next agent?' No. Model selection and</a:t>
            </a:r>
          </a:p>
          <a:p>
            <a:r>
              <a:t>agent-workflow routing are different concerns. 'Is human approval an extra model vote?'</a:t>
            </a:r>
          </a:p>
          <a:p>
            <a:r>
              <a:t>No. A separate authoritative policy check is required regardless of how evidence arrived.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5:15-6:00. Explain the implemented graph; keep code details for questions.</a:t>
            </a:r>
          </a:p>
          <a:p/>
          <a:p>
            <a:r>
              <a:t>SAY: "Recall Triage establishes the batch. Inventory Impact measures exposure.</a:t>
            </a:r>
          </a:p>
          <a:p>
            <a:r>
              <a:t>Supplier and Compliance identifies constraints and unknowns. The supervisor receives</a:t>
            </a:r>
          </a:p>
          <a:p>
            <a:r>
              <a:t>the evidence and produces a brief. Each specialist has one read tool. The supervisor</a:t>
            </a:r>
          </a:p>
          <a:p>
            <a:r>
              <a:t>has no tools. Its job is synthesis, not acquiring new authority."</a:t>
            </a:r>
          </a:p>
          <a:p/>
          <a:p>
            <a:r>
              <a:t>POINT: Trace the arrows. The actual WorkflowBuilder has three fixed edges:</a:t>
            </a:r>
          </a:p>
          <a:p>
            <a:r>
              <a:t>triage to inventory, inventory to compliance, compliance to supervisor. The workflow</a:t>
            </a:r>
          </a:p>
          <a:p>
            <a:r>
              <a:t>returns output from the supervisor. This is collaboration through shared evidence,</a:t>
            </a:r>
          </a:p>
          <a:p>
            <a:r>
              <a:t>not a free-form conversation in which agents negotiate what to do next.</a:t>
            </a:r>
          </a:p>
          <a:p/>
          <a:p>
            <a:r>
              <a:t>OPTIONAL DEPTH: Triage uses last-agent context; downstream executors use full context.</a:t>
            </a:r>
          </a:p>
          <a:p>
            <a:r>
              <a:t>The final agent also sees the original question so it can distinguish a focused fact</a:t>
            </a:r>
          </a:p>
          <a:p>
            <a:r>
              <a:t>request from a broad assessment. More context helps preserve facts, but increases</a:t>
            </a:r>
          </a:p>
          <a:p>
            <a:r>
              <a:t>token use and does not guarantee complete synthesis. Evaluate the final brief against</a:t>
            </a:r>
          </a:p>
          <a:p>
            <a:r>
              <a:t>the actual tool results, not against whether it sounds comprehensive.</a:t>
            </a:r>
          </a:p>
          <a:p/>
          <a:p>
            <a:r>
              <a:t>CAUTION: Instructions to call a tool exactly once guide model behavior; they are not</a:t>
            </a:r>
          </a:p>
          <a:p>
            <a:r>
              <a:t>a transaction or authorization mechanism. The bridge's read-only restriction is code.</a:t>
            </a:r>
          </a:p>
          <a:p>
            <a:r>
              <a:t>Neither request_approval nor quarantine_batch is exposed to these agents. Do not call</a:t>
            </a:r>
          </a:p>
          <a:p>
            <a:r>
              <a:t>the final synthesis step dynamic supervisor routing.</a:t>
            </a:r>
          </a:p>
          <a:p/>
          <a:p>
            <a:r>
              <a:t>TRANSITION: "Before trusting a model with the evidence, prove that the controls work.</a:t>
            </a:r>
          </a:p>
          <a:p>
            <a:r>
              <a:t>We will start with the local MCP and policy path."</a:t>
            </a:r>
          </a:p>
          <a:p/>
          <a:p>
            <a:r>
              <a:t>OPTIONAL ENGINEERING DETAIL / Q&amp;A</a:t>
            </a:r>
          </a:p>
          <a:p>
            <a:r>
              <a:t>CODE DETAIL: build_agents registers explicit Python function wrappers with each Agent.</a:t>
            </a:r>
          </a:p>
          <a:p>
            <a:r>
              <a:t>Those wrappers call the read-only bridge. The application does not automatically give</a:t>
            </a:r>
          </a:p>
          <a:p>
            <a:r>
              <a:t>the model everything returned by tools/list. Discovery and exposure are different steps.</a:t>
            </a:r>
          </a:p>
          <a:p>
            <a:r>
              <a:t>The bridge's READ_ONLY_TOOLS allowlist provides a second check below the model-facing</a:t>
            </a:r>
          </a:p>
          <a:p>
            <a:r>
              <a:t>tool list. The underlying demo MCP server still exposes seven tools to direct clients,</a:t>
            </a:r>
          </a:p>
          <a:p>
            <a:r>
              <a:t>which is why a public remote deployment would need stronger server-side authorization.</a:t>
            </a:r>
          </a:p>
          <a:p/>
          <a:p>
            <a:r>
              <a:t>EVALUATION: Check not only the supervisor's text, but each specialist's evidence and</a:t>
            </a:r>
          </a:p>
          <a:p>
            <a:r>
              <a:t>handoff. Instructions such as 'call exactly once' are not enforced transaction guarantees.</a:t>
            </a:r>
          </a:p>
          <a:p>
            <a:r>
              <a:t>The final response must not claim approval or mutation based on a persuasive request.</a:t>
            </a:r>
          </a:p>
          <a:p>
            <a:r>
              <a:t>Keeping mutation tools out of the agent's tool set limits accidental execution but does</a:t>
            </a:r>
          </a:p>
          <a:p>
            <a:r>
              <a:t>not make the whole server safe to expose to arbitrary clients.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6:00-11:00. Five minutes; stop on time even if a step is incomplete.</a:t>
            </a:r>
          </a:p>
          <a:p/>
          <a:p>
            <a:r>
              <a:t>SAY: "This first run is deliberately deterministic. The UI displays four stages,</a:t>
            </a:r>
          </a:p>
          <a:p>
            <a:r>
              <a:t>but the local endpoint performs three real MCP reads and assembles the brief in code.</a:t>
            </a:r>
          </a:p>
          <a:p>
            <a:r>
              <a:t>We are testing tool access and state transitions here, not claiming an LLM executed."</a:t>
            </a:r>
          </a:p>
          <a:p/>
          <a:p>
            <a:r>
              <a:t>DEMO CUES:</a:t>
            </a:r>
          </a:p>
          <a:p>
            <a:r>
              <a:t>0. At 6:00 run the prepared terminal command from the repository root:</a:t>
            </a:r>
          </a:p>
          <a:p>
            <a:r>
              <a:t>./caldova-recall-control/.venv/Scripts/python.exe caldova-recall-control/scripts/inspect_mcp.py</a:t>
            </a:r>
          </a:p>
          <a:p>
            <a:r>
              <a:t>Budget 75 seconds. It uses the installed MCP SDK to launch the real stdio server.</a:t>
            </a:r>
          </a:p>
          <a:p>
            <a:r>
              <a:t>Point to CONNECT and the negotiated version, then DISCOVER and seven server tools.</a:t>
            </a:r>
          </a:p>
          <a:p>
            <a:r>
              <a:t>Read the inventory inputSchema constraints and generic outputSchema. Show the actual</a:t>
            </a:r>
          </a:p>
          <a:p>
            <a:r>
              <a:t>tools/call arguments and structured result, including four positions and 2,196 units.</a:t>
            </a:r>
          </a:p>
          <a:p>
            <a:r>
              <a:t>The malformed batch produces isError true. A schema-valid but unapproved quarantine</a:t>
            </a:r>
          </a:p>
          <a:p>
            <a:r>
              <a:t>also produces isError true. A follow-up read verifies unchanged inventory. No model</a:t>
            </a:r>
          </a:p>
          <a:p>
            <a:r>
              <a:t>or cloud credentials are involved, and this child does not change browser state.</a:t>
            </a:r>
          </a:p>
          <a:p>
            <a:r>
              <a:t>Do not mistake discovery of seven tools for permission to expose all seven to an agent.</a:t>
            </a:r>
          </a:p>
          <a:p>
            <a:r>
              <a:t>The bridge exposes only three read tools; request_approval and reset_demo are powerful</a:t>
            </a:r>
          </a:p>
          <a:p>
            <a:r>
              <a:t>application/demo capabilities and would need a real identity boundary in production.</a:t>
            </a:r>
          </a:p>
          <a:p>
            <a:r>
              <a:t>1. Switch to the already running http://127.0.0.1:8091 and reset. Show the active</a:t>
            </a:r>
          </a:p>
          <a:p>
            <a:r>
              <a:t>recall and expected 2,196 units across four positions. Do not rely on a particular</a:t>
            </a:r>
          </a:p>
          <a:p>
            <a:r>
              <a:t>status badge: the UI may say ASSESSMENT before analysis.</a:t>
            </a:r>
          </a:p>
          <a:p>
            <a:r>
              <a:t>2. Select Run analysis. Point to the three tool names, input batch, outcomes and</a:t>
            </a:r>
          </a:p>
          <a:p>
            <a:r>
              <a:t>durations. The completed supervisor stage is a deterministic summary in this path.</a:t>
            </a:r>
          </a:p>
          <a:p>
            <a:r>
              <a:t>3. For denial, use a prepared PowerShell 7 terminal. There is no unauthenticated</a:t>
            </a:r>
          </a:p>
          <a:p>
            <a:r>
              <a:t>quarantine button in the UI. This request uses a deliberately invalid local handle:</a:t>
            </a:r>
          </a:p>
          <a:p>
            <a:r>
              <a:t>Invoke-WebRequest http://127.0.0.1:8091/api/quarantine -Method POST -ContentType 'application/json' -Body '{"approval_id":"not-approved"}' -SkipHttpErrorCheck</a:t>
            </a:r>
          </a:p>
          <a:p>
            <a:r>
              <a:t>Expect HTTP 403 and "Valid named approval is required". Never substitute a real token.</a:t>
            </a:r>
          </a:p>
          <a:p>
            <a:r>
              <a:t>4. Select Approve quarantine. Enter Asha Rao, Responsible Pharmacist. Submitting the</a:t>
            </a:r>
          </a:p>
          <a:p>
            <a:r>
              <a:t>dialog records the approval and immediately invokes quarantine; there is no separate</a:t>
            </a:r>
          </a:p>
          <a:p>
            <a:r>
              <a:t>second quarantine button. Check four positions changed and 2,196 units processed.</a:t>
            </a:r>
          </a:p>
          <a:p>
            <a:r>
              <a:t>5. Select Replay quarantine. Verify positions_changed is zero and inspect the audit.</a:t>
            </a:r>
          </a:p>
          <a:p/>
          <a:p>
            <a:r>
              <a:t>EXPLAIN: Ask the audience to distinguish two denials. The terminal receives an MCP</a:t>
            </a:r>
          </a:p>
          <a:p>
            <a:r>
              <a:t>CallToolResult with isError; the browser API returns HTTP 403 before its invalid handle</a:t>
            </a:r>
          </a:p>
          <a:p>
            <a:r>
              <a:t>can authorize the call. HTTP 403 is not an MCP protocol error. The terminal deliberately</a:t>
            </a:r>
          </a:p>
          <a:p>
            <a:r>
              <a:t>uses a schema-valid invalid credential so policy, not the regex, rejects the operation.</a:t>
            </a:r>
          </a:p>
          <a:p>
            <a:r>
              <a:t>Skip the extra HTTP denial on stage if the terminal segment runs long.</a:t>
            </a:r>
          </a:p>
          <a:p>
            <a:r>
              <a:t>A disabled button alone is not authorization. The direct API denial proves</a:t>
            </a:r>
          </a:p>
          <a:p>
            <a:r>
              <a:t>the application checks the handle. However, entering a name is still not enterprise</a:t>
            </a:r>
          </a:p>
          <a:p>
            <a:r>
              <a:t>authentication. Keep the usable credential out of the browser display and audit.</a:t>
            </a:r>
          </a:p>
          <a:p/>
          <a:p>
            <a:r>
              <a:t>RECOVERY: If the server or action fails, do not improvise setup on stage. Move to</a:t>
            </a:r>
          </a:p>
          <a:p>
            <a:r>
              <a:t>slide 8, label it a saved screenshot, and explain the expected transitions. Do not</a:t>
            </a:r>
          </a:p>
          <a:p>
            <a:r>
              <a:t>claim a fresh run passed. The replay guarantee is local, not yet cross-replica proof.</a:t>
            </a:r>
          </a:p>
          <a:p/>
          <a:p>
            <a:r>
              <a:t>TRANSITION: "What matters is the state change, not the confidence of the explanation."</a:t>
            </a:r>
          </a:p>
          <a:p/>
          <a:p>
            <a:r>
              <a:t>OPTIONAL ENGINEERING DETAIL / Q&amp;A</a:t>
            </a:r>
          </a:p>
          <a:p>
            <a:r>
              <a:t>MINUTE-BY-MINUTE: 6:00-7:15 terminal discovery/schema/call/failures; 7:15-8:15 browser reset</a:t>
            </a:r>
          </a:p>
          <a:p>
            <a:r>
              <a:t>and analysis; 8:15-9:00 explain the optional API denial; 9:00-10:00 approve and act;</a:t>
            </a:r>
          </a:p>
          <a:p>
            <a:r>
              <a:t>10:00-11:00 replay and inspect evidence. Skip the optional HTTP request if needed.</a:t>
            </a:r>
          </a:p>
          <a:p>
            <a:r>
              <a:t>Do not install packages or start a new server while presenting. Rehearse the terminal's</a:t>
            </a:r>
          </a:p>
          <a:p>
            <a:r>
              <a:t>scroll position so the seven numbered sections are easy to follow rather than reading</a:t>
            </a:r>
          </a:p>
          <a:p>
            <a:r>
              <a:t>the full inventory JSON aloud. Keep the font large enough for the back of the room.</a:t>
            </a:r>
          </a:p>
          <a:p/>
          <a:p>
            <a:r>
              <a:t>AUDIENCE PROMPT: Before section 6, ask: 'The credential passes the schema. Will the write</a:t>
            </a:r>
          </a:p>
          <a:p>
            <a:r>
              <a:t>succeed?' After denial, ask which layer rejected it. Before replay, ask whether the total</a:t>
            </a:r>
          </a:p>
          <a:p>
            <a:r>
              <a:t>stock count or positions_changed proves no duplicate mutation. The latter is the relevant</a:t>
            </a:r>
          </a:p>
          <a:p>
            <a:r>
              <a:t>mutation evidence. This creates a predict-observe-explain sequence rather than a click tour.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11:00-11:30. A brief debrief, or a clearly labelled fallback.</a:t>
            </a:r>
          </a:p>
          <a:p/>
          <a:p>
            <a:r>
              <a:t>SAY: "There are three things to verify. The authorized first call processes the</a:t>
            </a:r>
          </a:p>
          <a:p>
            <a:r>
              <a:t>affected stock. A replay changes no additional positions. The audit records the</a:t>
            </a:r>
          </a:p>
          <a:p>
            <a:r>
              <a:t>decision without exposing a credential somebody could reuse. Those are properties</a:t>
            </a:r>
          </a:p>
          <a:p>
            <a:r>
              <a:t>of the application and domain controls, not of how persuasive the brief sounds."</a:t>
            </a:r>
          </a:p>
          <a:p/>
          <a:p>
            <a:r>
              <a:t>POINT: This image is a saved quarantined-state screenshot. The replay number at the</a:t>
            </a:r>
          </a:p>
          <a:p>
            <a:r>
              <a:t>right summarizes the acceptance criterion; it is not proof that this image alone</a:t>
            </a:r>
          </a:p>
          <a:p>
            <a:r>
              <a:t>captures every step. When the live demo succeeds, reference the actual first and</a:t>
            </a:r>
          </a:p>
          <a:p>
            <a:r>
              <a:t>replay responses. When it fails, say plainly that the screenshot is the fallback.</a:t>
            </a:r>
          </a:p>
          <a:p/>
          <a:p>
            <a:r>
              <a:t>OPTIONAL DEPTH: Idempotency means retrying an operation does not create an additional</a:t>
            </a:r>
          </a:p>
          <a:p>
            <a:r>
              <a:t>business effect. It does not necessarily mean every response field is identical.</a:t>
            </a:r>
          </a:p>
          <a:p>
            <a:r>
              <a:t>A replay can report the same batch outcome while returning zero newly changed positions.</a:t>
            </a:r>
          </a:p>
          <a:p>
            <a:r>
              <a:t>In distributed systems, the idempotency decision must be stored atomically with the</a:t>
            </a:r>
          </a:p>
          <a:p>
            <a:r>
              <a:t>business mutation. A process-local dictionary is not sufficient across replicas.</a:t>
            </a:r>
          </a:p>
          <a:p/>
          <a:p>
            <a:r>
              <a:t>CAUTION: A named approval is a demo record, not evidence of verified professional</a:t>
            </a:r>
          </a:p>
          <a:p>
            <a:r>
              <a:t>identity. The screenshot does not prove today's tests, a hosted invocation or a</a:t>
            </a:r>
          </a:p>
          <a:p>
            <a:r>
              <a:t>production deployment passed. Keep these claims separate during questions.</a:t>
            </a:r>
          </a:p>
          <a:p/>
          <a:p>
            <a:r>
              <a:t>TRANSITION: "A correct state change is one half of reliability. When the answer is</a:t>
            </a:r>
          </a:p>
          <a:p>
            <a:r>
              <a:t>wrong or slow, we also need to find the exact point where evidence diverged."</a:t>
            </a:r>
          </a:p>
          <a:p/>
          <a:p>
            <a:r>
              <a:t>OPTIONAL ENGINEERING DETAIL / Q&amp;A</a:t>
            </a:r>
          </a:p>
          <a:p>
            <a:r>
              <a:t>PROOF MATRIX: Terminal protocol/version/list/schema proves an MCP session and contract</a:t>
            </a:r>
          </a:p>
          <a:p>
            <a:r>
              <a:t>inspection. The valid read proves the server returns synthetic structured facts. The</a:t>
            </a:r>
          </a:p>
          <a:p>
            <a:r>
              <a:t>denied call plus unchanged read proves that invalid approval did not mutate that child's</a:t>
            </a:r>
          </a:p>
          <a:p>
            <a:r>
              <a:t>state. The browser approval and replay prove the local application policy path. None of</a:t>
            </a:r>
          </a:p>
          <a:p>
            <a:r>
              <a:t>these proves cloud deployment health, distributed transactions, or professional identity.</a:t>
            </a:r>
          </a:p>
          <a:p/>
          <a:p>
            <a:r>
              <a:t>Q&amp;A: 'Why does an idempotent operation return a different count on replay?' Because the</a:t>
            </a:r>
          </a:p>
          <a:p>
            <a:r>
              <a:t>business state is unchanged while the response reports newly affected positions. 'What</a:t>
            </a:r>
          </a:p>
          <a:p>
            <a:r>
              <a:t>if the process restarts?' The local store resets; do not generalize process-local behavior</a:t>
            </a:r>
          </a:p>
          <a:p>
            <a:r>
              <a:t>to a durable multi-replica guarantee. A production design needs an atomic mutation and</a:t>
            </a:r>
          </a:p>
          <a:p>
            <a:r>
              <a:t>idempotency record, with a defined key scope, retention period and approval lifecycle.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11:30-13:00. Teach a debugging method before opening a hosted trace.</a:t>
            </a:r>
          </a:p>
          <a:p/>
          <a:p>
            <a:r>
              <a:t>SAY: "Start with the first incorrect piece of evidence, not the last sentence in</a:t>
            </a:r>
          </a:p>
          <a:p>
            <a:r>
              <a:t>the response. If the inventory tool returned the wrong result, inspect its arguments,</a:t>
            </a:r>
          </a:p>
          <a:p>
            <a:r>
              <a:t>validation and data source. If the tool result is correct but the final brief is</a:t>
            </a:r>
          </a:p>
          <a:p>
            <a:r>
              <a:t>wrong, inspect the context passed between steps and the supervisor's synthesis."</a:t>
            </a:r>
          </a:p>
          <a:p/>
          <a:p>
            <a:r>
              <a:t>POINT: Walk down request, triage, inventory, supplier and brief. This is an illustrative</a:t>
            </a:r>
          </a:p>
          <a:p>
            <a:r>
              <a:t>sequence, not a captured trace or performance chart. The final red bar marks where</a:t>
            </a:r>
          </a:p>
          <a:p>
            <a:r>
              <a:t>an answer could become incorrect, not an observed incident. Bar lengths are not timings.</a:t>
            </a:r>
          </a:p>
          <a:p>
            <a:r>
              <a:t>For a slow or failed call, inspect duration, timeouts, process exit and cleanup before</a:t>
            </a:r>
          </a:p>
          <a:p>
            <a:r>
              <a:t>changing prompts. A timeout is an infrastructure symptom, not a missing instruction.</a:t>
            </a:r>
          </a:p>
          <a:p/>
          <a:p>
            <a:r>
              <a:t>OPTIONAL DEPTH: The local API records tool, filtered input, correlation ID, outcome</a:t>
            </a:r>
          </a:p>
          <a:p>
            <a:r>
              <a:t>and duration. The hosted bridge bounds concurrent child processes, times out communication,</a:t>
            </a:r>
          </a:p>
          <a:p>
            <a:r>
              <a:t>reaps failed children and returns controlled errors. Those are inspectable code facts.</a:t>
            </a:r>
          </a:p>
          <a:p>
            <a:r>
              <a:t>End-to-end hosted trace propagation must be verified in a real run; do not assume a</a:t>
            </a:r>
          </a:p>
          <a:p>
            <a:r>
              <a:t>correlation ID automatically crosses every boundary.</a:t>
            </a:r>
          </a:p>
          <a:p/>
          <a:p>
            <a:r>
              <a:t>DEMO CUE: In the next demo find one tool result and compare its facts with the final</a:t>
            </a:r>
          </a:p>
          <a:p>
            <a:r>
              <a:t>brief. If a supplier fact is absent, determine whether it was missing at source or</a:t>
            </a:r>
          </a:p>
          <a:p>
            <a:r>
              <a:t>lost during synthesis. A useful evaluation checks coverage as well as refusal behavior.</a:t>
            </a:r>
          </a:p>
          <a:p/>
          <a:p>
            <a:r>
              <a:t>CAUTION: Do not expose approval tokens, raw secrets or sensitive operational payloads</a:t>
            </a:r>
          </a:p>
          <a:p>
            <a:r>
              <a:t>while tracing. Observability needs enough evidence to debug, not indiscriminate logging.</a:t>
            </a:r>
          </a:p>
          <a:p/>
          <a:p>
            <a:r>
              <a:t>TRANSITION: "Now we will apply that method to the real Agent Framework workflow."</a:t>
            </a:r>
          </a:p>
          <a:p/>
          <a:p>
            <a:r>
              <a:t>OPTIONAL ENGINEERING DETAIL / Q&amp;A</a:t>
            </a:r>
          </a:p>
          <a:p>
            <a:r>
              <a:t>DIAGNOSTIC ORDER: First inspect request arguments and schema. Then inspect transport or</a:t>
            </a:r>
          </a:p>
          <a:p>
            <a:r>
              <a:t>process failure. Then inspect the server's structured result. Finally compare that result</a:t>
            </a:r>
          </a:p>
          <a:p>
            <a:r>
              <a:t>with the agent handoff and final answer. Do not start by rewriting the system prompt when</a:t>
            </a:r>
          </a:p>
          <a:p>
            <a:r>
              <a:t>the server is unavailable or has returned wrong data. Distinguish a tool result with</a:t>
            </a:r>
          </a:p>
          <a:p>
            <a:r>
              <a:t>isError from an SDK exception, a JSON-RPC error, and the browser API's HTTP response.</a:t>
            </a:r>
          </a:p>
          <a:p/>
          <a:p>
            <a:r>
              <a:t>METRICS: Track counts and latency separately for model calls, MCP tool calls, and custom</a:t>
            </a:r>
          </a:p>
          <a:p>
            <a:r>
              <a:t>bridge startup. One slow request is not a benchmark. Record tool name, version, sanitized</a:t>
            </a:r>
          </a:p>
          <a:p>
            <a:r>
              <a:t>arguments, outcome and correlation where supported. Trace propagation across the custom</a:t>
            </a:r>
          </a:p>
          <a:p>
            <a:r>
              <a:t>subprocess boundary is not automatic. Demonstrate only spans actually present and never</a:t>
            </a:r>
          </a:p>
          <a:p>
            <a:r>
              <a:t>put reusable approval credentials into logs merely to make a trace look comprehensive.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13:00-17:00. Four minutes; all tabs and authentication must be ready beforehand.</a:t>
            </a:r>
          </a:p>
          <a:p/>
          <a:p>
            <a:r>
              <a:t>SAY: "This is the actual agent execution. We are invoking the deployed Responses</a:t>
            </a:r>
          </a:p>
          <a:p>
            <a:r>
              <a:t>host separately from the Control Tower. Microsoft Agent Framework coordinates the</a:t>
            </a:r>
          </a:p>
          <a:p>
            <a:r>
              <a:t>specialists, the model produces their reasoning, and their allowed tools cross the</a:t>
            </a:r>
          </a:p>
          <a:p>
            <a:r>
              <a:t>read-only MCP bridge. The same fixture makes the facts comparable with the local demo."</a:t>
            </a:r>
          </a:p>
          <a:p/>
          <a:p>
            <a:r>
              <a:t>DEMO CUES:</a:t>
            </a:r>
          </a:p>
          <a:p>
            <a:r>
              <a:t>1. Show the running agent version and runtime identity from the deployment view.</a:t>
            </a:r>
          </a:p>
          <a:p>
            <a:r>
              <a:t>Do not quote an old version number from memory or conflate the deployment principal</a:t>
            </a:r>
          </a:p>
          <a:p>
            <a:r>
              <a:t>with the runtime identity. Show only identifiers appropriate for the audience.</a:t>
            </a:r>
          </a:p>
          <a:p>
            <a:r>
              <a:t>2. Submit the prepared broad recall assessment for B-2408-AX7. Check the response</a:t>
            </a:r>
          </a:p>
          <a:p>
            <a:r>
              <a:t>against four locations and 2,196 units. Look for supplier status, uncertainty and</a:t>
            </a:r>
          </a:p>
          <a:p>
            <a:r>
              <a:t>required human action, not just a fluent first paragraph.</a:t>
            </a:r>
          </a:p>
          <a:p>
            <a:r>
              <a:t>3. Open the matching trace if available. Locate workflow steps, at least one tool</a:t>
            </a:r>
          </a:p>
          <a:p>
            <a:r>
              <a:t>input/result and the final brief. Explain one observed duration without turning it</a:t>
            </a:r>
          </a:p>
          <a:p>
            <a:r>
              <a:t>into an unsupported benchmark. Verify which spans actually exist in this deployment.</a:t>
            </a:r>
          </a:p>
          <a:p>
            <a:r>
              <a:t>4. Point out that none of these agents has approval or quarantine tools. A request</a:t>
            </a:r>
          </a:p>
          <a:p>
            <a:r>
              <a:t>for action should describe the required application approval, not claim stock changed.</a:t>
            </a:r>
          </a:p>
          <a:p/>
          <a:p>
            <a:r>
              <a:t>OPTIONAL DEPTH: The final supervisor synthesizes fixed upstream steps. It is not</a:t>
            </a:r>
          </a:p>
          <a:p>
            <a:r>
              <a:t>making dynamic routing decisions. The hosted fixture does not inherit a local UI</a:t>
            </a:r>
          </a:p>
          <a:p>
            <a:r>
              <a:t>quarantine: the process state and invocation path are separate.</a:t>
            </a:r>
          </a:p>
          <a:p/>
          <a:p>
            <a:r>
              <a:t>RECOVERY: If invocation stalls, use only a prepared saved trace labelled with date</a:t>
            </a:r>
          </a:p>
          <a:p>
            <a:r>
              <a:t>and version. If no trace is available, show build_workflow and the read-tool wrappers</a:t>
            </a:r>
          </a:p>
          <a:p>
            <a:r>
              <a:t>as source evidence and explicitly say live execution was unavailable. Never invent</a:t>
            </a:r>
          </a:p>
          <a:p>
            <a:r>
              <a:t>trace spans, identity verification, successful routing or evaluation results.</a:t>
            </a:r>
          </a:p>
          <a:p/>
          <a:p>
            <a:r>
              <a:t>TRANSITION: "Hosting made execution manageable. Here are the boundaries we must</a:t>
            </a:r>
          </a:p>
          <a:p>
            <a:r>
              <a:t>still engineer before calling the application production-ready."</a:t>
            </a:r>
          </a:p>
          <a:p/>
          <a:p>
            <a:r>
              <a:t>OPTIONAL ENGINEERING DETAIL / Q&amp;A</a:t>
            </a:r>
          </a:p>
          <a:p>
            <a:r>
              <a:t>WHAT THIS ADDS: The local client already proved the tool contract without a model. Now</a:t>
            </a:r>
          </a:p>
          <a:p>
            <a:r>
              <a:t>the model-backed workflow must select its allowed tool, preserve evidence through the</a:t>
            </a:r>
          </a:p>
          <a:p>
            <a:r>
              <a:t>fixed graph, and produce a grounded brief. Evaluate coverage and refusal independently</a:t>
            </a:r>
          </a:p>
          <a:p>
            <a:r>
              <a:t>from protocol success. A successful tools/call does not imply that the agent used its</a:t>
            </a:r>
          </a:p>
          <a:p>
            <a:r>
              <a:t>result faithfully. Conversely, a poor summary does not prove the MCP server failed.</a:t>
            </a:r>
          </a:p>
          <a:p/>
          <a:p>
            <a:r>
              <a:t>CODE FALLBACK: Show build_agents tool lists and build_workflow edges if hosted access is</a:t>
            </a:r>
          </a:p>
          <a:p>
            <a:r>
              <a:t>unavailable. Be explicit that source shows intended configuration, not executed behavior.</a:t>
            </a:r>
          </a:p>
          <a:p>
            <a:r>
              <a:t>The bridge returns structured data from its in-process MCP session through custom JSON</a:t>
            </a:r>
          </a:p>
          <a:p>
            <a:r>
              <a:t>IPC. The new terminal demo shows real stdio separately. Never describe the custom bridge</a:t>
            </a:r>
          </a:p>
          <a:p>
            <a:r>
              <a:t>as a generic MCP gateway or claim discovery automatically configured these agents.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17:00-18:30. Separate human identity, workload access and durable state.</a:t>
            </a:r>
          </a:p>
          <a:p/>
          <a:p>
            <a:r>
              <a:t>SAY: "Moving the process into a managed host does not finish the security design.</a:t>
            </a:r>
          </a:p>
          <a:p>
            <a:r>
              <a:t>The person, the workload and the state each need a boundary. A person must be</a:t>
            </a:r>
          </a:p>
          <a:p>
            <a:r>
              <a:t>authenticated and authorized to approve this action. The agent's workload identity</a:t>
            </a:r>
          </a:p>
          <a:p>
            <a:r>
              <a:t>needs only the resources its job requires. And the records that make approval and</a:t>
            </a:r>
          </a:p>
          <a:p>
            <a:r>
              <a:t>replay meaningful must survive beyond the lifetime of one process."</a:t>
            </a:r>
          </a:p>
          <a:p/>
          <a:p>
            <a:r>
              <a:t>POINT: In PERSON, distinguish a typed name from verified identity. In WORKLOAD,</a:t>
            </a:r>
          </a:p>
          <a:p>
            <a:r>
              <a:t>separate deployment permissions from runtime access. In STATE, ask what happens</a:t>
            </a:r>
          </a:p>
          <a:p>
            <a:r>
              <a:t>when the response is lost, the process restarts or a second replica receives the retry.</a:t>
            </a:r>
          </a:p>
          <a:p>
            <a:r>
              <a:t>The API must enforce authorization even when the normal UI flow is bypassed.</a:t>
            </a:r>
          </a:p>
          <a:p/>
          <a:p>
            <a:r>
              <a:t>OPTIONAL DEPTH: Governance includes who can publish tools, who reviews changed schemas</a:t>
            </a:r>
          </a:p>
          <a:p>
            <a:r>
              <a:t>or permissions, which agent version is approved, what evidence supports promotion,</a:t>
            </a:r>
          </a:p>
          <a:p>
            <a:r>
              <a:t>how long audit is retained and how a release is rolled back. Record the decision</a:t>
            </a:r>
          </a:p>
          <a:p>
            <a:r>
              <a:t>and policy outcome without storing a usable credential in a trace or transcript.</a:t>
            </a:r>
          </a:p>
          <a:p>
            <a:r>
              <a:t>For destructive operations, establish transaction and idempotency rules at the store.</a:t>
            </a:r>
          </a:p>
          <a:p/>
          <a:p>
            <a:r>
              <a:t>CAUTION: These are production requirements, not completed sample features. The local</a:t>
            </a:r>
          </a:p>
          <a:p>
            <a:r>
              <a:t>API has no enterprise caller authentication, and its state is in memory. Do not expose</a:t>
            </a:r>
          </a:p>
          <a:p>
            <a:r>
              <a:t>it as a public production service or claim horizontal scaling is safe because the</a:t>
            </a:r>
          </a:p>
          <a:p>
            <a:r>
              <a:t>host can start more containers. Infrastructure scale and correctness are different.</a:t>
            </a:r>
          </a:p>
          <a:p/>
          <a:p>
            <a:r>
              <a:t>TRANSITION: "The wider MCP ecosystem can improve the experience, but none of those</a:t>
            </a:r>
          </a:p>
          <a:p>
            <a:r>
              <a:t>new capabilities removes these three responsibilities."</a:t>
            </a:r>
          </a:p>
          <a:p/>
          <a:p>
            <a:r>
              <a:t>OPTIONAL ENGINEERING DETAIL / Q&amp;A</a:t>
            </a:r>
          </a:p>
          <a:p>
            <a:r>
              <a:t>THREAT MODEL: Tool descriptions and results may contain hostile instructions. A caller</a:t>
            </a:r>
          </a:p>
          <a:p>
            <a:r>
              <a:t>may bypass the UI, replay an old handle, ask the model to invent approval, or target a</a:t>
            </a:r>
          </a:p>
          <a:p>
            <a:r>
              <a:t>different batch. Protect the exact principal/resource/action combination and treat model</a:t>
            </a:r>
          </a:p>
          <a:p>
            <a:r>
              <a:t>output as a recommendation, not an authorization token. A prompt and an annotation are</a:t>
            </a:r>
          </a:p>
          <a:p>
            <a:r>
              <a:t>not enforceable access controls. An authenticated workload is not automatically entitled</a:t>
            </a:r>
          </a:p>
          <a:p>
            <a:r>
              <a:t>to every action exposed by its downstream service.</a:t>
            </a:r>
          </a:p>
          <a:p/>
          <a:p>
            <a:r>
              <a:t>REMOTE MCP: Stdio reachability and remote HTTP authentication are different concerns.</a:t>
            </a:r>
          </a:p>
          <a:p>
            <a:r>
              <a:t>For a remote service, follow the applicable MCP authorization specification and validate</a:t>
            </a:r>
          </a:p>
          <a:p>
            <a:r>
              <a:t>the intended audience and resource. Do not forward unrelated access tokens to arbitrary</a:t>
            </a:r>
          </a:p>
          <a:p>
            <a:r>
              <a:t>tools. This sample does not demonstrate that remote authorization flow; the slide names</a:t>
            </a:r>
          </a:p>
          <a:p>
            <a:r>
              <a:t>requirements to design and validate, not configuration already deployed by the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18:30-19:30. One-minute outlook, not a second product tour.</a:t>
            </a:r>
          </a:p>
          <a:p/>
          <a:p>
            <a:r>
              <a:t>SAY: "MCP Live highlights where the ecosystem is expanding. We can turn those topics</a:t>
            </a:r>
          </a:p>
          <a:p>
            <a:r>
              <a:t>into design questions for this workload. As tool access grows, how do we curate what</a:t>
            </a:r>
          </a:p>
          <a:p>
            <a:r>
              <a:t>each workload discovers? For a remote server, which caller is allowed to act? Could</a:t>
            </a:r>
          </a:p>
          <a:p>
            <a:r>
              <a:t>an embedded interface make evidence review clearer? Could a recall event start the</a:t>
            </a:r>
          </a:p>
          <a:p>
            <a:r>
              <a:t>analysis without also authorizing a mutation?"</a:t>
            </a:r>
          </a:p>
          <a:p/>
          <a:p>
            <a:r>
              <a:t>POINT: Read the questions, not the timestamps. Toolboxes connects to governed tool</a:t>
            </a:r>
          </a:p>
          <a:p>
            <a:r>
              <a:t>access. Authentication connects to caller identity. MCP Apps connects to interactive</a:t>
            </a:r>
          </a:p>
          <a:p>
            <a:r>
              <a:t>evidence review. Event-driven agents connects to initiating work when the business</a:t>
            </a:r>
          </a:p>
          <a:p>
            <a:r>
              <a:t>changes rather than waiting for a chat message. The design principle stays constant:</a:t>
            </a:r>
          </a:p>
          <a:p>
            <a:r>
              <a:t>an improved interface or trigger does not replace server-side authority.</a:t>
            </a:r>
          </a:p>
          <a:p/>
          <a:p>
            <a:r>
              <a:t>OPTIONAL DEPTH: These are extension ideas, not features of Caldova. An event-triggered</a:t>
            </a:r>
          </a:p>
          <a:p>
            <a:r>
              <a:t>analysis could be useful, but it would still need deduplication, bounded retries,</a:t>
            </a:r>
          </a:p>
          <a:p>
            <a:r>
              <a:t>failure visibility and a human approval boundary. A Teams tab is not an MCP App.</a:t>
            </a:r>
          </a:p>
          <a:p>
            <a:r>
              <a:t>Do not turn this slide into unverified setup guidance or a claim of interoperability.</a:t>
            </a:r>
          </a:p>
          <a:p/>
          <a:p>
            <a:r>
              <a:t>ATTRIBUTION: Topics are from the published video description, not a full transcript</a:t>
            </a:r>
          </a:p>
          <a:p>
            <a:r>
              <a:t>review. The questions are our engineering interpretation, not speaker quotations.</a:t>
            </a:r>
          </a:p>
          <a:p>
            <a:r>
              <a:t>Toolboxes: Viswajeeet Balaji (Microsoft), https://www.youtube.com/watch?v=uydwDk91Y9Y&amp;t=4823s</a:t>
            </a:r>
          </a:p>
          <a:p>
            <a:r>
              <a:t>Evolution of MCP auth: Den Delimarsky (Anthropic), https://www.youtube.com/watch?v=uydwDk91Y9Y&amp;t=9149s</a:t>
            </a:r>
          </a:p>
          <a:p>
            <a:r>
              <a:t>MCP Apps: Jeremiah Lowin (Prefect), https://www.youtube.com/watch?v=uydwDk91Y9Y&amp;t=12065s</a:t>
            </a:r>
          </a:p>
          <a:p>
            <a:r>
              <a:t>Event-driven agents: Clare Liguori (Amazon), https://www.youtube.com/watch?v=uydwDk91Y9Y&amp;t=13508s</a:t>
            </a:r>
          </a:p>
          <a:p/>
          <a:p>
            <a:r>
              <a:t>TRANSITION: "Before adding those capabilities, remove the shortcuts that already</a:t>
            </a:r>
          </a:p>
          <a:p>
            <a:r>
              <a:t>prevent a prototype from being reliable."</a:t>
            </a:r>
          </a:p>
          <a:p/>
          <a:p>
            <a:r>
              <a:t>OPTIONAL ENGINEERING DETAIL / Q&amp;A</a:t>
            </a:r>
          </a:p>
          <a:p>
            <a:r>
              <a:t>CONNECT TO THE DEMO: Tool curation changes the discovered/exposed capability set; inspect</a:t>
            </a:r>
          </a:p>
          <a:p>
            <a:r>
              <a:t>what each workload can see. Authentication adds caller identity; it does not decide the</a:t>
            </a:r>
          </a:p>
          <a:p>
            <a:r>
              <a:t>pharmacist's business authority by itself. An embedded interface may clarify evidence;</a:t>
            </a:r>
          </a:p>
          <a:p>
            <a:r>
              <a:t>it must not smuggle approval around server policy. An event can start analysis; duplicate</a:t>
            </a:r>
          </a:p>
          <a:p>
            <a:r>
              <a:t>delivery still needs deduplication and should not silently trigger a stock mutation.</a:t>
            </a:r>
          </a:p>
          <a:p/>
          <a:p>
            <a:r>
              <a:t>AUDIENCE EXERCISE: Pick one extension and name its new failure case before choosing a</a:t>
            </a:r>
          </a:p>
          <a:p>
            <a:r>
              <a:t>library. For event-driven analysis, what happens when the recall event is delivered twice?</a:t>
            </a:r>
          </a:p>
          <a:p>
            <a:r>
              <a:t>For a new UI, can a caller invoke the endpoint directly? Keep the discussion in terms of</a:t>
            </a:r>
          </a:p>
          <a:p>
            <a:r>
              <a:t>testable boundaries. Do not imply that the published MCP Live agenda proves any of these</a:t>
            </a:r>
          </a:p>
          <a:p>
            <a:r>
              <a:t>integrations exists in this repository or has been tested with this version of the SDK.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19:30-20:30. Practical implementation lessons, then the close.</a:t>
            </a:r>
          </a:p>
          <a:p/>
          <a:p>
            <a:r>
              <a:t>SAY: "The useful lessons were ordinary software engineering. Runtime dependencies</a:t>
            </a:r>
          </a:p>
          <a:p>
            <a:r>
              <a:t>can conflict, so isolate the MCP environment and test its boundary. External tool</a:t>
            </a:r>
          </a:p>
          <a:p>
            <a:r>
              <a:t>processes can hang or multiply, so bound concurrency, time out communication and</a:t>
            </a:r>
          </a:p>
          <a:p>
            <a:r>
              <a:t>clean up children. Workflow state can leak across requests, so create request-local</a:t>
            </a:r>
          </a:p>
          <a:p>
            <a:r>
              <a:t>instances. And a plausible answer can still omit the critical fact, so evaluate it."</a:t>
            </a:r>
          </a:p>
          <a:p/>
          <a:p>
            <a:r>
              <a:t>POINT: Move across each row from shortcut to response. The current source has an</a:t>
            </a:r>
          </a:p>
          <a:p>
            <a:r>
              <a:t>isolated bridge, a concurrency semaphore, timeout cleanup and a request-local workflow</a:t>
            </a:r>
          </a:p>
          <a:p>
            <a:r>
              <a:t>wrapper. These are mechanisms present in code, not proof that all operational failure</a:t>
            </a:r>
          </a:p>
          <a:p>
            <a:r>
              <a:t>modes have passed a fresh load or integration test. Avoid unsupported latency claims.</a:t>
            </a:r>
          </a:p>
          <a:p/>
          <a:p>
            <a:r>
              <a:t>OPTIONAL DEPTH: Use golden cases for facts, refusal, unknown data and recovery. Check</a:t>
            </a:r>
          </a:p>
          <a:p>
            <a:r>
              <a:t>the returned positions against totals, whether a focused answer stays focused, and</a:t>
            </a:r>
          </a:p>
          <a:p>
            <a:r>
              <a:t>whether the supervisor preserves supplier uncertainty. A release decision should be</a:t>
            </a:r>
          </a:p>
          <a:p>
            <a:r>
              <a:t>traceable to a version, configuration and evidence set. Keep a known-good version</a:t>
            </a:r>
          </a:p>
          <a:p>
            <a:r>
              <a:t>available and rehearse rollback rather than treating a passing happy path as a gate.</a:t>
            </a:r>
          </a:p>
          <a:p/>
          <a:p>
            <a:r>
              <a:t>CAUTION: The bottom line lists work still to prove: unauthorized actors, instructions</a:t>
            </a:r>
          </a:p>
          <a:p>
            <a:r>
              <a:t>embedded in tool results, lost-response replay and restart/replica behavior. We are</a:t>
            </a:r>
          </a:p>
          <a:p>
            <a:r>
              <a:t>not claiming those distributed guarantees or enterprise authorization exist in the</a:t>
            </a:r>
          </a:p>
          <a:p>
            <a:r>
              <a:t>sample. Local idempotency is one useful result, not a production certificate.</a:t>
            </a:r>
          </a:p>
          <a:p/>
          <a:p>
            <a:r>
              <a:t>TRANSITION: "That is the difference between a convincing demo and an accountable system."</a:t>
            </a:r>
          </a:p>
          <a:p>
            <a:r>
              <a:t>HARD STOP: At 20:30 leave any unfinished demonstration and move to slide 14.</a:t>
            </a:r>
          </a:p>
          <a:p/>
          <a:p>
            <a:r>
              <a:t>OPTIONAL ENGINEERING DETAIL / Q&amp;A</a:t>
            </a:r>
          </a:p>
          <a:p>
            <a:r>
              <a:t>REPRODUCIBLE CHECKS: From the repository root run the MCP inspection script, then</a:t>
            </a:r>
          </a:p>
          <a:p>
            <a:r>
              <a:t>./caldova-recall-control/.venv/Scripts/python.exe -m pytest caldova-recall-control/tests -q</a:t>
            </a:r>
          </a:p>
          <a:p>
            <a:r>
              <a:t>The protocol suite checks discovery, schemas, annotations, structured facts, stdio,</a:t>
            </a:r>
          </a:p>
          <a:p>
            <a:r>
              <a:t>sanitized denial and replay. The API suite checks the separate browser-facing policy.</a:t>
            </a:r>
          </a:p>
          <a:p>
            <a:r>
              <a:t>Local tests do not contact the deployed model to certify its live answers. Publish a</a:t>
            </a:r>
          </a:p>
          <a:p>
            <a:r>
              <a:t>fresh versioned evidence set instead of repeating a historical count from a slide.</a:t>
            </a:r>
          </a:p>
          <a:p/>
          <a:p>
            <a:r>
              <a:t>CHANGE REVIEW: If a tool becomes destructive, its name, description, annotations, schema,</a:t>
            </a:r>
          </a:p>
          <a:p>
            <a:r>
              <a:t>allowlists, authorization and tests all deserve review. If a dependency changes, rerun</a:t>
            </a:r>
          </a:p>
          <a:p>
            <a:r>
              <a:t>both environments and their integration boundary. If the model changes, rerun evaluation.</a:t>
            </a:r>
          </a:p>
          <a:p>
            <a:r>
              <a:t>Source compatibility, protocol compatibility, policy correctness and model quality are</a:t>
            </a:r>
          </a:p>
          <a:p>
            <a:r>
              <a:t>different gates. The hidden failure appendix gives a compact checklist for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20:30-22:00 close; 22:00-25:00 questions. Protect the final three minutes.</a:t>
            </a:r>
          </a:p>
          <a:p/>
          <a:p>
            <a:r>
              <a:t>SAY: "MCP gives an application a consistent way to use tools. The workflow decides</a:t>
            </a:r>
          </a:p>
          <a:p>
            <a:r>
              <a:t>how evidence moves. The application and domain controls decide who can act. Our</a:t>
            </a:r>
          </a:p>
          <a:p>
            <a:r>
              <a:t>job is to make those responsibilities explicit, test the failure paths and retain</a:t>
            </a:r>
          </a:p>
          <a:p>
            <a:r>
              <a:t>enough evidence to explain the outcome. The model makes the system capable.</a:t>
            </a:r>
          </a:p>
          <a:p>
            <a:r>
              <a:t>Engineering makes it accountable."</a:t>
            </a:r>
          </a:p>
          <a:p/>
          <a:p>
            <a:r>
              <a:t>RECAP: We located MCP in an actual architecture, chose sequential execution for</a:t>
            </a:r>
          </a:p>
          <a:p>
            <a:r>
              <a:t>known dependencies, compared routing and parallel collaboration, designed a narrow</a:t>
            </a:r>
          </a:p>
          <a:p>
            <a:r>
              <a:t>tool, demonstrated local human approval and replay, and examined hosted execution</a:t>
            </a:r>
          </a:p>
          <a:p>
            <a:r>
              <a:t>and debugging. These are transferable patterns, not a claim that every production</a:t>
            </a:r>
          </a:p>
          <a:p>
            <a:r>
              <a:t>requirement has been implemented in a synthetic sample.</a:t>
            </a:r>
          </a:p>
          <a:p/>
          <a:p>
            <a:r>
              <a:t>QUESTION CUES: If asked why four agents, say the example makes evidence boundaries</a:t>
            </a:r>
          </a:p>
          <a:p>
            <a:r>
              <a:t>visible; use fewer if the workload does not justify orchestration. If asked whether</a:t>
            </a:r>
          </a:p>
          <a:p>
            <a:r>
              <a:t>the supervisor routes, say no: the graph is fixed and routing was a comparison.</a:t>
            </a:r>
          </a:p>
          <a:p>
            <a:r>
              <a:t>If asked whether the local UI invokes Foundry, say no: the two demonstrations share</a:t>
            </a:r>
          </a:p>
          <a:p>
            <a:r>
              <a:t>domain code and fixtures but have separate execution paths. If asked about approval</a:t>
            </a:r>
          </a:p>
          <a:p>
            <a:r>
              <a:t>identity, distinguish the demo's typed name from enterprise authentication.</a:t>
            </a:r>
          </a:p>
          <a:p/>
          <a:p>
            <a:r>
              <a:t>OPTIONAL FOLLOW-UP: Keep the UI ready to revisit denial or replay. Use the hidden</a:t>
            </a:r>
          </a:p>
          <a:p>
            <a:r>
              <a:t>source appendix for timestamped MCP Live links and framework references. The detailed</a:t>
            </a:r>
          </a:p>
          <a:p>
            <a:r>
              <a:t>backup decks are for technical discussion after the session, with old fixed claims</a:t>
            </a:r>
          </a:p>
          <a:p>
            <a:r>
              <a:t>rechecked before use. Do not reopen setup or start a fresh deployment during questions.</a:t>
            </a:r>
          </a:p>
          <a:p/>
          <a:p>
            <a:r>
              <a:t>TRANSITION: Invite questions about the engineering decisions, not just the tools.</a:t>
            </a:r>
          </a:p>
          <a:p/>
          <a:p>
            <a:r>
              <a:t>OPTIONAL ENGINEERING DETAIL / Q&amp;A</a:t>
            </a:r>
          </a:p>
          <a:p>
            <a:r>
              <a:t>KNOWLEDGE CHECK: Ask three questions. What method discovers tool metadata? tools/list.</a:t>
            </a:r>
          </a:p>
          <a:p>
            <a:r>
              <a:t>What does structuredContent prove? It provides machine-readable evidence, not guaranteed</a:t>
            </a:r>
          </a:p>
          <a:p>
            <a:r>
              <a:t>truth. What stops the denied write? Application/domain policy, not readOnlyHint or the</a:t>
            </a:r>
          </a:p>
          <a:p>
            <a:r>
              <a:t>model's intentions. Ask a fourth if time permits: did the hosted bridge use MCP stdio?</a:t>
            </a:r>
          </a:p>
          <a:p>
            <a:r>
              <a:t>No; the dedicated terminal demonstration did, while the bridge used in-process MCP.</a:t>
            </a:r>
          </a:p>
          <a:p/>
          <a:p>
            <a:r>
              <a:t>TAKE-HOME TASK: Run inspect_mcp.py and inspect BatchId. Then propose, without silently</a:t>
            </a:r>
          </a:p>
          <a:p>
            <a:r>
              <a:t>changing the live contract, a typed inventory output and an invariant test for the sum</a:t>
            </a:r>
          </a:p>
          <a:p>
            <a:r>
              <a:t>of positions. That exercise links protocol discovery, schema design and domain testing.</a:t>
            </a:r>
          </a:p>
          <a:p>
            <a:r>
              <a:t>Use slides 16-18 for follow-up questions on roles, code and failures. The detailed notes</a:t>
            </a:r>
          </a:p>
          <a:p>
            <a:r>
              <a:t>companion can be read without PowerPoint; the main talk remains 14 slides plus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APPENDIX: Hidden from the timed show. Use for follow-up and distribution.</a:t>
            </a:r>
          </a:p>
          <a:p/>
          <a:p>
            <a:r>
              <a:t>PURPOSE: Give attendees the original material without turning a 25-minute session</a:t>
            </a:r>
          </a:p>
          <a:p>
            <a:r>
              <a:t>into a reading list. Every resource label on this slide is clickable in PowerPoint.</a:t>
            </a:r>
          </a:p>
          <a:p>
            <a:r>
              <a:t>The video links jump to the relevant published chapter starts. Encourage people to</a:t>
            </a:r>
          </a:p>
          <a:p>
            <a:r>
              <a:t>watch the source sessions for implementation detail rather than treating our design</a:t>
            </a:r>
          </a:p>
          <a:p>
            <a:r>
              <a:t>questions as a substitute for the original talks.</a:t>
            </a:r>
          </a:p>
          <a:p/>
          <a:p>
            <a:r>
              <a:t>ATTRIBUTION: The event title, date and artwork are from the Global AI Community</a:t>
            </a:r>
          </a:p>
          <a:p>
            <a:r>
              <a:t>event page. MCP Live topic selection is based on its published chapter list, not</a:t>
            </a:r>
          </a:p>
          <a:p>
            <a:r>
              <a:t>a complete transcript review. The slide questions are original interpretations and</a:t>
            </a:r>
          </a:p>
          <a:p>
            <a:r>
              <a:t>not quotations or endorsements by the speakers. The Agent Framework orchestration</a:t>
            </a:r>
          </a:p>
          <a:p>
            <a:r>
              <a:t>reference was checked against current documentation during this deck revision.</a:t>
            </a:r>
          </a:p>
          <a:p/>
          <a:p>
            <a:r>
              <a:t>CAUTION: Documentation evolves. Verify API versions, hosting capabilities and</a:t>
            </a:r>
          </a:p>
          <a:p>
            <a:r>
              <a:t>authentication requirements when building, rather than copying a conference diagram</a:t>
            </a:r>
          </a:p>
          <a:p>
            <a:r>
              <a:t>as deployment instructions. The diagram deliberately separates local deterministic</a:t>
            </a:r>
          </a:p>
          <a:p>
            <a:r>
              <a:t>controls from hosted model execution. Neither the links nor the slide design imply</a:t>
            </a:r>
          </a:p>
          <a:p>
            <a:r>
              <a:t>that unimplemented routing, parallel execution or enterprise controls were demonstrated.</a:t>
            </a:r>
          </a:p>
          <a:p/>
          <a:p>
            <a:r>
              <a:t>PRESENTER ACTION: Keep this slide hidden during the main story. Navigate here manually</a:t>
            </a:r>
          </a:p>
          <a:p>
            <a:r>
              <a:t>only if a question needs a source. For the live session use the notes and runbook;</a:t>
            </a:r>
          </a:p>
          <a:p>
            <a:r>
              <a:t>for later study attendees can follow the links below. Sources accessed 14 September 2026.</a:t>
            </a:r>
          </a:p>
          <a:p/>
          <a:p>
            <a:r>
              <a:t>MCP Community Connect Bengaluru | event and session: https://globalai.community/e/bd1o37ln</a:t>
            </a:r>
          </a:p>
          <a:p>
            <a:r>
              <a:t>MCP architecture | clients, servers and tools: https://modelcontextprotocol.io/docs/learn/architecture</a:t>
            </a:r>
          </a:p>
          <a:p>
            <a:r>
              <a:t>MCP tools | schemas, results and errors: https://modelcontextprotocol.io/specification/2025-11-25/server/tools</a:t>
            </a:r>
          </a:p>
          <a:p>
            <a:r>
              <a:t>MCP lifecycle | initialization and capabilities: https://modelcontextprotocol.io/specification/2025-11-25/basic/lifecycle</a:t>
            </a:r>
          </a:p>
          <a:p>
            <a:r>
              <a:t>Agent Framework | orchestration patterns: https://github.com/microsoft/agent-framework/tree/main/python/packages/orchestrations</a:t>
            </a:r>
          </a:p>
          <a:p>
            <a:r>
              <a:t>MCP Live! | Toolboxes in Microsoft Foundry | 1:20:23: https://www.youtube.com/watch?v=uydwDk91Y9Y&amp;t=4823s</a:t>
            </a:r>
          </a:p>
          <a:p>
            <a:r>
              <a:t>MCP Live! | Evolution of MCP auth | 2:32:29: https://www.youtube.com/watch?v=uydwDk91Y9Y&amp;t=9149s</a:t>
            </a:r>
          </a:p>
          <a:p>
            <a:r>
              <a:t>MCP Live! | Building MCP Apps | 3:21:05: https://www.youtube.com/watch?v=uydwDk91Y9Y&amp;t=12065s</a:t>
            </a:r>
          </a:p>
          <a:p>
            <a:r>
              <a:t>MCP Live! | Event-driven agents | 3:45:08: https://www.youtube.com/watch?v=uydwDk91Y9Y&amp;t=13508s</a:t>
            </a:r>
          </a:p>
          <a:p>
            <a:r>
              <a:t>MCP Live! | official resource collection: https://aka.ms/MCPLiveResources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TECHNICAL APPENDIX: Use after the timed talk, or answer a roles question in 60 seconds.</a:t>
            </a:r>
          </a:p>
          <a:p/>
          <a:p>
            <a:r>
              <a:t>SAY: "The host is the application that controls the experience and tool-use policy.</a:t>
            </a:r>
          </a:p>
          <a:p>
            <a:r>
              <a:t>It creates a client session to a server. The server exposes capabilities. A model can</a:t>
            </a:r>
          </a:p>
          <a:p>
            <a:r>
              <a:t>propose a tool name and arguments, but application code mediates execution. A scripted</a:t>
            </a:r>
          </a:p>
          <a:p>
            <a:r>
              <a:t>client can use the same server without any model; our terminal demonstration did exactly that."</a:t>
            </a:r>
          </a:p>
          <a:p/>
          <a:p>
            <a:r>
              <a:t>WALKTHROUGH: Tools are callable operations such as locate_inventory. Resources are</a:t>
            </a:r>
          </a:p>
          <a:p>
            <a:r>
              <a:t>addressable context, typically identified by a URI. Prompts are reusable templates</a:t>
            </a:r>
          </a:p>
          <a:p>
            <a:r>
              <a:t>that a client can retrieve. The recall-document resource and assessment prompt on this</a:t>
            </a:r>
          </a:p>
          <a:p>
            <a:r>
              <a:t>slide are possible extensions, not implemented endpoints. This server demonstrates tools</a:t>
            </a:r>
          </a:p>
          <a:p>
            <a:r>
              <a:t>only. Do not call every returned JSON object an MCP resource or every system instruction</a:t>
            </a:r>
          </a:p>
          <a:p>
            <a:r>
              <a:t>an MCP prompt. Those words also name specific protocol primitives.</a:t>
            </a:r>
          </a:p>
          <a:p/>
          <a:p>
            <a:r>
              <a:t>WHY MCP INSTEAD OF JUST REST? The value is a common client-facing discovery and invocation</a:t>
            </a:r>
          </a:p>
          <a:p>
            <a:r>
              <a:t>contract, not replacing every business API. A tool handler could call an existing REST</a:t>
            </a:r>
          </a:p>
          <a:p>
            <a:r>
              <a:t>service, SQL query, or domain function. That integration code still exists. MCP may reduce</a:t>
            </a:r>
          </a:p>
          <a:p>
            <a:r>
              <a:t>repeated adapters across compatible clients, but interoperability must be tested, including</a:t>
            </a:r>
          </a:p>
          <a:p>
            <a:r>
              <a:t>capability support, authentication and error behavior. A single application may still be</a:t>
            </a:r>
          </a:p>
          <a:p>
            <a:r>
              <a:t>well served by a direct function call; do not add a server without a reuse or boundary need.</a:t>
            </a:r>
          </a:p>
          <a:p/>
          <a:p>
            <a:r>
              <a:t>TRANSPORT: Stdio uses a launched process's input/output streams; keep ordinary logs off</a:t>
            </a:r>
          </a:p>
          <a:p>
            <a:r>
              <a:t>protocol stdout. Streamable HTTP is a remote transport with additional authentication and</a:t>
            </a:r>
          </a:p>
          <a:p>
            <a:r>
              <a:t>network considerations. This sample's custom CLI/JSON bridge is neither a generic remote</a:t>
            </a:r>
          </a:p>
          <a:p>
            <a:r>
              <a:t>MCP service nor an MCP stdio connection. Its MCP session runs in process inside the child.</a:t>
            </a:r>
          </a:p>
          <a:p/>
          <a:p>
            <a:r>
              <a:t>CHECK UNDERSTANDING: Can the same MCP server serve a deterministic test client? Yes.</a:t>
            </a:r>
          </a:p>
          <a:p>
            <a:r>
              <a:t>Does publishing a tool authorize its use? No. Does this sample expose resources or prompts?</a:t>
            </a:r>
          </a:p>
          <a:p>
            <a:r>
              <a:t>No. These distinctions are more useful than memorizing a framework-specific class name.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TECHNICAL APPENDIX: A line-by-line walkthrough for engineers. Excerpts are shortened</a:t>
            </a:r>
          </a:p>
          <a:p>
            <a:r>
              <a:t>for legibility; use the repository files for runnable code. This SDK syntax matches</a:t>
            </a:r>
          </a:p>
          <a:p>
            <a:r>
              <a:t>the installed MCP v2 environment, not all older examples found online.</a:t>
            </a:r>
          </a:p>
          <a:p/>
          <a:p>
            <a:r>
              <a:t>SERVER: MCPServer registers capabilities. The decorator exposes one operation and its</a:t>
            </a:r>
          </a:p>
          <a:p>
            <a:r>
              <a:t>metadata. ToolAnnotations reports hints, not enforced permissions. BatchId is an</a:t>
            </a:r>
          </a:p>
          <a:p>
            <a:r>
              <a:t>Annotated string with Pydantic Field constraints: required input, length bounds and a</a:t>
            </a:r>
          </a:p>
          <a:p>
            <a:r>
              <a:t>restricted pattern. The handler delegates to STORE, keeping protocol adaptation separate</a:t>
            </a:r>
          </a:p>
          <a:p>
            <a:r>
              <a:t>from the business computation. That separation lets domain tests run without MCP and</a:t>
            </a:r>
          </a:p>
          <a:p>
            <a:r>
              <a:t>protocol tests exercise the same logic through MCP.</a:t>
            </a:r>
          </a:p>
          <a:p/>
          <a:p>
            <a:r>
              <a:t>OUTPUT: dict[str, Any] produces a generic object outputSchema in this environment. The</a:t>
            </a:r>
          </a:p>
          <a:p>
            <a:r>
              <a:t>named fields seen in structured_content are actual data, not a strongly enforced DTO.</a:t>
            </a:r>
          </a:p>
          <a:p>
            <a:r>
              <a:t>A production improvement would define a typed inventory result and validate invariants,</a:t>
            </a:r>
          </a:p>
          <a:p>
            <a:r>
              <a:t>such as total_units matching the sum of positions. Do not present that improvement as</a:t>
            </a:r>
          </a:p>
          <a:p>
            <a:r>
              <a:t>already implemented. The output should also be bounded so a large inventory cannot</a:t>
            </a:r>
          </a:p>
          <a:p>
            <a:r>
              <a:t>consume an unbounded model context or response budget.</a:t>
            </a:r>
          </a:p>
          <a:p/>
          <a:p>
            <a:r>
              <a:t>CLIENT: In inspect_mcp.py, server is StdioServerParameters pointing at caldova_mcp.py</a:t>
            </a:r>
          </a:p>
          <a:p>
            <a:r>
              <a:t>using the current interpreter. Entering the client context starts the session and manages</a:t>
            </a:r>
          </a:p>
          <a:p>
            <a:r>
              <a:t>initialization. list_tools returns metadata; call_tool invokes the named operation with</a:t>
            </a:r>
          </a:p>
          <a:p>
            <a:r>
              <a:t>arguments. structured_content is the Python SDK spelling of wire-level structuredContent.</a:t>
            </a:r>
          </a:p>
          <a:p>
            <a:r>
              <a:t>Leaving the context closes the session. The script adds a 30-second overall bound.</a:t>
            </a:r>
          </a:p>
          <a:p/>
          <a:p>
            <a:r>
              <a:t>BUILD UP THE EXAMPLE: Start with discovery only. Add one valid inventory call. Finally</a:t>
            </a:r>
          </a:p>
          <a:p>
            <a:r>
              <a:t>add invalid input, a schema-valid denied write, and a read to verify unchanged state.</a:t>
            </a:r>
          </a:p>
          <a:p>
            <a:r>
              <a:t>That progression makes a protocol test explainable without a model. If the downstream</a:t>
            </a:r>
          </a:p>
          <a:p>
            <a:r>
              <a:t>agent answer is wrong after these checks pass, inspect the handoff and synthesis next.</a:t>
            </a:r>
          </a:p>
          <a:p/>
          <a:p>
            <a:r>
              <a:t>REPRODUCE FROM REPOSITORY ROOT:</a:t>
            </a:r>
          </a:p>
          <a:p>
            <a:r>
              <a:t>./caldova-recall-control/.venv/Scripts/python.exe caldova-recall-control/scripts/inspect_mcp.py</a:t>
            </a:r>
          </a:p>
          <a:p>
            <a:r>
              <a:t>Use .venv/bin/python instead on macOS/Linux. Install requirements-ui.txt first; do not</a:t>
            </a:r>
          </a:p>
          <a:p>
            <a:r>
              <a:t>mix the Foundry hosting dependencies into this MCP v2 environment.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TECHNICAL APPENDIX: Use to make the demo's evidence precise and to discuss testing.</a:t>
            </a:r>
          </a:p>
          <a:p/>
          <a:p>
            <a:r>
              <a:t>ROW 1: inspect_mcp.py sends 'bad batch!', which violates BatchId constraints. In the</a:t>
            </a:r>
          </a:p>
          <a:p>
            <a:r>
              <a:t>installed SDK this returns a tool result with is_error true. The server has understood</a:t>
            </a:r>
          </a:p>
          <a:p>
            <a:r>
              <a:t>the MCP request, but the tool cannot execute with these arguments. Correcting input is</a:t>
            </a:r>
          </a:p>
          <a:p>
            <a:r>
              <a:t>different from retrying a transient outage. We display the observed error flag rather</a:t>
            </a:r>
          </a:p>
          <a:p>
            <a:r>
              <a:t>than depending on an SDK-specific validation message in the live narration.</a:t>
            </a:r>
          </a:p>
          <a:p/>
          <a:p>
            <a:r>
              <a:t>ROW 2: The script sends a synthetic 16-character hexadecimal credential. It passes the</a:t>
            </a:r>
          </a:p>
          <a:p>
            <a:r>
              <a:t>input shape but has no matching approval in the domain store. The response is isError</a:t>
            </a:r>
          </a:p>
          <a:p>
            <a:r>
              <a:t>true and sanitized text, 'Error executing tool quarantine_batch'. No usable credential</a:t>
            </a:r>
          </a:p>
          <a:p>
            <a:r>
              <a:t>is created or printed. A second read verifies that the failed call left inventory</a:t>
            </a:r>
          </a:p>
          <a:p>
            <a:r>
              <a:t>unchanged. This demonstrates policy enforcement, not verified human authentication.</a:t>
            </a:r>
          </a:p>
          <a:p/>
          <a:p>
            <a:r>
              <a:t>ROW 3: The optional direct browser-API request supplies an invalid approval handle.</a:t>
            </a:r>
          </a:p>
          <a:p>
            <a:r>
              <a:t>FastAPI rejects it with HTTP 403 before granting access to a valid approval credential.</a:t>
            </a:r>
          </a:p>
          <a:p>
            <a:r>
              <a:t>That status is an application HTTP response, not an MCP JSON-RPC error. Separately,</a:t>
            </a:r>
          </a:p>
          <a:p>
            <a:r>
              <a:t>unknown tools or protocol-level failures may use JSON-RPC error responses. Distinguish</a:t>
            </a:r>
          </a:p>
          <a:p>
            <a:r>
              <a:t>the protocol's two error channels from the HTTP layer and from SDK exception settings.</a:t>
            </a:r>
          </a:p>
          <a:p/>
          <a:p>
            <a:r>
              <a:t>ROW 4: A valid, factual tool response can still become an incomplete or misleading</a:t>
            </a:r>
          </a:p>
          <a:p>
            <a:r>
              <a:t>brief. Domain tests cannot prove model quality. Evaluate factual coverage, uncertainty,</a:t>
            </a:r>
          </a:p>
          <a:p>
            <a:r>
              <a:t>refusal to claim mutation, and focused-answer behavior against the actual tool evidence.</a:t>
            </a:r>
          </a:p>
          <a:p/>
          <a:p>
            <a:r>
              <a:t>TEST LADDER: Run domain policy tests, then schema/annotation and in-process MCP tests,</a:t>
            </a:r>
          </a:p>
          <a:p>
            <a:r>
              <a:t>then the stdio test, then API approval/replay tests, and finally hosted integration and</a:t>
            </a:r>
          </a:p>
          <a:p>
            <a:r>
              <a:t>evaluation. A passing local suite is not proof that a cloud model, identity, trace, or</a:t>
            </a:r>
          </a:p>
          <a:p>
            <a:r>
              <a:t>deployment is healthy. The tests live under caldova-recall-control/tests; the relevant</a:t>
            </a:r>
          </a:p>
          <a:p>
            <a:r>
              <a:t>protocol file is test_caldova_mcp.py and the UI contract is test_control_tower_api.py.</a:t>
            </a:r>
          </a:p>
          <a:p/>
          <a:p>
            <a:r>
              <a:t>REMAINING WORK: Exercise timeout and cancellation cleanup, tool-output prompt injection,</a:t>
            </a:r>
          </a:p>
          <a:p>
            <a:r>
              <a:t>lost-response retries, restarts and replicas. These are follow-up tests or production</a:t>
            </a:r>
          </a:p>
          <a:p>
            <a:r>
              <a:t>requirements, not guarantees demonstrated by this five-minute local sequence.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lobalai.community/e/bd1o37ln" TargetMode="External"/><Relationship Id="rId3" Type="http://schemas.openxmlformats.org/officeDocument/2006/relationships/hyperlink" Target="https://modelcontextprotocol.io/docs/learn/architecture" TargetMode="External"/><Relationship Id="rId4" Type="http://schemas.openxmlformats.org/officeDocument/2006/relationships/hyperlink" Target="https://modelcontextprotocol.io/specification/2025-11-25/server/tools" TargetMode="External"/><Relationship Id="rId5" Type="http://schemas.openxmlformats.org/officeDocument/2006/relationships/hyperlink" Target="https://modelcontextprotocol.io/specification/2025-11-25/basic/lifecycle" TargetMode="External"/><Relationship Id="rId6" Type="http://schemas.openxmlformats.org/officeDocument/2006/relationships/hyperlink" Target="https://github.com/microsoft/agent-framework/tree/main/python/packages/orchestrations" TargetMode="External"/><Relationship Id="rId7" Type="http://schemas.openxmlformats.org/officeDocument/2006/relationships/hyperlink" Target="https://www.youtube.com/watch?v=uydwDk91Y9Y&amp;t=4823s" TargetMode="External"/><Relationship Id="rId8" Type="http://schemas.openxmlformats.org/officeDocument/2006/relationships/hyperlink" Target="https://www.youtube.com/watch?v=uydwDk91Y9Y&amp;t=9149s" TargetMode="External"/><Relationship Id="rId9" Type="http://schemas.openxmlformats.org/officeDocument/2006/relationships/hyperlink" Target="https://www.youtube.com/watch?v=uydwDk91Y9Y&amp;t=12065s" TargetMode="External"/><Relationship Id="rId10" Type="http://schemas.openxmlformats.org/officeDocument/2006/relationships/hyperlink" Target="https://www.youtube.com/watch?v=uydwDk91Y9Y&amp;t=13508s" TargetMode="External"/><Relationship Id="rId11" Type="http://schemas.openxmlformats.org/officeDocument/2006/relationships/hyperlink" Target="https://aka.ms/MCPLiveResources" TargetMode="External"/><Relationship Id="rId1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006F78"/>
                </a:solidFill>
                <a:latin typeface="Calibri"/>
              </a:defRPr>
            </a:pPr>
            <a:r>
              <a:t>MCP COMMUNITY CONNECT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6510528"/>
            <a:ext cx="3566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0">
                <a:solidFill>
                  <a:srgbClr val="58656D"/>
                </a:solidFill>
                <a:latin typeface="Calibri"/>
              </a:defRPr>
            </a:pPr>
            <a:r>
              <a:t>BENGALURU  /  26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55664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006F78"/>
                </a:solidFill>
                <a:latin typeface="Bahnschrift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02920"/>
            <a:ext cx="8595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006F78"/>
                </a:solidFill>
                <a:latin typeface="Bahnschrift"/>
              </a:defRPr>
            </a:pPr>
            <a:r>
              <a:t>MCP Community Connect</a:t>
            </a:r>
          </a:p>
        </p:txBody>
      </p:sp>
      <p:pic>
        <p:nvPicPr>
          <p:cNvPr id="8" name="Picture 7" descr="mcp-community-connect-bengalur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310896"/>
            <a:ext cx="1645920" cy="1645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178308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5800" b="1">
                <a:solidFill>
                  <a:srgbClr val="20252A"/>
                </a:solidFill>
                <a:latin typeface="Bahnschrift"/>
              </a:defRPr>
            </a:pPr>
            <a:r>
              <a:t>From Prototype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432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5800" b="1">
                <a:solidFill>
                  <a:srgbClr val="006F78"/>
                </a:solidFill>
                <a:latin typeface="Bahnschrift"/>
              </a:defRPr>
            </a:pPr>
            <a:r>
              <a:t>to Production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977639"/>
            <a:ext cx="103327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0">
                <a:solidFill>
                  <a:srgbClr val="20252A"/>
                </a:solidFill>
                <a:latin typeface="Calibri"/>
              </a:defRPr>
            </a:pPr>
            <a:r>
              <a:t>Engineering Agent Systems with MCP,</a:t>
            </a:r>
            <a:br/>
            <a:r>
              <a:t>Multi-Agent Patterns and Real Work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5157216"/>
            <a:ext cx="10927080" cy="0"/>
          </a:xfrm>
          <a:prstGeom prst="line">
            <a:avLst/>
          </a:prstGeom>
          <a:ln w="12700">
            <a:solidFill>
              <a:srgbClr val="D9E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5468112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200" b="1">
                <a:solidFill>
                  <a:srgbClr val="20252A"/>
                </a:solidFill>
                <a:latin typeface="Bahnschrift"/>
              </a:defRPr>
            </a:pPr>
            <a:r>
              <a:t>Lee Stott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897880"/>
            <a:ext cx="7680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0">
                <a:solidFill>
                  <a:srgbClr val="58656D"/>
                </a:solidFill>
                <a:latin typeface="Calibri"/>
              </a:defRPr>
            </a:pPr>
            <a:r>
              <a:t>Principal Cloud Advocate Manager, Microsoft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5559552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2000" b="0">
                <a:solidFill>
                  <a:srgbClr val="006F78"/>
                </a:solidFill>
                <a:latin typeface="Calibri"/>
              </a:defRPr>
            </a:pPr>
            <a:r>
              <a:t>11:00-11:25 IST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006F78"/>
                </a:solidFill>
                <a:latin typeface="Calibri"/>
              </a:defRPr>
            </a:pPr>
            <a:r>
              <a:t>MCP COMMUNITY CONNECT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6510528"/>
            <a:ext cx="3566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0">
                <a:solidFill>
                  <a:srgbClr val="58656D"/>
                </a:solidFill>
                <a:latin typeface="Calibri"/>
              </a:defRPr>
            </a:pPr>
            <a:r>
              <a:t>BENGALURU  /  26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55664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006F78"/>
                </a:solidFill>
                <a:latin typeface="Bahnschrift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8404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6F78"/>
                </a:solidFill>
                <a:latin typeface="Calibri"/>
              </a:defRPr>
            </a:pPr>
            <a:r>
              <a:t>MEET CALDOVA | SYNTHETIC PHARMACEUTICAL RECALL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200" b="1">
                <a:solidFill>
                  <a:srgbClr val="20252A"/>
                </a:solidFill>
                <a:latin typeface="Bahnschrift"/>
              </a:defRPr>
            </a:pPr>
            <a:r>
              <a:t>A decision brief is not permission to act.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28800"/>
            <a:ext cx="36576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900" b="1">
                <a:solidFill>
                  <a:srgbClr val="B73935"/>
                </a:solidFill>
                <a:latin typeface="Bahnschrift"/>
              </a:defRPr>
            </a:pPr>
            <a:r>
              <a:t>2,196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154680"/>
            <a:ext cx="37490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400" b="0">
                <a:solidFill>
                  <a:srgbClr val="20252A"/>
                </a:solidFill>
                <a:latin typeface="Calibri"/>
              </a:defRPr>
            </a:pPr>
            <a:r>
              <a:t>units need a decision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977639"/>
            <a:ext cx="3657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0">
                <a:solidFill>
                  <a:srgbClr val="20252A"/>
                </a:solidFill>
                <a:latin typeface="Bahnschrift"/>
              </a:defRPr>
            </a:pPr>
            <a:r>
              <a:t>4 locations</a:t>
            </a:r>
            <a:br/>
            <a:r>
              <a:t>1 named approval</a:t>
            </a:r>
            <a:br/>
            <a:r>
              <a:t>0 duplicate mutations</a:t>
            </a:r>
          </a:p>
        </p:txBody>
      </p:sp>
      <p:pic>
        <p:nvPicPr>
          <p:cNvPr id="12" name="Picture 11" descr="control-tower-init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828800"/>
            <a:ext cx="6548473" cy="42519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389120" y="6016752"/>
            <a:ext cx="7040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58656D"/>
                </a:solidFill>
                <a:latin typeface="Calibri"/>
              </a:defRPr>
            </a:pPr>
            <a:r>
              <a:t>B-2408-AX7  |  Saved local Control Tower 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006F78"/>
                </a:solidFill>
                <a:latin typeface="Calibri"/>
              </a:defRPr>
            </a:pPr>
            <a:r>
              <a:t>MCP COMMUNITY CONNECT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6510528"/>
            <a:ext cx="3566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0">
                <a:solidFill>
                  <a:srgbClr val="58656D"/>
                </a:solidFill>
                <a:latin typeface="Calibri"/>
              </a:defRPr>
            </a:pPr>
            <a:r>
              <a:t>BENGALURU  /  26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55664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006F78"/>
                </a:solidFill>
                <a:latin typeface="Bahnschrift"/>
              </a:defRPr>
            </a:pPr>
            <a: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8404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6F78"/>
                </a:solidFill>
                <a:latin typeface="Calibri"/>
              </a:defRPr>
            </a:pPr>
            <a:r>
              <a:t>SOLUTION ARCHITECTURE | TWO SEPARATE EXECUTION PATHS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200" b="1">
                <a:solidFill>
                  <a:srgbClr val="20252A"/>
                </a:solidFill>
                <a:latin typeface="Bahnschrift"/>
              </a:defRPr>
            </a:pPr>
            <a:r>
              <a:t>One domain. Two demos. Explicit boundaries.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764792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6F78"/>
                </a:solidFill>
                <a:latin typeface="Calibri"/>
              </a:defRPr>
            </a:pPr>
            <a:r>
              <a:t>01  LOCAL CONTROL PATH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231136"/>
            <a:ext cx="2450592" cy="932688"/>
          </a:xfrm>
          <a:prstGeom prst="rect">
            <a:avLst/>
          </a:prstGeom>
          <a:solidFill>
            <a:srgbClr val="ED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231136"/>
            <a:ext cx="50292" cy="932688"/>
          </a:xfrm>
          <a:prstGeom prst="rect">
            <a:avLst/>
          </a:prstGeom>
          <a:solidFill>
            <a:srgbClr val="00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" y="2350008"/>
            <a:ext cx="21762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1">
                <a:solidFill>
                  <a:srgbClr val="20252A"/>
                </a:solidFill>
                <a:latin typeface="Bahnschrift"/>
              </a:defRPr>
            </a:pPr>
            <a:r>
              <a:t>Control Tower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" y="2761488"/>
            <a:ext cx="21762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58656D"/>
                </a:solidFill>
                <a:latin typeface="Calibri"/>
              </a:defRPr>
            </a:pPr>
            <a:r>
              <a:t>Browser + FastAPI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47288" y="2231136"/>
            <a:ext cx="2450592" cy="932688"/>
          </a:xfrm>
          <a:prstGeom prst="rect">
            <a:avLst/>
          </a:prstGeom>
          <a:solidFill>
            <a:srgbClr val="ED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47288" y="2231136"/>
            <a:ext cx="50292" cy="932688"/>
          </a:xfrm>
          <a:prstGeom prst="rect">
            <a:avLst/>
          </a:prstGeom>
          <a:solidFill>
            <a:srgbClr val="00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93592" y="2350008"/>
            <a:ext cx="21762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1">
                <a:solidFill>
                  <a:srgbClr val="20252A"/>
                </a:solidFill>
                <a:latin typeface="Bahnschrift"/>
              </a:defRPr>
            </a:pPr>
            <a:r>
              <a:t>MCP client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93592" y="2761488"/>
            <a:ext cx="21762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58656D"/>
                </a:solidFill>
                <a:latin typeface="Calibri"/>
              </a:defRPr>
            </a:pPr>
            <a:r>
              <a:t>In-memory tool calls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216" y="2231136"/>
            <a:ext cx="2450592" cy="932688"/>
          </a:xfrm>
          <a:prstGeom prst="rect">
            <a:avLst/>
          </a:prstGeom>
          <a:solidFill>
            <a:srgbClr val="ED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0216" y="2231136"/>
            <a:ext cx="50292" cy="932688"/>
          </a:xfrm>
          <a:prstGeom prst="rect">
            <a:avLst/>
          </a:prstGeom>
          <a:solidFill>
            <a:srgbClr val="00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2350008"/>
            <a:ext cx="21762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1">
                <a:solidFill>
                  <a:srgbClr val="20252A"/>
                </a:solidFill>
                <a:latin typeface="Bahnschrift"/>
              </a:defRPr>
            </a:pPr>
            <a:r>
              <a:t>MCP server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761488"/>
            <a:ext cx="21762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58656D"/>
                </a:solidFill>
                <a:latin typeface="Calibri"/>
              </a:defRPr>
            </a:pPr>
            <a:r>
              <a:t>Typed tool contract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53144" y="2231136"/>
            <a:ext cx="2450592" cy="932688"/>
          </a:xfrm>
          <a:prstGeom prst="rect">
            <a:avLst/>
          </a:prstGeom>
          <a:solidFill>
            <a:srgbClr val="ED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53144" y="2231136"/>
            <a:ext cx="50292" cy="932688"/>
          </a:xfrm>
          <a:prstGeom prst="rect">
            <a:avLst/>
          </a:prstGeom>
          <a:solidFill>
            <a:srgbClr val="00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99448" y="2350008"/>
            <a:ext cx="21762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1">
                <a:solidFill>
                  <a:srgbClr val="20252A"/>
                </a:solidFill>
                <a:latin typeface="Bahnschrift"/>
              </a:defRPr>
            </a:pPr>
            <a:r>
              <a:t>Policy + store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9448" y="2761488"/>
            <a:ext cx="21762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58656D"/>
                </a:solidFill>
                <a:latin typeface="Calibri"/>
              </a:defRPr>
            </a:pPr>
            <a:r>
              <a:t>Approval / replay / audit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054096" y="2697480"/>
            <a:ext cx="310895" cy="0"/>
          </a:xfrm>
          <a:prstGeom prst="line">
            <a:avLst/>
          </a:prstGeom>
          <a:ln w="22860">
            <a:solidFill>
              <a:srgbClr val="006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273551" y="2624328"/>
            <a:ext cx="91440" cy="73152"/>
          </a:xfrm>
          <a:prstGeom prst="line">
            <a:avLst/>
          </a:prstGeom>
          <a:ln w="22860">
            <a:solidFill>
              <a:srgbClr val="006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3273551" y="2697480"/>
            <a:ext cx="91440" cy="73152"/>
          </a:xfrm>
          <a:prstGeom prst="line">
            <a:avLst/>
          </a:prstGeom>
          <a:ln w="22860">
            <a:solidFill>
              <a:srgbClr val="006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907024" y="2697480"/>
            <a:ext cx="310896" cy="0"/>
          </a:xfrm>
          <a:prstGeom prst="line">
            <a:avLst/>
          </a:prstGeom>
          <a:ln w="22860">
            <a:solidFill>
              <a:srgbClr val="006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126480" y="2624328"/>
            <a:ext cx="91440" cy="73152"/>
          </a:xfrm>
          <a:prstGeom prst="line">
            <a:avLst/>
          </a:prstGeom>
          <a:ln w="22860">
            <a:solidFill>
              <a:srgbClr val="006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6126480" y="2697480"/>
            <a:ext cx="91440" cy="73152"/>
          </a:xfrm>
          <a:prstGeom prst="line">
            <a:avLst/>
          </a:prstGeom>
          <a:ln w="22860">
            <a:solidFill>
              <a:srgbClr val="006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759952" y="2697480"/>
            <a:ext cx="310896" cy="0"/>
          </a:xfrm>
          <a:prstGeom prst="line">
            <a:avLst/>
          </a:prstGeom>
          <a:ln w="22860">
            <a:solidFill>
              <a:srgbClr val="006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979408" y="2624328"/>
            <a:ext cx="91440" cy="73152"/>
          </a:xfrm>
          <a:prstGeom prst="line">
            <a:avLst/>
          </a:prstGeom>
          <a:ln w="22860">
            <a:solidFill>
              <a:srgbClr val="006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8979408" y="2697480"/>
            <a:ext cx="91440" cy="73152"/>
          </a:xfrm>
          <a:prstGeom prst="line">
            <a:avLst/>
          </a:prstGeom>
          <a:ln w="22860">
            <a:solidFill>
              <a:srgbClr val="006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94360" y="3364992"/>
            <a:ext cx="1097280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1">
                <a:solidFill>
                  <a:srgbClr val="B73935"/>
                </a:solidFill>
                <a:latin typeface="Calibri"/>
              </a:defRPr>
            </a:pPr>
            <a:r>
              <a:t>Human approves in the application. No LLM call in this UI path.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3895344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6F78"/>
                </a:solidFill>
                <a:latin typeface="Calibri"/>
              </a:defRPr>
            </a:pPr>
            <a:r>
              <a:t>02  HOSTED REASONING PATH  |  MICROSOFT FOUNDRY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" y="4361688"/>
            <a:ext cx="2450592" cy="932688"/>
          </a:xfrm>
          <a:prstGeom prst="rect">
            <a:avLst/>
          </a:prstGeom>
          <a:solidFill>
            <a:srgbClr val="ED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4360" y="4361688"/>
            <a:ext cx="50292" cy="932688"/>
          </a:xfrm>
          <a:prstGeom prst="rect">
            <a:avLst/>
          </a:prstGeom>
          <a:solidFill>
            <a:srgbClr val="00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0664" y="4480559"/>
            <a:ext cx="21762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1">
                <a:solidFill>
                  <a:srgbClr val="20252A"/>
                </a:solidFill>
                <a:latin typeface="Bahnschrift"/>
              </a:defRPr>
            </a:pPr>
            <a:r>
              <a:t>Responses host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0664" y="4892040"/>
            <a:ext cx="21762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58656D"/>
                </a:solidFill>
                <a:latin typeface="Calibri"/>
              </a:defRPr>
            </a:pPr>
            <a:r>
              <a:t>Separate hosted invocation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447288" y="4361688"/>
            <a:ext cx="2450592" cy="932688"/>
          </a:xfrm>
          <a:prstGeom prst="rect">
            <a:avLst/>
          </a:prstGeom>
          <a:solidFill>
            <a:srgbClr val="ED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447288" y="4361688"/>
            <a:ext cx="50292" cy="932688"/>
          </a:xfrm>
          <a:prstGeom prst="rect">
            <a:avLst/>
          </a:prstGeom>
          <a:solidFill>
            <a:srgbClr val="00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593592" y="4480559"/>
            <a:ext cx="21762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1">
                <a:solidFill>
                  <a:srgbClr val="20252A"/>
                </a:solidFill>
                <a:latin typeface="Bahnschrift"/>
              </a:defRPr>
            </a:pPr>
            <a:r>
              <a:t>Agent Framework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93592" y="4892040"/>
            <a:ext cx="21762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58656D"/>
                </a:solidFill>
                <a:latin typeface="Calibri"/>
              </a:defRPr>
            </a:pPr>
            <a:r>
              <a:t>4 agents + model client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00216" y="4361688"/>
            <a:ext cx="2450592" cy="932688"/>
          </a:xfrm>
          <a:prstGeom prst="rect">
            <a:avLst/>
          </a:prstGeom>
          <a:solidFill>
            <a:srgbClr val="ED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300216" y="4361688"/>
            <a:ext cx="50292" cy="932688"/>
          </a:xfrm>
          <a:prstGeom prst="rect">
            <a:avLst/>
          </a:prstGeom>
          <a:solidFill>
            <a:srgbClr val="00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46520" y="4480559"/>
            <a:ext cx="21762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1">
                <a:solidFill>
                  <a:srgbClr val="20252A"/>
                </a:solidFill>
                <a:latin typeface="Bahnschrift"/>
              </a:defRPr>
            </a:pPr>
            <a:r>
              <a:t>CLI / JSON bridge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46520" y="4892040"/>
            <a:ext cx="21762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58656D"/>
                </a:solidFill>
                <a:latin typeface="Calibri"/>
              </a:defRPr>
            </a:pPr>
            <a:r>
              <a:t>Read-only allowlist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153144" y="4361688"/>
            <a:ext cx="2450592" cy="932688"/>
          </a:xfrm>
          <a:prstGeom prst="rect">
            <a:avLst/>
          </a:prstGeom>
          <a:solidFill>
            <a:srgbClr val="ED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153144" y="4361688"/>
            <a:ext cx="50292" cy="932688"/>
          </a:xfrm>
          <a:prstGeom prst="rect">
            <a:avLst/>
          </a:prstGeom>
          <a:solidFill>
            <a:srgbClr val="00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299448" y="4480559"/>
            <a:ext cx="21762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1">
                <a:solidFill>
                  <a:srgbClr val="20252A"/>
                </a:solidFill>
                <a:latin typeface="Bahnschrift"/>
              </a:defRPr>
            </a:pPr>
            <a:r>
              <a:t>In-process MCP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99448" y="4892040"/>
            <a:ext cx="21762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58656D"/>
                </a:solidFill>
                <a:latin typeface="Calibri"/>
              </a:defRPr>
            </a:pPr>
            <a:r>
              <a:t>Isolated interpreter + fixtures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3054096" y="4828032"/>
            <a:ext cx="310895" cy="0"/>
          </a:xfrm>
          <a:prstGeom prst="line">
            <a:avLst/>
          </a:prstGeom>
          <a:ln w="22860">
            <a:solidFill>
              <a:srgbClr val="006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3273551" y="4754880"/>
            <a:ext cx="91440" cy="73152"/>
          </a:xfrm>
          <a:prstGeom prst="line">
            <a:avLst/>
          </a:prstGeom>
          <a:ln w="22860">
            <a:solidFill>
              <a:srgbClr val="006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3273551" y="4828032"/>
            <a:ext cx="91440" cy="73152"/>
          </a:xfrm>
          <a:prstGeom prst="line">
            <a:avLst/>
          </a:prstGeom>
          <a:ln w="22860">
            <a:solidFill>
              <a:srgbClr val="006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5907024" y="4828032"/>
            <a:ext cx="310896" cy="0"/>
          </a:xfrm>
          <a:prstGeom prst="line">
            <a:avLst/>
          </a:prstGeom>
          <a:ln w="22860">
            <a:solidFill>
              <a:srgbClr val="006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6126480" y="4754880"/>
            <a:ext cx="91440" cy="73152"/>
          </a:xfrm>
          <a:prstGeom prst="line">
            <a:avLst/>
          </a:prstGeom>
          <a:ln w="22860">
            <a:solidFill>
              <a:srgbClr val="006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6126480" y="4828032"/>
            <a:ext cx="91440" cy="73152"/>
          </a:xfrm>
          <a:prstGeom prst="line">
            <a:avLst/>
          </a:prstGeom>
          <a:ln w="22860">
            <a:solidFill>
              <a:srgbClr val="006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8759952" y="4828032"/>
            <a:ext cx="310896" cy="0"/>
          </a:xfrm>
          <a:prstGeom prst="line">
            <a:avLst/>
          </a:prstGeom>
          <a:ln w="22860">
            <a:solidFill>
              <a:srgbClr val="006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8979408" y="4754880"/>
            <a:ext cx="91440" cy="73152"/>
          </a:xfrm>
          <a:prstGeom prst="line">
            <a:avLst/>
          </a:prstGeom>
          <a:ln w="22860">
            <a:solidFill>
              <a:srgbClr val="006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8979408" y="4828032"/>
            <a:ext cx="91440" cy="73152"/>
          </a:xfrm>
          <a:prstGeom prst="line">
            <a:avLst/>
          </a:prstGeom>
          <a:ln w="22860">
            <a:solidFill>
              <a:srgbClr val="006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594360" y="5760720"/>
            <a:ext cx="1097280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0">
                <a:solidFill>
                  <a:srgbClr val="58656D"/>
                </a:solidFill>
                <a:latin typeface="Calibri"/>
              </a:defRPr>
            </a:pPr>
            <a:r>
              <a:t>Shared domain code and synthetic data, not a shared live store or a wired UI-to-agent call.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006F78"/>
                </a:solidFill>
                <a:latin typeface="Calibri"/>
              </a:defRPr>
            </a:pPr>
            <a:r>
              <a:t>MCP COMMUNITY CONNECT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6510528"/>
            <a:ext cx="3566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0">
                <a:solidFill>
                  <a:srgbClr val="58656D"/>
                </a:solidFill>
                <a:latin typeface="Calibri"/>
              </a:defRPr>
            </a:pPr>
            <a:r>
              <a:t>BENGALURU  /  26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55664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006F78"/>
                </a:solidFill>
                <a:latin typeface="Bahnschrift"/>
              </a:defRPr>
            </a:pPr>
            <a: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8404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6F78"/>
                </a:solidFill>
                <a:latin typeface="Calibri"/>
              </a:defRPr>
            </a:pPr>
            <a:r>
              <a:t>MCP TOOL DESIGN | ACTUAL SERVER CONTRACT, SELECTED FIELDS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200" b="1">
                <a:solidFill>
                  <a:srgbClr val="20252A"/>
                </a:solidFill>
                <a:latin typeface="Bahnschrift"/>
              </a:defRPr>
            </a:pPr>
            <a:r>
              <a:t>Discover the schema. Inspect the result.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773936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300" b="1">
                <a:solidFill>
                  <a:srgbClr val="006F78"/>
                </a:solidFill>
                <a:latin typeface="Bahnschrift"/>
              </a:defRPr>
            </a:pPr>
            <a:r>
              <a:t>initialize  &gt;  tools/list  &gt;  tools/call  &gt;  result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806440" y="2423160"/>
            <a:ext cx="0" cy="3154680"/>
          </a:xfrm>
          <a:prstGeom prst="line">
            <a:avLst/>
          </a:prstGeom>
          <a:ln w="12700">
            <a:solidFill>
              <a:srgbClr val="D9E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94360" y="2423160"/>
            <a:ext cx="49834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1">
                <a:solidFill>
                  <a:srgbClr val="20252A"/>
                </a:solidFill>
                <a:latin typeface="Bahnschrift"/>
              </a:defRPr>
            </a:pPr>
            <a:r>
              <a:t>DISCOVERY  /  locate_inventory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971800"/>
            <a:ext cx="49834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0">
                <a:solidFill>
                  <a:srgbClr val="20252A"/>
                </a:solidFill>
                <a:latin typeface="Cascadia Code"/>
              </a:defRPr>
            </a:pPr>
            <a:r>
              <a:t>batch_id: required string</a:t>
            </a:r>
            <a:br/>
            <a:r>
              <a:t>minLength: 1</a:t>
            </a:r>
            <a:br/>
            <a:r>
              <a:t>maxLength: 64</a:t>
            </a:r>
            <a:br/>
            <a:r>
              <a:t>pattern: ^[A-Z0-9-]+$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654296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006F78"/>
                </a:solidFill>
                <a:latin typeface="Cascadia Code"/>
              </a:defRPr>
            </a:pPr>
            <a:r>
              <a:t>readOnlyHint: true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166360"/>
            <a:ext cx="4983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58656D"/>
                </a:solidFill>
                <a:latin typeface="Calibri"/>
              </a:defRPr>
            </a:pPr>
            <a:r>
              <a:t>outputSchema is a generic object.</a:t>
            </a:r>
            <a:br/>
            <a:r>
              <a:t>Structured does not mean fact-checked.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423160"/>
            <a:ext cx="5257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1">
                <a:solidFill>
                  <a:srgbClr val="20252A"/>
                </a:solidFill>
                <a:latin typeface="Bahnschrift"/>
              </a:defRPr>
            </a:pPr>
            <a:r>
              <a:t>CALL  /  params excerpt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971800"/>
            <a:ext cx="5257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20252A"/>
                </a:solidFill>
                <a:latin typeface="Cascadia Code"/>
              </a:defRPr>
            </a:pPr>
            <a:r>
              <a:t>{"name": "locate_inventory",</a:t>
            </a:r>
            <a:br/>
            <a:r>
              <a:t> "arguments": {</a:t>
            </a:r>
            <a:br/>
            <a:r>
              <a:t>   "batch_id": "B-2408-AX7"</a:t>
            </a:r>
            <a:br/>
            <a:r>
              <a:t> }}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4562856"/>
            <a:ext cx="5257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1">
                <a:solidFill>
                  <a:srgbClr val="20252A"/>
                </a:solidFill>
                <a:latin typeface="Bahnschrift"/>
              </a:defRPr>
            </a:pPr>
            <a:r>
              <a:t>RESULT  /  structuredContent excerpt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074920"/>
            <a:ext cx="5257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0">
                <a:solidFill>
                  <a:srgbClr val="006F78"/>
                </a:solidFill>
                <a:latin typeface="Cascadia Code"/>
              </a:defRPr>
            </a:pPr>
            <a:r>
              <a:t>{"total_units": 2196,</a:t>
            </a:r>
            <a:br/>
            <a:r>
              <a:t> "locations": 4}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053328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1">
                <a:solidFill>
                  <a:srgbClr val="B73935"/>
                </a:solidFill>
                <a:latin typeface="Calibri"/>
              </a:defRPr>
            </a:pPr>
            <a:r>
              <a:t>A model may propose a call. The client sends it. Server policy decides whether it may act.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006F78"/>
                </a:solidFill>
                <a:latin typeface="Calibri"/>
              </a:defRPr>
            </a:pPr>
            <a:r>
              <a:t>MCP COMMUNITY CONNECT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6510528"/>
            <a:ext cx="3566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0">
                <a:solidFill>
                  <a:srgbClr val="58656D"/>
                </a:solidFill>
                <a:latin typeface="Calibri"/>
              </a:defRPr>
            </a:pPr>
            <a:r>
              <a:t>BENGALURU  /  26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55664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006F78"/>
                </a:solidFill>
                <a:latin typeface="Bahnschrift"/>
              </a:defRPr>
            </a:pPr>
            <a: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8404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6F78"/>
                </a:solidFill>
                <a:latin typeface="Calibri"/>
              </a:defRPr>
            </a:pPr>
            <a:r>
              <a:t>CHOOSE THE ORCHESTRATION PATTERN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200" b="1">
                <a:solidFill>
                  <a:srgbClr val="20252A"/>
                </a:solidFill>
                <a:latin typeface="Bahnschrift"/>
              </a:defRPr>
            </a:pPr>
            <a:r>
              <a:t>Use the smallest workflow that can do the job.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28800"/>
            <a:ext cx="3474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6F78"/>
                </a:solidFill>
                <a:latin typeface="Calibri"/>
              </a:defRPr>
            </a:pPr>
            <a:r>
              <a:t>IMPLEMENTED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240280"/>
            <a:ext cx="34747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0252A"/>
                </a:solidFill>
                <a:latin typeface="Bahnschrift"/>
              </a:defRPr>
            </a:pPr>
            <a:r>
              <a:t>Sequential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937760"/>
            <a:ext cx="33832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58656D"/>
                </a:solidFill>
                <a:latin typeface="Calibri"/>
              </a:defRPr>
            </a:pPr>
            <a:r>
              <a:t>Known dependencies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142232" y="1828800"/>
            <a:ext cx="0" cy="3657600"/>
          </a:xfrm>
          <a:prstGeom prst="line">
            <a:avLst/>
          </a:prstGeom>
          <a:ln w="12700">
            <a:solidFill>
              <a:srgbClr val="D9E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389120" y="1828800"/>
            <a:ext cx="3474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58656D"/>
                </a:solidFill>
                <a:latin typeface="Calibri"/>
              </a:defRPr>
            </a:pPr>
            <a:r>
              <a:t>COMPARISON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240280"/>
            <a:ext cx="34747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0252A"/>
                </a:solidFill>
                <a:latin typeface="Bahnschrift"/>
              </a:defRPr>
            </a:pPr>
            <a:r>
              <a:t>Supervisor routing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4937760"/>
            <a:ext cx="33832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58656D"/>
                </a:solidFill>
                <a:latin typeface="Calibri"/>
              </a:defRPr>
            </a:pPr>
            <a:r>
              <a:t>Choose the next specialist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936992" y="1828800"/>
            <a:ext cx="0" cy="3657600"/>
          </a:xfrm>
          <a:prstGeom prst="line">
            <a:avLst/>
          </a:prstGeom>
          <a:ln w="12700">
            <a:solidFill>
              <a:srgbClr val="D9E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183880" y="1828800"/>
            <a:ext cx="3474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58656D"/>
                </a:solidFill>
                <a:latin typeface="Calibri"/>
              </a:defRPr>
            </a:pPr>
            <a:r>
              <a:t>COMPARISON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80" y="2240280"/>
            <a:ext cx="34747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0252A"/>
                </a:solidFill>
                <a:latin typeface="Bahnschrift"/>
              </a:defRPr>
            </a:pPr>
            <a:r>
              <a:t>Parallel collaboration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80" y="4937760"/>
            <a:ext cx="33832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58656D"/>
                </a:solidFill>
                <a:latin typeface="Calibri"/>
              </a:defRPr>
            </a:pPr>
            <a:r>
              <a:t>Independent evidence, then join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3520440"/>
            <a:ext cx="932688" cy="658368"/>
          </a:xfrm>
          <a:prstGeom prst="rect">
            <a:avLst/>
          </a:prstGeom>
          <a:solidFill>
            <a:srgbClr val="ED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3675887"/>
            <a:ext cx="8046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0252A"/>
                </a:solidFill>
                <a:latin typeface="Calibri"/>
              </a:defRPr>
            </a:pPr>
            <a:r>
              <a:t>Read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536192" y="3849624"/>
            <a:ext cx="164592" cy="0"/>
          </a:xfrm>
          <a:prstGeom prst="line">
            <a:avLst/>
          </a:prstGeom>
          <a:ln w="22860">
            <a:solidFill>
              <a:srgbClr val="006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609344" y="3776472"/>
            <a:ext cx="91440" cy="73152"/>
          </a:xfrm>
          <a:prstGeom prst="line">
            <a:avLst/>
          </a:prstGeom>
          <a:ln w="22860">
            <a:solidFill>
              <a:srgbClr val="006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609344" y="3849624"/>
            <a:ext cx="91440" cy="73152"/>
          </a:xfrm>
          <a:prstGeom prst="line">
            <a:avLst/>
          </a:prstGeom>
          <a:ln w="22860">
            <a:solidFill>
              <a:srgbClr val="006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1709928" y="3520440"/>
            <a:ext cx="932688" cy="658368"/>
          </a:xfrm>
          <a:prstGeom prst="rect">
            <a:avLst/>
          </a:prstGeom>
          <a:solidFill>
            <a:srgbClr val="ED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73936" y="3675887"/>
            <a:ext cx="8046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0252A"/>
                </a:solidFill>
                <a:latin typeface="Calibri"/>
              </a:defRPr>
            </a:pPr>
            <a:r>
              <a:t>Assess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651760" y="3849624"/>
            <a:ext cx="164592" cy="0"/>
          </a:xfrm>
          <a:prstGeom prst="line">
            <a:avLst/>
          </a:prstGeom>
          <a:ln w="22860">
            <a:solidFill>
              <a:srgbClr val="006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724912" y="3776472"/>
            <a:ext cx="91440" cy="73152"/>
          </a:xfrm>
          <a:prstGeom prst="line">
            <a:avLst/>
          </a:prstGeom>
          <a:ln w="22860">
            <a:solidFill>
              <a:srgbClr val="006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2724912" y="3849624"/>
            <a:ext cx="91440" cy="73152"/>
          </a:xfrm>
          <a:prstGeom prst="line">
            <a:avLst/>
          </a:prstGeom>
          <a:ln w="22860">
            <a:solidFill>
              <a:srgbClr val="006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2825496" y="3520440"/>
            <a:ext cx="932688" cy="658368"/>
          </a:xfrm>
          <a:prstGeom prst="rect">
            <a:avLst/>
          </a:prstGeom>
          <a:solidFill>
            <a:srgbClr val="ED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89503" y="3675887"/>
            <a:ext cx="8046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0252A"/>
                </a:solidFill>
                <a:latin typeface="Calibri"/>
              </a:defRPr>
            </a:pPr>
            <a:r>
              <a:t>Brief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0" y="3108960"/>
            <a:ext cx="1645920" cy="932688"/>
          </a:xfrm>
          <a:prstGeom prst="rect">
            <a:avLst/>
          </a:prstGeom>
          <a:solidFill>
            <a:srgbClr val="ED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389120" y="3108960"/>
            <a:ext cx="50292" cy="932688"/>
          </a:xfrm>
          <a:prstGeom prst="rect">
            <a:avLst/>
          </a:prstGeom>
          <a:solidFill>
            <a:srgbClr val="00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35424" y="3227832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1">
                <a:solidFill>
                  <a:srgbClr val="20252A"/>
                </a:solidFill>
                <a:latin typeface="Bahnschrift"/>
              </a:defRPr>
            </a:pPr>
            <a:r>
              <a:t>Router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35424" y="36393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58656D"/>
                </a:solidFill>
                <a:latin typeface="Calibri"/>
              </a:defRPr>
            </a:pPr>
            <a:r>
              <a:t>Bounded choices</a:t>
            </a:r>
          </a:p>
        </p:txBody>
      </p:sp>
      <p:cxnSp>
        <p:nvCxnSpPr>
          <p:cNvPr id="36" name="Connector 35"/>
          <p:cNvCxnSpPr/>
          <p:nvPr/>
        </p:nvCxnSpPr>
        <p:spPr>
          <a:xfrm flipV="1">
            <a:off x="6035040" y="3410712"/>
            <a:ext cx="292608" cy="164592"/>
          </a:xfrm>
          <a:prstGeom prst="line">
            <a:avLst/>
          </a:prstGeom>
          <a:ln w="19050">
            <a:solidFill>
              <a:srgbClr val="006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6327648" y="3136392"/>
            <a:ext cx="1325880" cy="566928"/>
          </a:xfrm>
          <a:prstGeom prst="rect">
            <a:avLst/>
          </a:prstGeom>
          <a:solidFill>
            <a:srgbClr val="ED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3273552"/>
            <a:ext cx="1069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0">
                <a:solidFill>
                  <a:srgbClr val="20252A"/>
                </a:solidFill>
                <a:latin typeface="Calibri"/>
              </a:defRPr>
            </a:pPr>
            <a:r>
              <a:t>Stock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035040" y="3575304"/>
            <a:ext cx="292608" cy="786384"/>
          </a:xfrm>
          <a:prstGeom prst="line">
            <a:avLst/>
          </a:prstGeom>
          <a:ln w="19050">
            <a:solidFill>
              <a:srgbClr val="006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6327648" y="4087368"/>
            <a:ext cx="1325880" cy="566928"/>
          </a:xfrm>
          <a:prstGeom prst="rect">
            <a:avLst/>
          </a:prstGeom>
          <a:solidFill>
            <a:srgbClr val="ED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46520" y="4224528"/>
            <a:ext cx="1069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0">
                <a:solidFill>
                  <a:srgbClr val="20252A"/>
                </a:solidFill>
                <a:latin typeface="Calibri"/>
              </a:defRPr>
            </a:pPr>
            <a:r>
              <a:t>Supplier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366760" y="3136392"/>
            <a:ext cx="1344168" cy="566928"/>
          </a:xfrm>
          <a:prstGeom prst="rect">
            <a:avLst/>
          </a:prstGeom>
          <a:solidFill>
            <a:srgbClr val="ED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58200" y="3273552"/>
            <a:ext cx="11612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0">
                <a:solidFill>
                  <a:srgbClr val="20252A"/>
                </a:solidFill>
                <a:latin typeface="Calibri"/>
              </a:defRPr>
            </a:pPr>
            <a:r>
              <a:t>Stock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9710928" y="3410712"/>
            <a:ext cx="502920" cy="438912"/>
          </a:xfrm>
          <a:prstGeom prst="line">
            <a:avLst/>
          </a:prstGeom>
          <a:ln w="19050">
            <a:solidFill>
              <a:srgbClr val="006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8366760" y="4087368"/>
            <a:ext cx="1344168" cy="566928"/>
          </a:xfrm>
          <a:prstGeom prst="rect">
            <a:avLst/>
          </a:prstGeom>
          <a:solidFill>
            <a:srgbClr val="ED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58200" y="4224528"/>
            <a:ext cx="11612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0">
                <a:solidFill>
                  <a:srgbClr val="20252A"/>
                </a:solidFill>
                <a:latin typeface="Calibri"/>
              </a:defRPr>
            </a:pPr>
            <a:r>
              <a:t>Supplier</a:t>
            </a:r>
          </a:p>
        </p:txBody>
      </p:sp>
      <p:cxnSp>
        <p:nvCxnSpPr>
          <p:cNvPr id="47" name="Connector 46"/>
          <p:cNvCxnSpPr/>
          <p:nvPr/>
        </p:nvCxnSpPr>
        <p:spPr>
          <a:xfrm flipV="1">
            <a:off x="9710928" y="3849624"/>
            <a:ext cx="502920" cy="512064"/>
          </a:xfrm>
          <a:prstGeom prst="line">
            <a:avLst/>
          </a:prstGeom>
          <a:ln w="19050">
            <a:solidFill>
              <a:srgbClr val="006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10213848" y="3383280"/>
            <a:ext cx="1344168" cy="932688"/>
          </a:xfrm>
          <a:prstGeom prst="rect">
            <a:avLst/>
          </a:prstGeom>
          <a:solidFill>
            <a:srgbClr val="ED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213848" y="3383280"/>
            <a:ext cx="50292" cy="932688"/>
          </a:xfrm>
          <a:prstGeom prst="rect">
            <a:avLst/>
          </a:prstGeom>
          <a:solidFill>
            <a:srgbClr val="00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360152" y="3502152"/>
            <a:ext cx="10698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1">
                <a:solidFill>
                  <a:srgbClr val="20252A"/>
                </a:solidFill>
                <a:latin typeface="Bahnschrift"/>
              </a:defRPr>
            </a:pPr>
            <a:r>
              <a:t>Join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60152" y="3913632"/>
            <a:ext cx="1069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58656D"/>
                </a:solidFill>
                <a:latin typeface="Calibri"/>
              </a:defRPr>
            </a:pPr>
            <a:r>
              <a:t>Reconcile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4360" y="585216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1">
                <a:solidFill>
                  <a:srgbClr val="B73935"/>
                </a:solidFill>
                <a:latin typeface="Calibri"/>
              </a:defRPr>
            </a:pPr>
            <a:r>
              <a:t>Human approval is an authority boundary across every pattern, not another agent vote.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8BE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8BE2DC"/>
                </a:solidFill>
                <a:latin typeface="Calibri"/>
              </a:defRPr>
            </a:pPr>
            <a:r>
              <a:t>MCP COMMUNITY CONNECT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6510528"/>
            <a:ext cx="3566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0">
                <a:solidFill>
                  <a:srgbClr val="8BE2DC"/>
                </a:solidFill>
                <a:latin typeface="Calibri"/>
              </a:defRPr>
            </a:pPr>
            <a:r>
              <a:t>BENGALURU  /  26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55664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8BE2DC"/>
                </a:solidFill>
                <a:latin typeface="Bahnschrift"/>
              </a:defRPr>
            </a:pPr>
            <a: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8404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8BE2DC"/>
                </a:solidFill>
                <a:latin typeface="Calibri"/>
              </a:defRPr>
            </a:pPr>
            <a:r>
              <a:t>MICROSOFT AGENT FRAMEWORK | IMPLEMENTED SEQUENCE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Bahnschrift"/>
              </a:defRPr>
            </a:pPr>
            <a:r>
              <a:t>Four specialists. Three tools. No mutation rights.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39112"/>
            <a:ext cx="2423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4200" b="0">
                <a:solidFill>
                  <a:srgbClr val="8BE2DC"/>
                </a:solidFill>
                <a:latin typeface="Bahnschrift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008376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Bahnschrift"/>
              </a:defRPr>
            </a:pPr>
            <a:r>
              <a:t>Recall Triage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85032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8BE2DC"/>
                </a:solidFill>
                <a:latin typeface="Cascadia Code"/>
              </a:defRPr>
            </a:pPr>
            <a:r>
              <a:t>get_recall_notice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389120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Validated recall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090672" y="3218688"/>
            <a:ext cx="256032" cy="0"/>
          </a:xfrm>
          <a:prstGeom prst="line">
            <a:avLst/>
          </a:prstGeom>
          <a:ln w="22860">
            <a:solidFill>
              <a:srgbClr val="8B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255264" y="3145536"/>
            <a:ext cx="91440" cy="73152"/>
          </a:xfrm>
          <a:prstGeom prst="line">
            <a:avLst/>
          </a:prstGeom>
          <a:ln w="22860">
            <a:solidFill>
              <a:srgbClr val="8B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3255264" y="3218688"/>
            <a:ext cx="91440" cy="73152"/>
          </a:xfrm>
          <a:prstGeom prst="line">
            <a:avLst/>
          </a:prstGeom>
          <a:ln w="22860">
            <a:solidFill>
              <a:srgbClr val="8B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465576" y="2039112"/>
            <a:ext cx="2423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4200" b="0">
                <a:solidFill>
                  <a:srgbClr val="8BE2DC"/>
                </a:solidFill>
                <a:latin typeface="Bahnschrift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65576" y="3008376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Bahnschrift"/>
              </a:defRPr>
            </a:pPr>
            <a:r>
              <a:t>Inventory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65576" y="3685032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8BE2DC"/>
                </a:solidFill>
                <a:latin typeface="Cascadia Code"/>
              </a:defRPr>
            </a:pPr>
            <a:r>
              <a:t>locate_inventory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65576" y="4389120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Exposure + positions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61888" y="3218688"/>
            <a:ext cx="256032" cy="0"/>
          </a:xfrm>
          <a:prstGeom prst="line">
            <a:avLst/>
          </a:prstGeom>
          <a:ln w="22860">
            <a:solidFill>
              <a:srgbClr val="8B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126480" y="3145536"/>
            <a:ext cx="91440" cy="73152"/>
          </a:xfrm>
          <a:prstGeom prst="line">
            <a:avLst/>
          </a:prstGeom>
          <a:ln w="22860">
            <a:solidFill>
              <a:srgbClr val="8B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6126480" y="3218688"/>
            <a:ext cx="91440" cy="73152"/>
          </a:xfrm>
          <a:prstGeom prst="line">
            <a:avLst/>
          </a:prstGeom>
          <a:ln w="22860">
            <a:solidFill>
              <a:srgbClr val="8B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336792" y="2039112"/>
            <a:ext cx="2423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4200" b="0">
                <a:solidFill>
                  <a:srgbClr val="8BE2DC"/>
                </a:solidFill>
                <a:latin typeface="Bahnschrift"/>
              </a:defRPr>
            </a:pPr>
            <a: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36792" y="3008376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Bahnschrift"/>
              </a:defRPr>
            </a:pPr>
            <a:r>
              <a:t>Supplier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36792" y="3685032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8BE2DC"/>
                </a:solidFill>
                <a:latin typeface="Cascadia Code"/>
              </a:defRPr>
            </a:pPr>
            <a:r>
              <a:t>get_supplier_status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36792" y="4389120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Constraints + unknowns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833104" y="3218688"/>
            <a:ext cx="256032" cy="0"/>
          </a:xfrm>
          <a:prstGeom prst="line">
            <a:avLst/>
          </a:prstGeom>
          <a:ln w="22860">
            <a:solidFill>
              <a:srgbClr val="8B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997696" y="3145536"/>
            <a:ext cx="91440" cy="73152"/>
          </a:xfrm>
          <a:prstGeom prst="line">
            <a:avLst/>
          </a:prstGeom>
          <a:ln w="22860">
            <a:solidFill>
              <a:srgbClr val="8B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8997696" y="3218688"/>
            <a:ext cx="91440" cy="73152"/>
          </a:xfrm>
          <a:prstGeom prst="line">
            <a:avLst/>
          </a:prstGeom>
          <a:ln w="22860">
            <a:solidFill>
              <a:srgbClr val="8B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9208008" y="2039112"/>
            <a:ext cx="2423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4200" b="0">
                <a:solidFill>
                  <a:srgbClr val="8BE2DC"/>
                </a:solidFill>
                <a:latin typeface="Bahnschrift"/>
              </a:defRPr>
            </a:pPr>
            <a: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08008" y="3008376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Bahnschrift"/>
              </a:defRPr>
            </a:pPr>
            <a:r>
              <a:t>Supervisor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08008" y="3685032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8BE2DC"/>
                </a:solidFill>
                <a:latin typeface="Cascadia Code"/>
              </a:defRPr>
            </a:pPr>
            <a:r>
              <a:t>NO TOOLS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08008" y="4389120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Decision brief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94360" y="5404104"/>
            <a:ext cx="10972800" cy="0"/>
          </a:xfrm>
          <a:prstGeom prst="line">
            <a:avLst/>
          </a:prstGeom>
          <a:ln w="12700">
            <a:solidFill>
              <a:srgbClr val="5865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94360" y="56692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0">
                <a:solidFill>
                  <a:srgbClr val="8BE2DC"/>
                </a:solidFill>
                <a:latin typeface="Calibri"/>
              </a:defRPr>
            </a:pPr>
            <a:r>
              <a:t>Fixed WorkflowBuilder edges. The supervisor synthesizes; it does not route.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8BE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8BE2DC"/>
                </a:solidFill>
                <a:latin typeface="Calibri"/>
              </a:defRPr>
            </a:pPr>
            <a:r>
              <a:t>MCP COMMUNITY CONNECT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6510528"/>
            <a:ext cx="3566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0">
                <a:solidFill>
                  <a:srgbClr val="8BE2DC"/>
                </a:solidFill>
                <a:latin typeface="Calibri"/>
              </a:defRPr>
            </a:pPr>
            <a:r>
              <a:t>BENGALURU  /  26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55664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8BE2DC"/>
                </a:solidFill>
                <a:latin typeface="Bahnschrift"/>
              </a:defRPr>
            </a:pPr>
            <a: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8404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8BE2DC"/>
                </a:solidFill>
                <a:latin typeface="Calibri"/>
              </a:defRPr>
            </a:pPr>
            <a:r>
              <a:t>DEMO 01 | LOCAL MCP + DETERMINISTIC CONTROLS | 5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Bahnschrift"/>
              </a:defRPr>
            </a:pPr>
            <a:r>
              <a:t>Can it fail safely, then recover?</a:t>
            </a:r>
          </a:p>
        </p:txBody>
      </p:sp>
      <p:pic>
        <p:nvPicPr>
          <p:cNvPr id="9" name="Picture 8" descr="control-tower-init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874519"/>
            <a:ext cx="6478059" cy="4206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0" y="1920240"/>
            <a:ext cx="32918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8BE2DC"/>
                </a:solidFill>
                <a:latin typeface="Bahnschrift"/>
              </a:defRPr>
            </a:pPr>
            <a:r>
              <a:t>DISCOVER + CALL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368296"/>
            <a:ext cx="3291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Real stdio MCP inspection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944368"/>
            <a:ext cx="32918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8BE2DC"/>
                </a:solidFill>
                <a:latin typeface="Bahnschrift"/>
              </a:defRPr>
            </a:pPr>
            <a:r>
              <a:t>REJECT + VERIFY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3392424"/>
            <a:ext cx="3291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Bad input; denied write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3968496"/>
            <a:ext cx="32918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8BE2DC"/>
                </a:solidFill>
                <a:latin typeface="Bahnschrift"/>
              </a:defRPr>
            </a:pPr>
            <a:r>
              <a:t>APPROVE + 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4416552"/>
            <a:ext cx="3291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Local browser + MCP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4992624"/>
            <a:ext cx="32918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8BE2DC"/>
                </a:solidFill>
                <a:latin typeface="Bahnschrift"/>
              </a:defRPr>
            </a:pPr>
            <a:r>
              <a:t>REPLAY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5440680"/>
            <a:ext cx="3291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Zero further changes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126480"/>
            <a:ext cx="10972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8BE2DC"/>
                </a:solidFill>
                <a:latin typeface="Calibri"/>
              </a:defRPr>
            </a:pPr>
            <a:r>
              <a:t>Local UI: deterministic stage display, not a model invocation. Image: saved starting state.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006F78"/>
                </a:solidFill>
                <a:latin typeface="Calibri"/>
              </a:defRPr>
            </a:pPr>
            <a:r>
              <a:t>MCP COMMUNITY CONNECT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6510528"/>
            <a:ext cx="3566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0">
                <a:solidFill>
                  <a:srgbClr val="58656D"/>
                </a:solidFill>
                <a:latin typeface="Calibri"/>
              </a:defRPr>
            </a:pPr>
            <a:r>
              <a:t>BENGALURU  /  26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55664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006F78"/>
                </a:solidFill>
                <a:latin typeface="Bahnschrift"/>
              </a:defRPr>
            </a:pPr>
            <a: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8404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6F78"/>
                </a:solidFill>
                <a:latin typeface="Calibri"/>
              </a:defRPr>
            </a:pPr>
            <a:r>
              <a:t>DEMO FALLBACK | SAVED SCREENSHOT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200" b="1">
                <a:solidFill>
                  <a:srgbClr val="20252A"/>
                </a:solidFill>
                <a:latin typeface="Bahnschrift"/>
              </a:defRPr>
            </a:pPr>
            <a:r>
              <a:t>The proof is in the state change</a:t>
            </a:r>
          </a:p>
        </p:txBody>
      </p:sp>
      <p:pic>
        <p:nvPicPr>
          <p:cNvPr id="9" name="Picture 8" descr="control-tower-quarant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828800"/>
            <a:ext cx="5400216" cy="42519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0" y="1783080"/>
            <a:ext cx="3337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800" b="1">
                <a:solidFill>
                  <a:srgbClr val="006F78"/>
                </a:solidFill>
                <a:latin typeface="Calibri"/>
              </a:defRPr>
            </a:pPr>
            <a:r>
              <a:t>2,196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487168"/>
            <a:ext cx="3337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58656D"/>
                </a:solidFill>
                <a:latin typeface="Calibri"/>
              </a:defRPr>
            </a:pPr>
            <a:r>
              <a:t>units on the first call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3172968"/>
            <a:ext cx="3337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800" b="1">
                <a:solidFill>
                  <a:srgbClr val="006F78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3877056"/>
            <a:ext cx="3337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58656D"/>
                </a:solidFill>
                <a:latin typeface="Calibri"/>
              </a:defRPr>
            </a:pPr>
            <a:r>
              <a:t>additional changes on replay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4562856"/>
            <a:ext cx="3337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800" b="1">
                <a:solidFill>
                  <a:srgbClr val="006F78"/>
                </a:solidFill>
                <a:latin typeface="Calibri"/>
              </a:defRPr>
            </a:pPr>
            <a:r>
              <a:t>Audit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5266944"/>
            <a:ext cx="3337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58656D"/>
                </a:solidFill>
                <a:latin typeface="Calibri"/>
              </a:defRPr>
            </a:pPr>
            <a:r>
              <a:t>named approval; no credential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006F78"/>
                </a:solidFill>
                <a:latin typeface="Calibri"/>
              </a:defRPr>
            </a:pPr>
            <a:r>
              <a:t>MCP COMMUNITY CONNECT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6510528"/>
            <a:ext cx="3566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0">
                <a:solidFill>
                  <a:srgbClr val="58656D"/>
                </a:solidFill>
                <a:latin typeface="Calibri"/>
              </a:defRPr>
            </a:pPr>
            <a:r>
              <a:t>BENGALURU  /  26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55664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006F78"/>
                </a:solidFill>
                <a:latin typeface="Bahnschrift"/>
              </a:defRPr>
            </a:pPr>
            <a: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8404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6F78"/>
                </a:solidFill>
                <a:latin typeface="Calibri"/>
              </a:defRPr>
            </a:pPr>
            <a:r>
              <a:t>OBSERVABILITY + DEBUGGING | SCHEMATIC, NOT CAPTURED TELEMETRY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200" b="1">
                <a:solidFill>
                  <a:srgbClr val="20252A"/>
                </a:solidFill>
                <a:latin typeface="Bahnschrift"/>
              </a:defRPr>
            </a:pPr>
            <a:r>
              <a:t>Find the first point where evidence goes wrong.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84248"/>
            <a:ext cx="1417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0">
                <a:solidFill>
                  <a:srgbClr val="20252A"/>
                </a:solidFill>
                <a:latin typeface="Calibri"/>
              </a:defRPr>
            </a:pPr>
            <a:r>
              <a:t>Request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57400" y="1938528"/>
            <a:ext cx="4480560" cy="365760"/>
          </a:xfrm>
          <a:prstGeom prst="rect">
            <a:avLst/>
          </a:prstGeom>
          <a:solidFill>
            <a:srgbClr val="00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587752"/>
            <a:ext cx="1417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0">
                <a:solidFill>
                  <a:srgbClr val="20252A"/>
                </a:solidFill>
                <a:latin typeface="Calibri"/>
              </a:defRPr>
            </a:pPr>
            <a:r>
              <a:t>Triage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96896" y="2542032"/>
            <a:ext cx="3950208" cy="365760"/>
          </a:xfrm>
          <a:prstGeom prst="rect">
            <a:avLst/>
          </a:prstGeom>
          <a:solidFill>
            <a:srgbClr val="00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191256"/>
            <a:ext cx="1417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0">
                <a:solidFill>
                  <a:srgbClr val="20252A"/>
                </a:solidFill>
                <a:latin typeface="Calibri"/>
              </a:defRPr>
            </a:pPr>
            <a:r>
              <a:t>Inventory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36391" y="3145536"/>
            <a:ext cx="3419856" cy="365760"/>
          </a:xfrm>
          <a:prstGeom prst="rect">
            <a:avLst/>
          </a:prstGeom>
          <a:solidFill>
            <a:srgbClr val="00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794759"/>
            <a:ext cx="1417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0">
                <a:solidFill>
                  <a:srgbClr val="20252A"/>
                </a:solidFill>
                <a:latin typeface="Calibri"/>
              </a:defRPr>
            </a:pPr>
            <a:r>
              <a:t>Supplier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75887" y="3749039"/>
            <a:ext cx="2889504" cy="365760"/>
          </a:xfrm>
          <a:prstGeom prst="rect">
            <a:avLst/>
          </a:prstGeom>
          <a:solidFill>
            <a:srgbClr val="00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398264"/>
            <a:ext cx="1417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0">
                <a:solidFill>
                  <a:srgbClr val="20252A"/>
                </a:solidFill>
                <a:latin typeface="Calibri"/>
              </a:defRPr>
            </a:pPr>
            <a:r>
              <a:t>Brief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15383" y="4352544"/>
            <a:ext cx="2359152" cy="365760"/>
          </a:xfrm>
          <a:prstGeom prst="rect">
            <a:avLst/>
          </a:prstGeom>
          <a:solidFill>
            <a:srgbClr val="B7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5266944"/>
            <a:ext cx="612648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58656D"/>
                </a:solidFill>
                <a:latin typeface="Calibri"/>
              </a:defRPr>
            </a:pPr>
            <a:r>
              <a:t>Relative sequence only; bar lengths are not measurements.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1901952"/>
            <a:ext cx="4206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6F78"/>
                </a:solidFill>
                <a:latin typeface="Calibri"/>
              </a:defRPr>
            </a:pPr>
            <a:r>
              <a:t>WRONG TOOL RESULT?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2340864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0">
                <a:solidFill>
                  <a:srgbClr val="20252A"/>
                </a:solidFill>
                <a:latin typeface="Calibri"/>
              </a:defRPr>
            </a:pPr>
            <a:r>
              <a:t>Inspect arguments, schema and source.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3200400"/>
            <a:ext cx="4206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6F78"/>
                </a:solidFill>
                <a:latin typeface="Calibri"/>
              </a:defRPr>
            </a:pPr>
            <a:r>
              <a:t>RIGHT RESULT, WRONG BRIEF?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3639312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0">
                <a:solidFill>
                  <a:srgbClr val="20252A"/>
                </a:solidFill>
                <a:latin typeface="Calibri"/>
              </a:defRPr>
            </a:pPr>
            <a:r>
              <a:t>Inspect context handoff and synthesis.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4498848"/>
            <a:ext cx="4206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6F78"/>
                </a:solidFill>
                <a:latin typeface="Calibri"/>
              </a:defRPr>
            </a:pPr>
            <a:r>
              <a:t>SLOW OR FAILED CALL?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4937760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0">
                <a:solidFill>
                  <a:srgbClr val="20252A"/>
                </a:solidFill>
                <a:latin typeface="Calibri"/>
              </a:defRPr>
            </a:pPr>
            <a:r>
              <a:t>Inspect duration, timeout and cleanup.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5943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1">
                <a:solidFill>
                  <a:srgbClr val="B73935"/>
                </a:solidFill>
                <a:latin typeface="Calibri"/>
              </a:defRPr>
            </a:pPr>
            <a:r>
              <a:t>Correlate decisions and policy outcomes. Never log usable approval credentials.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8BE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8BE2DC"/>
                </a:solidFill>
                <a:latin typeface="Calibri"/>
              </a:defRPr>
            </a:pPr>
            <a:r>
              <a:t>MCP COMMUNITY CONNECT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6510528"/>
            <a:ext cx="3566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0">
                <a:solidFill>
                  <a:srgbClr val="8BE2DC"/>
                </a:solidFill>
                <a:latin typeface="Calibri"/>
              </a:defRPr>
            </a:pPr>
            <a:r>
              <a:t>BENGALURU  /  26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55664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8BE2DC"/>
                </a:solidFill>
                <a:latin typeface="Bahnschrift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8404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8BE2DC"/>
                </a:solidFill>
                <a:latin typeface="Calibri"/>
              </a:defRPr>
            </a:pPr>
            <a:r>
              <a:t>DEMO 02 | MICROSOFT FOUNDRY + AGENT FRAMEWORK | 4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Bahnschrift"/>
              </a:defRPr>
            </a:pPr>
            <a:r>
              <a:t>Now run the actual agent workflow.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93392"/>
            <a:ext cx="6400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5200" b="1">
                <a:solidFill>
                  <a:srgbClr val="8BE2DC"/>
                </a:solidFill>
                <a:latin typeface="Bahnschrift"/>
              </a:defRPr>
            </a:pPr>
            <a:r>
              <a:t>ASSESS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136392"/>
            <a:ext cx="66294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900" b="0">
                <a:solidFill>
                  <a:srgbClr val="FFFFFF"/>
                </a:solidFill>
                <a:latin typeface="Calibri"/>
              </a:defRPr>
            </a:pPr>
            <a:r>
              <a:t>Batch B-2408-AX7.</a:t>
            </a:r>
            <a:br/>
            <a:r>
              <a:t>Report exposure, supplier status</a:t>
            </a:r>
            <a:br/>
            <a:r>
              <a:t>and required human action.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1947672"/>
            <a:ext cx="3337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8BE2DC"/>
                </a:solidFill>
                <a:latin typeface="Calibri"/>
              </a:defRPr>
            </a:pPr>
            <a:r>
              <a:t>VERSION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2331720"/>
            <a:ext cx="3337560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Calibri"/>
              </a:defRPr>
            </a:pPr>
            <a:r>
              <a:t>Identify the running deployment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2944368"/>
            <a:ext cx="3337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8BE2DC"/>
                </a:solidFill>
                <a:latin typeface="Calibri"/>
              </a:defRPr>
            </a:pPr>
            <a:r>
              <a:t>WORKFLOW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3328415"/>
            <a:ext cx="3337560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Calibri"/>
              </a:defRPr>
            </a:pPr>
            <a:r>
              <a:t>Inspect sequence and tool outputs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3941064"/>
            <a:ext cx="3337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8BE2DC"/>
                </a:solidFill>
                <a:latin typeface="Calibri"/>
              </a:defRPr>
            </a:pPr>
            <a:r>
              <a:t>TRACE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4325112"/>
            <a:ext cx="3337560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Calibri"/>
              </a:defRPr>
            </a:pPr>
            <a:r>
              <a:t>Follow evidence into the final brief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4937760"/>
            <a:ext cx="3337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8BE2DC"/>
                </a:solidFill>
                <a:latin typeface="Calibri"/>
              </a:defRPr>
            </a:pPr>
            <a:r>
              <a:t>BOUNDARY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5321808"/>
            <a:ext cx="3337560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Calibri"/>
              </a:defRPr>
            </a:pPr>
            <a:r>
              <a:t>No approval or mutation by agents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062472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8BE2DC"/>
                </a:solidFill>
                <a:latin typeface="Calibri"/>
              </a:defRPr>
            </a:pPr>
            <a:r>
              <a:t>Fallback: show source + a saved trace labelled with its version and date; never imply a live run.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006F78"/>
                </a:solidFill>
                <a:latin typeface="Calibri"/>
              </a:defRPr>
            </a:pPr>
            <a:r>
              <a:t>MCP COMMUNITY CONNECT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6510528"/>
            <a:ext cx="3566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0">
                <a:solidFill>
                  <a:srgbClr val="58656D"/>
                </a:solidFill>
                <a:latin typeface="Calibri"/>
              </a:defRPr>
            </a:pPr>
            <a:r>
              <a:t>BENGALURU  /  26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55664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006F78"/>
                </a:solidFill>
                <a:latin typeface="Bahnschrift"/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8404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6F78"/>
                </a:solidFill>
                <a:latin typeface="Calibri"/>
              </a:defRPr>
            </a:pPr>
            <a:r>
              <a:t>IDENTITY / SECURITY / GOVERNANCE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200" b="1">
                <a:solidFill>
                  <a:srgbClr val="20252A"/>
                </a:solidFill>
                <a:latin typeface="Bahnschrift"/>
              </a:defRPr>
            </a:pPr>
            <a:r>
              <a:t>Three boundaries hosting does not remove.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920240"/>
            <a:ext cx="3456432" cy="64008"/>
          </a:xfrm>
          <a:prstGeom prst="rect">
            <a:avLst/>
          </a:prstGeom>
          <a:solidFill>
            <a:srgbClr val="00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331720"/>
            <a:ext cx="34564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300" b="1">
                <a:solidFill>
                  <a:srgbClr val="006F78"/>
                </a:solidFill>
                <a:latin typeface="Bahnschrift"/>
              </a:defRPr>
            </a:pPr>
            <a:r>
              <a:t>PERSON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264408"/>
            <a:ext cx="345643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300" b="1">
                <a:solidFill>
                  <a:srgbClr val="20252A"/>
                </a:solidFill>
                <a:latin typeface="Bahnschrift"/>
              </a:defRPr>
            </a:pPr>
            <a:r>
              <a:t>Who may approve?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434840"/>
            <a:ext cx="3456432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0">
                <a:solidFill>
                  <a:srgbClr val="20252A"/>
                </a:solidFill>
                <a:latin typeface="Calibri"/>
              </a:defRPr>
            </a:pPr>
            <a:r>
              <a:t>Authenticate the operator.</a:t>
            </a:r>
            <a:br/>
            <a:r>
              <a:t>Authorize the exact action.</a:t>
            </a:r>
            <a:br/>
            <a:r>
              <a:t>Record the decision.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1920240"/>
            <a:ext cx="3456432" cy="64008"/>
          </a:xfrm>
          <a:prstGeom prst="rect">
            <a:avLst/>
          </a:prstGeom>
          <a:solidFill>
            <a:srgbClr val="202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2331720"/>
            <a:ext cx="34564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300" b="1">
                <a:solidFill>
                  <a:srgbClr val="20252A"/>
                </a:solidFill>
                <a:latin typeface="Bahnschrift"/>
              </a:defRPr>
            </a:pPr>
            <a:r>
              <a:t>WORKLOAD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264408"/>
            <a:ext cx="345643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300" b="1">
                <a:solidFill>
                  <a:srgbClr val="20252A"/>
                </a:solidFill>
                <a:latin typeface="Bahnschrift"/>
              </a:defRPr>
            </a:pPr>
            <a:r>
              <a:t>What may the agent access?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4434840"/>
            <a:ext cx="3456432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0">
                <a:solidFill>
                  <a:srgbClr val="20252A"/>
                </a:solidFill>
                <a:latin typeface="Calibri"/>
              </a:defRPr>
            </a:pPr>
            <a:r>
              <a:t>Use a runtime identity.</a:t>
            </a:r>
            <a:br/>
            <a:r>
              <a:t>Grant narrow read access.</a:t>
            </a:r>
            <a:br/>
            <a:r>
              <a:t>Keep deployment rights separate.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3880" y="1920240"/>
            <a:ext cx="3456432" cy="64008"/>
          </a:xfrm>
          <a:prstGeom prst="rect">
            <a:avLst/>
          </a:prstGeom>
          <a:solidFill>
            <a:srgbClr val="B7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80" y="2331720"/>
            <a:ext cx="34564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300" b="1">
                <a:solidFill>
                  <a:srgbClr val="B73935"/>
                </a:solidFill>
                <a:latin typeface="Bahnschrift"/>
              </a:defRPr>
            </a:pPr>
            <a:r>
              <a:t>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80" y="3264408"/>
            <a:ext cx="345643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300" b="1">
                <a:solidFill>
                  <a:srgbClr val="20252A"/>
                </a:solidFill>
                <a:latin typeface="Bahnschrift"/>
              </a:defRPr>
            </a:pPr>
            <a:r>
              <a:t>What survives a retry?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80" y="4434840"/>
            <a:ext cx="3456432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0">
                <a:solidFill>
                  <a:srgbClr val="20252A"/>
                </a:solidFill>
                <a:latin typeface="Calibri"/>
              </a:defRPr>
            </a:pPr>
            <a:r>
              <a:t>Persist approvals and audit.</a:t>
            </a:r>
            <a:br/>
            <a:r>
              <a:t>Make mutations atomic.</a:t>
            </a:r>
            <a:br/>
            <a:r>
              <a:t>Preserve replay protection.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080760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58656D"/>
                </a:solidFill>
                <a:latin typeface="Calibri"/>
              </a:defRPr>
            </a:pPr>
            <a:r>
              <a:t>Release requirements, not a claim that the localhost demo is enterprise-ready.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006F78"/>
                </a:solidFill>
                <a:latin typeface="Calibri"/>
              </a:defRPr>
            </a:pPr>
            <a:r>
              <a:t>MCP COMMUNITY CONNECT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6510528"/>
            <a:ext cx="3566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0">
                <a:solidFill>
                  <a:srgbClr val="58656D"/>
                </a:solidFill>
                <a:latin typeface="Calibri"/>
              </a:defRPr>
            </a:pPr>
            <a:r>
              <a:t>BENGALURU  /  26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55664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006F78"/>
                </a:solidFill>
                <a:latin typeface="Bahnschrift"/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8404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6F78"/>
                </a:solidFill>
                <a:latin typeface="Calibri"/>
              </a:defRPr>
            </a:pPr>
            <a:r>
              <a:t>MCP LIVE! | NEXT DESIGN QUESTIONS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200" b="1">
                <a:solidFill>
                  <a:srgbClr val="20252A"/>
                </a:solidFill>
                <a:latin typeface="Bahnschrift"/>
              </a:defRPr>
            </a:pPr>
            <a:r>
              <a:t>Extend the experience. Keep the controls.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74519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06F78"/>
                </a:solidFill>
                <a:latin typeface="Calibri"/>
              </a:defRPr>
            </a:pPr>
            <a:r>
              <a:t>01:20:23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295144"/>
            <a:ext cx="51206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700" b="1">
                <a:solidFill>
                  <a:srgbClr val="20252A"/>
                </a:solidFill>
                <a:latin typeface="Bahnschrift"/>
              </a:defRPr>
            </a:pPr>
            <a:r>
              <a:t>Toolboxes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926079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0">
                <a:solidFill>
                  <a:srgbClr val="58656D"/>
                </a:solidFill>
                <a:latin typeface="Calibri"/>
              </a:defRPr>
            </a:pPr>
            <a:r>
              <a:t>Which tools should a workload discover?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874519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0252A"/>
                </a:solidFill>
                <a:latin typeface="Calibri"/>
              </a:defRPr>
            </a:pPr>
            <a:r>
              <a:t>02:32:29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295144"/>
            <a:ext cx="51206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700" b="1">
                <a:solidFill>
                  <a:srgbClr val="20252A"/>
                </a:solidFill>
                <a:latin typeface="Bahnschrift"/>
              </a:defRPr>
            </a:pPr>
            <a:r>
              <a:t>MCP auth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926079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0">
                <a:solidFill>
                  <a:srgbClr val="58656D"/>
                </a:solidFill>
                <a:latin typeface="Calibri"/>
              </a:defRPr>
            </a:pPr>
            <a:r>
              <a:t>Which caller may act on this resource?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867912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B73935"/>
                </a:solidFill>
                <a:latin typeface="Calibri"/>
              </a:defRPr>
            </a:pPr>
            <a:r>
              <a:t>03:21:05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288536"/>
            <a:ext cx="51206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700" b="1">
                <a:solidFill>
                  <a:srgbClr val="20252A"/>
                </a:solidFill>
                <a:latin typeface="Bahnschrift"/>
              </a:defRPr>
            </a:pPr>
            <a:r>
              <a:t>MCP Apps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919472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0">
                <a:solidFill>
                  <a:srgbClr val="58656D"/>
                </a:solidFill>
                <a:latin typeface="Calibri"/>
              </a:defRPr>
            </a:pPr>
            <a:r>
              <a:t>Can an embedded UI improve evidence review?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867912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06F78"/>
                </a:solidFill>
                <a:latin typeface="Calibri"/>
              </a:defRPr>
            </a:pPr>
            <a:r>
              <a:t>03:45:08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288536"/>
            <a:ext cx="51206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700" b="1">
                <a:solidFill>
                  <a:srgbClr val="20252A"/>
                </a:solidFill>
                <a:latin typeface="Bahnschrift"/>
              </a:defRPr>
            </a:pPr>
            <a:r>
              <a:t>Event-driven agents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919472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0">
                <a:solidFill>
                  <a:srgbClr val="58656D"/>
                </a:solidFill>
                <a:latin typeface="Calibri"/>
              </a:defRPr>
            </a:pPr>
            <a:r>
              <a:t>Can recall arrival trigger analysis, not approval?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6080760"/>
            <a:ext cx="10241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B73935"/>
                </a:solidFill>
                <a:latin typeface="Calibri"/>
              </a:defRPr>
            </a:pPr>
            <a:r>
              <a:t>Extension ideas, not implemented features of this demo.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006F78"/>
                </a:solidFill>
                <a:latin typeface="Calibri"/>
              </a:defRPr>
            </a:pPr>
            <a:r>
              <a:t>MCP COMMUNITY CONNECT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6510528"/>
            <a:ext cx="3566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0">
                <a:solidFill>
                  <a:srgbClr val="58656D"/>
                </a:solidFill>
                <a:latin typeface="Calibri"/>
              </a:defRPr>
            </a:pPr>
            <a:r>
              <a:t>BENGALURU  /  26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55664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006F78"/>
                </a:solidFill>
                <a:latin typeface="Bahnschrift"/>
              </a:defRPr>
            </a:pPr>
            <a: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8404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6F78"/>
                </a:solidFill>
                <a:latin typeface="Calibri"/>
              </a:defRPr>
            </a:pPr>
            <a:r>
              <a:t>LESSONS FROM IMPLEMENTATION | RELEASE TESTS STILL REQUIRED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200" b="1">
                <a:solidFill>
                  <a:srgbClr val="20252A"/>
                </a:solidFill>
                <a:latin typeface="Bahnschrift"/>
              </a:defRPr>
            </a:pPr>
            <a:r>
              <a:t>Prototype shortcuts become production failures.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2880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B73935"/>
                </a:solidFill>
                <a:latin typeface="Calibri"/>
              </a:defRPr>
            </a:pPr>
            <a:r>
              <a:t>SHORTCUT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1828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06F78"/>
                </a:solidFill>
                <a:latin typeface="Calibri"/>
              </a:defRPr>
            </a:pPr>
            <a:r>
              <a:t>ENGINEERING RESPONSE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423160"/>
            <a:ext cx="475488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0">
                <a:solidFill>
                  <a:srgbClr val="20252A"/>
                </a:solidFill>
                <a:latin typeface="Calibri"/>
              </a:defRPr>
            </a:pPr>
            <a:r>
              <a:t>One environment for incompatible SDKs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13248" y="2606040"/>
            <a:ext cx="347472" cy="0"/>
          </a:xfrm>
          <a:prstGeom prst="line">
            <a:avLst/>
          </a:prstGeom>
          <a:ln w="22860">
            <a:solidFill>
              <a:srgbClr val="006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669280" y="2532888"/>
            <a:ext cx="91440" cy="73152"/>
          </a:xfrm>
          <a:prstGeom prst="line">
            <a:avLst/>
          </a:prstGeom>
          <a:ln w="22860">
            <a:solidFill>
              <a:srgbClr val="006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5669280" y="2606040"/>
            <a:ext cx="91440" cy="73152"/>
          </a:xfrm>
          <a:prstGeom prst="line">
            <a:avLst/>
          </a:prstGeom>
          <a:ln w="22860">
            <a:solidFill>
              <a:srgbClr val="006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035040" y="2423160"/>
            <a:ext cx="5486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0">
                <a:solidFill>
                  <a:srgbClr val="006F78"/>
                </a:solidFill>
                <a:latin typeface="Calibri"/>
              </a:defRPr>
            </a:pPr>
            <a:r>
              <a:t>Isolate the MCP runtime; validate the boundary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4360" y="3099815"/>
            <a:ext cx="10972800" cy="0"/>
          </a:xfrm>
          <a:prstGeom prst="line">
            <a:avLst/>
          </a:prstGeom>
          <a:ln w="12700">
            <a:solidFill>
              <a:srgbClr val="D9E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94360" y="3227832"/>
            <a:ext cx="475488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0">
                <a:solidFill>
                  <a:srgbClr val="20252A"/>
                </a:solidFill>
                <a:latin typeface="Calibri"/>
              </a:defRPr>
            </a:pPr>
            <a:r>
              <a:t>Unbounded tool processes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13248" y="3410712"/>
            <a:ext cx="347472" cy="0"/>
          </a:xfrm>
          <a:prstGeom prst="line">
            <a:avLst/>
          </a:prstGeom>
          <a:ln w="22860">
            <a:solidFill>
              <a:srgbClr val="006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669280" y="3337560"/>
            <a:ext cx="91440" cy="73152"/>
          </a:xfrm>
          <a:prstGeom prst="line">
            <a:avLst/>
          </a:prstGeom>
          <a:ln w="22860">
            <a:solidFill>
              <a:srgbClr val="006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5669280" y="3410712"/>
            <a:ext cx="91440" cy="73152"/>
          </a:xfrm>
          <a:prstGeom prst="line">
            <a:avLst/>
          </a:prstGeom>
          <a:ln w="22860">
            <a:solidFill>
              <a:srgbClr val="006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035040" y="3227832"/>
            <a:ext cx="5486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0">
                <a:solidFill>
                  <a:srgbClr val="006F78"/>
                </a:solidFill>
                <a:latin typeface="Calibri"/>
              </a:defRPr>
            </a:pPr>
            <a:r>
              <a:t>Limit concurrency; timeout and reap children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94360" y="3904487"/>
            <a:ext cx="10972800" cy="0"/>
          </a:xfrm>
          <a:prstGeom prst="line">
            <a:avLst/>
          </a:prstGeom>
          <a:ln w="12700">
            <a:solidFill>
              <a:srgbClr val="D9E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94360" y="4032504"/>
            <a:ext cx="475488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0">
                <a:solidFill>
                  <a:srgbClr val="20252A"/>
                </a:solidFill>
                <a:latin typeface="Calibri"/>
              </a:defRPr>
            </a:pPr>
            <a:r>
              <a:t>Shared mutable request context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413248" y="4215384"/>
            <a:ext cx="347472" cy="0"/>
          </a:xfrm>
          <a:prstGeom prst="line">
            <a:avLst/>
          </a:prstGeom>
          <a:ln w="22860">
            <a:solidFill>
              <a:srgbClr val="006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669280" y="4142232"/>
            <a:ext cx="91440" cy="73152"/>
          </a:xfrm>
          <a:prstGeom prst="line">
            <a:avLst/>
          </a:prstGeom>
          <a:ln w="22860">
            <a:solidFill>
              <a:srgbClr val="006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5669280" y="4215384"/>
            <a:ext cx="91440" cy="73152"/>
          </a:xfrm>
          <a:prstGeom prst="line">
            <a:avLst/>
          </a:prstGeom>
          <a:ln w="22860">
            <a:solidFill>
              <a:srgbClr val="006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035040" y="4032504"/>
            <a:ext cx="5486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0">
                <a:solidFill>
                  <a:srgbClr val="006F78"/>
                </a:solidFill>
                <a:latin typeface="Calibri"/>
              </a:defRPr>
            </a:pPr>
            <a:r>
              <a:t>Create request-local workflow instances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94360" y="4709160"/>
            <a:ext cx="10972800" cy="0"/>
          </a:xfrm>
          <a:prstGeom prst="line">
            <a:avLst/>
          </a:prstGeom>
          <a:ln w="12700">
            <a:solidFill>
              <a:srgbClr val="D9E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94360" y="4837176"/>
            <a:ext cx="475488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0">
                <a:solidFill>
                  <a:srgbClr val="20252A"/>
                </a:solidFill>
                <a:latin typeface="Calibri"/>
              </a:defRPr>
            </a:pPr>
            <a:r>
              <a:t>A plausible brief counts as success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413248" y="5020056"/>
            <a:ext cx="347472" cy="0"/>
          </a:xfrm>
          <a:prstGeom prst="line">
            <a:avLst/>
          </a:prstGeom>
          <a:ln w="22860">
            <a:solidFill>
              <a:srgbClr val="006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669280" y="4946904"/>
            <a:ext cx="91440" cy="73152"/>
          </a:xfrm>
          <a:prstGeom prst="line">
            <a:avLst/>
          </a:prstGeom>
          <a:ln w="22860">
            <a:solidFill>
              <a:srgbClr val="006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5669280" y="5020056"/>
            <a:ext cx="91440" cy="73152"/>
          </a:xfrm>
          <a:prstGeom prst="line">
            <a:avLst/>
          </a:prstGeom>
          <a:ln w="22860">
            <a:solidFill>
              <a:srgbClr val="006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035040" y="4837176"/>
            <a:ext cx="5486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0">
                <a:solidFill>
                  <a:srgbClr val="006F78"/>
                </a:solidFill>
                <a:latin typeface="Calibri"/>
              </a:defRPr>
            </a:pPr>
            <a:r>
              <a:t>Evaluate factual coverage, refusal and recovery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5998464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B73935"/>
                </a:solidFill>
                <a:latin typeface="Calibri"/>
              </a:defRPr>
            </a:pPr>
            <a:r>
              <a:t>Still to prove: unauthorized actor / malicious tool output / timeout replay / restart + replicas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8BE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8BE2DC"/>
                </a:solidFill>
                <a:latin typeface="Calibri"/>
              </a:defRPr>
            </a:pPr>
            <a:r>
              <a:t>MCP COMMUNITY CONNECT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6510528"/>
            <a:ext cx="3566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0">
                <a:solidFill>
                  <a:srgbClr val="8BE2DC"/>
                </a:solidFill>
                <a:latin typeface="Calibri"/>
              </a:defRPr>
            </a:pPr>
            <a:r>
              <a:t>BENGALURU  /  26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55664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8BE2DC"/>
                </a:solidFill>
                <a:latin typeface="Bahnschrift"/>
              </a:defRPr>
            </a:pPr>
            <a: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4864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8BE2DC"/>
                </a:solidFill>
                <a:latin typeface="Calibri"/>
              </a:defRPr>
            </a:pPr>
            <a:r>
              <a:t>BUILD / SECURE / OBSERVE / SCALE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08760"/>
            <a:ext cx="1088136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Bahnschrift"/>
              </a:defRPr>
            </a:pPr>
            <a:r>
              <a:t>The model makes it capable.</a:t>
            </a:r>
            <a:br/>
            <a:r>
              <a:t>Engineering makes it accountable.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931920"/>
            <a:ext cx="10972800" cy="0"/>
          </a:xfrm>
          <a:prstGeom prst="line">
            <a:avLst/>
          </a:prstGeom>
          <a:ln w="12700">
            <a:solidFill>
              <a:srgbClr val="8B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429768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8BE2DC"/>
                </a:solidFill>
                <a:latin typeface="Calibri"/>
              </a:defRPr>
            </a:pPr>
            <a:r>
              <a:t>Discover typed tools. Inspect results. Test denied actions.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522976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8BE2DC"/>
                </a:solidFill>
                <a:latin typeface="Calibri"/>
              </a:defRPr>
            </a:pPr>
            <a:r>
              <a:t>Questions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5623560"/>
            <a:ext cx="6355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Lee Stott | Global AI Community Bengaluru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006F78"/>
                </a:solidFill>
                <a:latin typeface="Calibri"/>
              </a:defRPr>
            </a:pPr>
            <a:r>
              <a:t>MCP COMMUNITY CONNECT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6510528"/>
            <a:ext cx="3566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0">
                <a:solidFill>
                  <a:srgbClr val="58656D"/>
                </a:solidFill>
                <a:latin typeface="Calibri"/>
              </a:defRPr>
            </a:pPr>
            <a:r>
              <a:t>BENGALURU  /  26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55664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006F78"/>
                </a:solidFill>
                <a:latin typeface="Bahnschrift"/>
              </a:defRPr>
            </a:pPr>
            <a: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8404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6F78"/>
                </a:solidFill>
                <a:latin typeface="Calibri"/>
              </a:defRPr>
            </a:pPr>
            <a:r>
              <a:t>APPENDIX | CLICKABLE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200" b="1">
                <a:solidFill>
                  <a:srgbClr val="20252A"/>
                </a:solidFill>
                <a:latin typeface="Bahnschrift"/>
              </a:defRPr>
            </a:pPr>
            <a:r>
              <a:t>Continue exploring MCP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830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006F78"/>
                </a:solidFill>
                <a:latin typeface="Calibri"/>
              </a:defRPr>
            </a:pPr>
            <a:r>
              <a:rPr>
                <a:hlinkClick r:id="rId2"/>
              </a:rPr>
              <a:t>MCP Community Connect Bengaluru | event and session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85416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006F78"/>
                </a:solidFill>
                <a:latin typeface="Calibri"/>
              </a:defRPr>
            </a:pPr>
            <a:r>
              <a:rPr>
                <a:hlinkClick r:id="rId3"/>
              </a:rPr>
              <a:t>MCP architecture | clients, servers and 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587752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006F78"/>
                </a:solidFill>
                <a:latin typeface="Calibri"/>
              </a:defRPr>
            </a:pPr>
            <a:r>
              <a:rPr>
                <a:hlinkClick r:id="rId4"/>
              </a:rPr>
              <a:t>MCP tools | schemas, results and errors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99008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006F78"/>
                </a:solidFill>
                <a:latin typeface="Calibri"/>
              </a:defRPr>
            </a:pPr>
            <a:r>
              <a:rPr>
                <a:hlinkClick r:id="rId5"/>
              </a:rPr>
              <a:t>MCP lifecycle | initialization and capabilities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392424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006F78"/>
                </a:solidFill>
                <a:latin typeface="Calibri"/>
              </a:defRPr>
            </a:pPr>
            <a:r>
              <a:rPr>
                <a:hlinkClick r:id="rId6"/>
              </a:rPr>
              <a:t>Agent Framework | orchestration patterns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79476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006F78"/>
                </a:solidFill>
                <a:latin typeface="Calibri"/>
              </a:defRPr>
            </a:pPr>
            <a:r>
              <a:rPr>
                <a:hlinkClick r:id="rId7"/>
              </a:rPr>
              <a:t>MCP Live! | Toolboxes in Microsoft Foundry | 1:20:23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197096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006F78"/>
                </a:solidFill>
                <a:latin typeface="Calibri"/>
              </a:defRPr>
            </a:pPr>
            <a:r>
              <a:rPr>
                <a:hlinkClick r:id="rId8"/>
              </a:rPr>
              <a:t>MCP Live! | Evolution of MCP auth | 2:32:29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599432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006F78"/>
                </a:solidFill>
                <a:latin typeface="Calibri"/>
              </a:defRPr>
            </a:pPr>
            <a:r>
              <a:rPr>
                <a:hlinkClick r:id="rId9"/>
              </a:rPr>
              <a:t>MCP Live! | Building MCP Apps | 3:21:05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00176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006F78"/>
                </a:solidFill>
                <a:latin typeface="Calibri"/>
              </a:defRPr>
            </a:pPr>
            <a:r>
              <a:rPr>
                <a:hlinkClick r:id="rId10"/>
              </a:rPr>
              <a:t>MCP Live! | Event-driven agents | 3:45:08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404104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006F78"/>
                </a:solidFill>
                <a:latin typeface="Calibri"/>
              </a:defRPr>
            </a:pPr>
            <a:r>
              <a:rPr>
                <a:hlinkClick r:id="rId11"/>
              </a:rPr>
              <a:t>MCP Live! | official resource collection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94360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58656D"/>
                </a:solidFill>
                <a:latin typeface="Calibri"/>
              </a:defRPr>
            </a:pPr>
            <a:r>
              <a:t>MCP Live additions are based on its published agenda, not a full transcript review.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006F78"/>
                </a:solidFill>
                <a:latin typeface="Calibri"/>
              </a:defRPr>
            </a:pPr>
            <a:r>
              <a:t>MCP COMMUNITY CONNECT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6510528"/>
            <a:ext cx="3566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0">
                <a:solidFill>
                  <a:srgbClr val="58656D"/>
                </a:solidFill>
                <a:latin typeface="Calibri"/>
              </a:defRPr>
            </a:pPr>
            <a:r>
              <a:t>BENGALURU  /  26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55664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006F78"/>
                </a:solidFill>
                <a:latin typeface="Bahnschrift"/>
              </a:defRPr>
            </a:pPr>
            <a: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8404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6F78"/>
                </a:solidFill>
                <a:latin typeface="Calibri"/>
              </a:defRPr>
            </a:pPr>
            <a:r>
              <a:t>TECHNICAL APPENDIX | ROLES + 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200" b="1">
                <a:solidFill>
                  <a:srgbClr val="20252A"/>
                </a:solidFill>
                <a:latin typeface="Bahnschrift"/>
              </a:defRPr>
            </a:pPr>
            <a:r>
              <a:t>MCP is a protocol, not the agent's brain.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874519"/>
            <a:ext cx="3364992" cy="932688"/>
          </a:xfrm>
          <a:prstGeom prst="rect">
            <a:avLst/>
          </a:prstGeom>
          <a:solidFill>
            <a:srgbClr val="ED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874519"/>
            <a:ext cx="50292" cy="932688"/>
          </a:xfrm>
          <a:prstGeom prst="rect">
            <a:avLst/>
          </a:prstGeom>
          <a:solidFill>
            <a:srgbClr val="00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" y="1993391"/>
            <a:ext cx="30906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1">
                <a:solidFill>
                  <a:srgbClr val="20252A"/>
                </a:solidFill>
                <a:latin typeface="Bahnschrift"/>
              </a:defRPr>
            </a:pPr>
            <a:r>
              <a:t>HOST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" y="2404872"/>
            <a:ext cx="3090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58656D"/>
                </a:solidFill>
                <a:latin typeface="Calibri"/>
              </a:defRPr>
            </a:pPr>
            <a:r>
              <a:t>Application + tool-use policy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1874519"/>
            <a:ext cx="3364992" cy="932688"/>
          </a:xfrm>
          <a:prstGeom prst="rect">
            <a:avLst/>
          </a:prstGeom>
          <a:solidFill>
            <a:srgbClr val="ED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874519"/>
            <a:ext cx="50292" cy="932688"/>
          </a:xfrm>
          <a:prstGeom prst="rect">
            <a:avLst/>
          </a:prstGeom>
          <a:solidFill>
            <a:srgbClr val="00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35424" y="1993391"/>
            <a:ext cx="30906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1">
                <a:solidFill>
                  <a:srgbClr val="20252A"/>
                </a:solidFill>
                <a:latin typeface="Bahnschrift"/>
              </a:defRPr>
            </a:pPr>
            <a:r>
              <a:t>CLIENT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5424" y="2404872"/>
            <a:ext cx="3090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58656D"/>
                </a:solidFill>
                <a:latin typeface="Calibri"/>
              </a:defRPr>
            </a:pPr>
            <a:r>
              <a:t>Protocol session + requests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3879" y="1874519"/>
            <a:ext cx="3364992" cy="932688"/>
          </a:xfrm>
          <a:prstGeom prst="rect">
            <a:avLst/>
          </a:prstGeom>
          <a:solidFill>
            <a:srgbClr val="ED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83879" y="1874519"/>
            <a:ext cx="50292" cy="932688"/>
          </a:xfrm>
          <a:prstGeom prst="rect">
            <a:avLst/>
          </a:prstGeom>
          <a:solidFill>
            <a:srgbClr val="00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0183" y="1993391"/>
            <a:ext cx="30906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1">
                <a:solidFill>
                  <a:srgbClr val="20252A"/>
                </a:solidFill>
                <a:latin typeface="Bahnschrift"/>
              </a:defRPr>
            </a:pPr>
            <a:r>
              <a:t>SERVER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0183" y="2404872"/>
            <a:ext cx="3090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58656D"/>
                </a:solidFill>
                <a:latin typeface="Calibri"/>
              </a:defRPr>
            </a:pPr>
            <a:r>
              <a:t>Capabilities + tool handlers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014215" y="2340864"/>
            <a:ext cx="274321" cy="0"/>
          </a:xfrm>
          <a:prstGeom prst="line">
            <a:avLst/>
          </a:prstGeom>
          <a:ln w="22860">
            <a:solidFill>
              <a:srgbClr val="006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197096" y="2267712"/>
            <a:ext cx="91440" cy="73152"/>
          </a:xfrm>
          <a:prstGeom prst="line">
            <a:avLst/>
          </a:prstGeom>
          <a:ln w="22860">
            <a:solidFill>
              <a:srgbClr val="006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4197096" y="2340864"/>
            <a:ext cx="91440" cy="73152"/>
          </a:xfrm>
          <a:prstGeom prst="line">
            <a:avLst/>
          </a:prstGeom>
          <a:ln w="22860">
            <a:solidFill>
              <a:srgbClr val="006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808975" y="2340864"/>
            <a:ext cx="274321" cy="0"/>
          </a:xfrm>
          <a:prstGeom prst="line">
            <a:avLst/>
          </a:prstGeom>
          <a:ln w="22860">
            <a:solidFill>
              <a:srgbClr val="006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991856" y="2267712"/>
            <a:ext cx="91440" cy="73152"/>
          </a:xfrm>
          <a:prstGeom prst="line">
            <a:avLst/>
          </a:prstGeom>
          <a:ln w="22860">
            <a:solidFill>
              <a:srgbClr val="006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7991856" y="2340864"/>
            <a:ext cx="91440" cy="73152"/>
          </a:xfrm>
          <a:prstGeom prst="line">
            <a:avLst/>
          </a:prstGeom>
          <a:ln w="22860">
            <a:solidFill>
              <a:srgbClr val="006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94360" y="335584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300" b="1">
                <a:solidFill>
                  <a:srgbClr val="20252A"/>
                </a:solidFill>
                <a:latin typeface="Bahnschrift"/>
              </a:defRPr>
            </a:pPr>
            <a:r>
              <a:t>Tools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3355848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20252A"/>
                </a:solidFill>
                <a:latin typeface="Calibri"/>
              </a:defRPr>
            </a:pPr>
            <a:r>
              <a:t>Callable operations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3355848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006F78"/>
                </a:solidFill>
                <a:latin typeface="Calibri"/>
              </a:defRPr>
            </a:pPr>
            <a:r>
              <a:t>DEMONSTRATED: inventory lookup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4123944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300" b="1">
                <a:solidFill>
                  <a:srgbClr val="20252A"/>
                </a:solidFill>
                <a:latin typeface="Bahnschrift"/>
              </a:defRPr>
            </a:pPr>
            <a:r>
              <a:t>Resources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4123944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20252A"/>
                </a:solidFill>
                <a:latin typeface="Calibri"/>
              </a:defRPr>
            </a:pPr>
            <a:r>
              <a:t>Addressable context / data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4123944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006F78"/>
                </a:solidFill>
                <a:latin typeface="Calibri"/>
              </a:defRPr>
            </a:pPr>
            <a:r>
              <a:t>NOT EXPOSED: recall document URI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48920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300" b="1">
                <a:solidFill>
                  <a:srgbClr val="20252A"/>
                </a:solidFill>
                <a:latin typeface="Bahnschrift"/>
              </a:defRPr>
            </a:pPr>
            <a:r>
              <a:t>Prompts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0" y="489204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20252A"/>
                </a:solidFill>
                <a:latin typeface="Calibri"/>
              </a:defRPr>
            </a:pPr>
            <a:r>
              <a:t>Reusable interaction templates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489204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006F78"/>
                </a:solidFill>
                <a:latin typeface="Calibri"/>
              </a:defRPr>
            </a:pPr>
            <a:r>
              <a:t>NOT EXPOSED: assessment template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6035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1">
                <a:solidFill>
                  <a:srgbClr val="B73935"/>
                </a:solidFill>
                <a:latin typeface="Calibri"/>
              </a:defRPr>
            </a:pPr>
            <a:r>
              <a:t>REST can stay behind the server. MCP standardizes the AI-facing capability interface.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006F78"/>
                </a:solidFill>
                <a:latin typeface="Calibri"/>
              </a:defRPr>
            </a:pPr>
            <a:r>
              <a:t>MCP COMMUNITY CONNECT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6510528"/>
            <a:ext cx="3566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0">
                <a:solidFill>
                  <a:srgbClr val="58656D"/>
                </a:solidFill>
                <a:latin typeface="Calibri"/>
              </a:defRPr>
            </a:pPr>
            <a:r>
              <a:t>BENGALURU  /  26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55664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006F78"/>
                </a:solidFill>
                <a:latin typeface="Bahnschrift"/>
              </a:defRPr>
            </a:pPr>
            <a: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8404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6F78"/>
                </a:solidFill>
                <a:latin typeface="Calibri"/>
              </a:defRPr>
            </a:pPr>
            <a:r>
              <a:t>TECHNICAL APPENDIX | REPOSITORY CODE EXCERPTS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200" b="1">
                <a:solidFill>
                  <a:srgbClr val="20252A"/>
                </a:solidFill>
                <a:latin typeface="Bahnschrift"/>
              </a:defRPr>
            </a:pPr>
            <a:r>
              <a:t>Follow one call from Python to MCP and back.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28800"/>
            <a:ext cx="52120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006F78"/>
                </a:solidFill>
                <a:latin typeface="Bahnschrift"/>
              </a:defRPr>
            </a:pPr>
            <a:r>
              <a:t>SERVER  /  caldova_mcp.py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23160"/>
            <a:ext cx="544068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0">
                <a:solidFill>
                  <a:srgbClr val="20252A"/>
                </a:solidFill>
                <a:latin typeface="Cascadia Code"/>
              </a:defRPr>
            </a:pPr>
            <a:r>
              <a:t>@mcp.tool(</a:t>
            </a:r>
            <a:br/>
            <a:r>
              <a:t>    title="Locate affected inventory",</a:t>
            </a:r>
            <a:br/>
            <a:r>
              <a:t>    annotations=ToolAnnotations(</a:t>
            </a:r>
            <a:br/>
            <a:r>
              <a:t>        read_only_hint=True,</a:t>
            </a:r>
            <a:br/>
            <a:r>
              <a:t>        open_world_hint=False),</a:t>
            </a:r>
            <a:br/>
            <a:r>
              <a:t>)</a:t>
            </a:r>
            <a:br/>
            <a:r>
              <a:t>def locate_inventory(</a:t>
            </a:r>
            <a:br/>
            <a:r>
              <a:t>    batch_id: BatchId</a:t>
            </a:r>
            <a:br/>
            <a:r>
              <a:t>) -&gt; dict[str, Any]:</a:t>
            </a:r>
            <a:br/>
            <a:r>
              <a:t>    return STORE.locate_inventory(batch_id)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80760" y="1828800"/>
            <a:ext cx="0" cy="3931920"/>
          </a:xfrm>
          <a:prstGeom prst="line">
            <a:avLst/>
          </a:prstGeom>
          <a:ln w="12700">
            <a:solidFill>
              <a:srgbClr val="D9E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400800" y="1828800"/>
            <a:ext cx="51663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006F78"/>
                </a:solidFill>
                <a:latin typeface="Bahnschrift"/>
              </a:defRPr>
            </a:pPr>
            <a:r>
              <a:t>CLIENT  /  inspect_mcp.py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423160"/>
            <a:ext cx="516636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0">
                <a:solidFill>
                  <a:srgbClr val="20252A"/>
                </a:solidFill>
                <a:latin typeface="Cascadia Code"/>
              </a:defRPr>
            </a:pPr>
            <a:r>
              <a:t>async with Client(server) as client:</a:t>
            </a:r>
            <a:br/>
            <a:r>
              <a:t>    listing = await client.list_tools()</a:t>
            </a:r>
            <a:br/>
            <a:r>
              <a:t>    result = await client.call_tool(</a:t>
            </a:r>
            <a:br/>
            <a:r>
              <a:t>        "locate_inventory",</a:t>
            </a:r>
            <a:br/>
            <a:r>
              <a:t>        {"batch_id": "B-2408-AX7"},</a:t>
            </a:r>
            <a:br/>
            <a:r>
              <a:t>    )</a:t>
            </a:r>
            <a:br/>
            <a:r>
              <a:t>    facts = result.structured_content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5074920"/>
            <a:ext cx="5166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58656D"/>
                </a:solidFill>
                <a:latin typeface="Calibri"/>
              </a:defRPr>
            </a:pPr>
            <a:r>
              <a:t>Validate the result and domain invariants.</a:t>
            </a:r>
            <a:br/>
            <a:r>
              <a:t>Do not scrape prose to recover inventory.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05332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0">
                <a:solidFill>
                  <a:srgbClr val="58656D"/>
                </a:solidFill>
                <a:latin typeface="Calibri"/>
              </a:defRPr>
            </a:pPr>
            <a:r>
              <a:t>Imports, setup and docstring omitted. BatchId supplies the validated input constraints.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006F78"/>
                </a:solidFill>
                <a:latin typeface="Calibri"/>
              </a:defRPr>
            </a:pPr>
            <a:r>
              <a:t>MCP COMMUNITY CONNECT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6510528"/>
            <a:ext cx="3566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0">
                <a:solidFill>
                  <a:srgbClr val="58656D"/>
                </a:solidFill>
                <a:latin typeface="Calibri"/>
              </a:defRPr>
            </a:pPr>
            <a:r>
              <a:t>BENGALURU  /  26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55664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006F78"/>
                </a:solidFill>
                <a:latin typeface="Bahnschrift"/>
              </a:defRPr>
            </a:pPr>
            <a: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8404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6F78"/>
                </a:solidFill>
                <a:latin typeface="Calibri"/>
              </a:defRPr>
            </a:pPr>
            <a:r>
              <a:t>TECHNICAL APPENDIX | TEST THE BOUNDARY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200" b="1">
                <a:solidFill>
                  <a:srgbClr val="20252A"/>
                </a:solidFill>
                <a:latin typeface="Bahnschrift"/>
              </a:defRPr>
            </a:pPr>
            <a:r>
              <a:t>Different failures need different responses.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48840"/>
            <a:ext cx="3657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0252A"/>
                </a:solidFill>
                <a:latin typeface="Bahnschrift"/>
              </a:defRPr>
            </a:pPr>
            <a:r>
              <a:t>Malformed batch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148840"/>
            <a:ext cx="31546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006F78"/>
                </a:solidFill>
                <a:latin typeface="Calibri"/>
              </a:defRPr>
            </a:pPr>
            <a:r>
              <a:t>MCP isError: true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2148840"/>
            <a:ext cx="35204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20252A"/>
                </a:solidFill>
                <a:latin typeface="Calibri"/>
              </a:defRPr>
            </a:pPr>
            <a:r>
              <a:t>Correct input; no blind retry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2852928"/>
            <a:ext cx="10972800" cy="0"/>
          </a:xfrm>
          <a:prstGeom prst="line">
            <a:avLst/>
          </a:prstGeom>
          <a:ln w="12700">
            <a:solidFill>
              <a:srgbClr val="D9E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3026664"/>
            <a:ext cx="3657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0252A"/>
                </a:solidFill>
                <a:latin typeface="Bahnschrift"/>
              </a:defRPr>
            </a:pPr>
            <a:r>
              <a:t>Invalid approval credential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3026664"/>
            <a:ext cx="31546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006F78"/>
                </a:solidFill>
                <a:latin typeface="Calibri"/>
              </a:defRPr>
            </a:pPr>
            <a:r>
              <a:t>MCP isError: true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026664"/>
            <a:ext cx="35204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20252A"/>
                </a:solidFill>
                <a:latin typeface="Calibri"/>
              </a:defRPr>
            </a:pPr>
            <a:r>
              <a:t>Require real authority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4360" y="3730752"/>
            <a:ext cx="10972800" cy="0"/>
          </a:xfrm>
          <a:prstGeom prst="line">
            <a:avLst/>
          </a:prstGeom>
          <a:ln w="12700">
            <a:solidFill>
              <a:srgbClr val="D9E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94360" y="3904487"/>
            <a:ext cx="3657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0252A"/>
                </a:solidFill>
                <a:latin typeface="Bahnschrift"/>
              </a:defRPr>
            </a:pPr>
            <a:r>
              <a:t>Invalid UI approval handle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904487"/>
            <a:ext cx="31546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006F78"/>
                </a:solidFill>
                <a:latin typeface="Calibri"/>
              </a:defRPr>
            </a:pPr>
            <a:r>
              <a:t>HTTP 403 from FastAPI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3904487"/>
            <a:ext cx="35204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20252A"/>
                </a:solidFill>
                <a:latin typeface="Calibri"/>
              </a:defRPr>
            </a:pPr>
            <a:r>
              <a:t>Application gate, not MCP RPC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4360" y="4608575"/>
            <a:ext cx="10972800" cy="0"/>
          </a:xfrm>
          <a:prstGeom prst="line">
            <a:avLst/>
          </a:prstGeom>
          <a:ln w="12700">
            <a:solidFill>
              <a:srgbClr val="D9E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94360" y="4782312"/>
            <a:ext cx="3657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0252A"/>
                </a:solidFill>
                <a:latin typeface="Bahnschrift"/>
              </a:defRPr>
            </a:pPr>
            <a:r>
              <a:t>Correct facts, wrong brief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4782312"/>
            <a:ext cx="31546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006F78"/>
                </a:solidFill>
                <a:latin typeface="Calibri"/>
              </a:defRPr>
            </a:pPr>
            <a:r>
              <a:t>Agent quality failure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4782312"/>
            <a:ext cx="35204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20252A"/>
                </a:solidFill>
                <a:latin typeface="Calibri"/>
              </a:defRPr>
            </a:pPr>
            <a:r>
              <a:t>Check handoff + evaluation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080760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B73935"/>
                </a:solidFill>
                <a:latin typeface="Calibri"/>
              </a:defRPr>
            </a:pPr>
            <a:r>
              <a:t>Also test: unknown tool / timeout / malicious output / lost response / restart / replicas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Prototype to Production: Engineering Agent Systems with MCP, Multi-Agent Patterns and Real Work</dc:title>
  <dc:subject>MCP Community Connect Bengaluru | 26 September 2026</dc:subject>
  <dc:creator>Lee Stott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