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8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190" autoAdjust="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9330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Good morning, and thank you for being here.</a:t>
            </a:r>
          </a:p>
          <a:p>
            <a:r>
              <a:rPr lang="en-GB" dirty="0"/>
              <a:t>I want to start with a person rather than a protocol.</a:t>
            </a:r>
          </a:p>
          <a:p>
            <a:r>
              <a:rPr lang="en-GB" dirty="0"/>
              <a:t>Her name is </a:t>
            </a:r>
            <a:r>
              <a:rPr dirty="0"/>
              <a:t>Asha </a:t>
            </a:r>
            <a:r>
              <a:rPr lang="en-GB" dirty="0"/>
              <a:t>Rao, and she runs stock operations for a pharmaceutical distributor.</a:t>
            </a:r>
          </a:p>
          <a:p>
            <a:r>
              <a:rPr lang="en-GB" dirty="0"/>
              <a:t>This morning she got </a:t>
            </a:r>
            <a:r>
              <a:rPr dirty="0"/>
              <a:t>a cold-chain alert</a:t>
            </a:r>
            <a:r>
              <a:rPr lang="en-GB" dirty="0"/>
              <a:t> on a single </a:t>
            </a:r>
            <a:r>
              <a:rPr dirty="0"/>
              <a:t>batch</a:t>
            </a:r>
            <a:r>
              <a:rPr lang="en-GB" dirty="0"/>
              <a:t>,</a:t>
            </a:r>
            <a:r>
              <a:rPr dirty="0"/>
              <a:t> </a:t>
            </a:r>
            <a:r>
              <a:rPr lang="en-GB" dirty="0"/>
              <a:t>and that batch is sitting in </a:t>
            </a:r>
            <a:r>
              <a:rPr dirty="0"/>
              <a:t>four </a:t>
            </a:r>
            <a:r>
              <a:rPr lang="en-GB" dirty="0"/>
              <a:t>different </a:t>
            </a:r>
            <a:r>
              <a:rPr dirty="0"/>
              <a:t>locations</a:t>
            </a:r>
            <a:r>
              <a:rPr lang="en-GB" dirty="0"/>
              <a:t>.</a:t>
            </a:r>
          </a:p>
          <a:p>
            <a:r>
              <a:rPr lang="en-GB" dirty="0"/>
              <a:t>She has to decide whether to quarantine it</a:t>
            </a:r>
            <a:r>
              <a:rPr dirty="0"/>
              <a:t>.</a:t>
            </a:r>
          </a:p>
          <a:p>
            <a:r>
              <a:rPr lang="en-GB" dirty="0"/>
              <a:t>Now, any model you like </a:t>
            </a:r>
            <a:r>
              <a:rPr dirty="0"/>
              <a:t>can give </a:t>
            </a:r>
            <a:r>
              <a:rPr lang="en-GB" dirty="0"/>
              <a:t>Asha </a:t>
            </a:r>
            <a:r>
              <a:rPr dirty="0"/>
              <a:t>an answer</a:t>
            </a:r>
            <a:r>
              <a:rPr lang="en-GB" dirty="0"/>
              <a:t> in about two seconds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But an answer isn't what her</a:t>
            </a:r>
            <a:r>
              <a:rPr dirty="0"/>
              <a:t> job needs</a:t>
            </a:r>
            <a:r>
              <a:rPr lang="en-GB" dirty="0"/>
              <a:t>.</a:t>
            </a:r>
          </a:p>
          <a:p>
            <a:r>
              <a:rPr lang="en-GB" dirty="0"/>
              <a:t>She needs</a:t>
            </a:r>
            <a:r>
              <a:rPr dirty="0"/>
              <a:t> a decision she can</a:t>
            </a:r>
            <a:r>
              <a:rPr lang="en-GB" dirty="0"/>
              <a:t> </a:t>
            </a:r>
            <a:r>
              <a:rPr dirty="0"/>
              <a:t>defend</a:t>
            </a:r>
            <a:r>
              <a:rPr lang="en-GB" dirty="0"/>
              <a:t> to a regulator</a:t>
            </a:r>
            <a:r>
              <a:rPr dirty="0"/>
              <a:t>, an action she can control, and a record she can </a:t>
            </a:r>
            <a:r>
              <a:rPr lang="en-GB" dirty="0"/>
              <a:t>go back and </a:t>
            </a:r>
            <a:r>
              <a:rPr dirty="0"/>
              <a:t>inspect</a:t>
            </a:r>
            <a:r>
              <a:rPr lang="en-GB" dirty="0"/>
              <a:t> six months later</a:t>
            </a:r>
            <a:r>
              <a:rPr dirty="0"/>
              <a:t>.</a:t>
            </a:r>
          </a:p>
          <a:p>
            <a:r>
              <a:rPr lang="en-GB" dirty="0"/>
              <a:t>Everything I show you today is a fictional </a:t>
            </a:r>
            <a:r>
              <a:rPr dirty="0"/>
              <a:t>recall</a:t>
            </a:r>
            <a:r>
              <a:rPr lang="en-GB" dirty="0"/>
              <a:t> running on </a:t>
            </a:r>
            <a:r>
              <a:rPr dirty="0"/>
              <a:t>synthetic data</a:t>
            </a:r>
            <a:r>
              <a:rPr lang="en-GB" dirty="0"/>
              <a:t>.</a:t>
            </a:r>
          </a:p>
          <a:p>
            <a:r>
              <a:rPr lang="en-GB" dirty="0"/>
              <a:t>I'm using it because it makes one </a:t>
            </a:r>
            <a:r>
              <a:rPr dirty="0"/>
              <a:t>real </a:t>
            </a:r>
            <a:r>
              <a:rPr lang="en-GB" dirty="0"/>
              <a:t>engineering problem very visible.</a:t>
            </a:r>
            <a:endParaRPr dirty="0"/>
          </a:p>
          <a:p>
            <a:r>
              <a:rPr lang="en-GB" dirty="0"/>
              <a:t>Wiring </a:t>
            </a:r>
            <a:r>
              <a:rPr dirty="0"/>
              <a:t>an agent </a:t>
            </a:r>
            <a:r>
              <a:rPr lang="en-GB" dirty="0"/>
              <a:t>up </a:t>
            </a:r>
            <a:r>
              <a:rPr dirty="0"/>
              <a:t>to a tool is </a:t>
            </a:r>
            <a:r>
              <a:rPr lang="en-GB" dirty="0"/>
              <a:t>an afternoon's work</a:t>
            </a:r>
            <a:r>
              <a:rPr dirty="0"/>
              <a:t>.</a:t>
            </a:r>
            <a:endParaRPr lang="en-GB" dirty="0"/>
          </a:p>
          <a:p>
            <a:r>
              <a:rPr dirty="0"/>
              <a:t>Making </a:t>
            </a:r>
            <a:r>
              <a:rPr lang="en-GB" dirty="0"/>
              <a:t>the </a:t>
            </a:r>
            <a:r>
              <a:rPr dirty="0"/>
              <a:t>system </a:t>
            </a:r>
            <a:r>
              <a:rPr lang="en-GB" dirty="0"/>
              <a:t>you get afterwards </a:t>
            </a:r>
            <a:r>
              <a:rPr dirty="0"/>
              <a:t>dependable is </a:t>
            </a:r>
            <a:r>
              <a:rPr lang="en-GB" dirty="0"/>
              <a:t>the actual job, and that's what the next twenty-five minutes are about.</a:t>
            </a:r>
            <a:endParaRPr dirty="0"/>
          </a:p>
          <a:p>
            <a:r>
              <a:rPr lang="en-GB" dirty="0"/>
              <a:t>I'm Lee Stott, I'm a Principal Cloud Advocate at Microsoft, and we have five demos to get through.</a:t>
            </a:r>
          </a:p>
          <a:p>
            <a:r>
              <a:rPr lang="en-GB" dirty="0"/>
              <a:t>So before we choose any architecture at all, let's be precise about what success means for Asha.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Here's the incident.</a:t>
            </a:r>
          </a:p>
          <a:p>
            <a:r>
              <a:rPr lang="en-GB" dirty="0"/>
              <a:t>One batch, two thousand one hundred and ninety-six </a:t>
            </a:r>
            <a:r>
              <a:rPr dirty="0"/>
              <a:t>units</a:t>
            </a:r>
            <a:r>
              <a:rPr lang="en-GB" dirty="0"/>
              <a:t>,</a:t>
            </a:r>
            <a:r>
              <a:rPr dirty="0"/>
              <a:t> </a:t>
            </a:r>
            <a:r>
              <a:rPr lang="en-GB" dirty="0"/>
              <a:t>spread across </a:t>
            </a:r>
            <a:r>
              <a:rPr dirty="0"/>
              <a:t>four</a:t>
            </a:r>
            <a:r>
              <a:rPr lang="en-GB" dirty="0"/>
              <a:t> stock </a:t>
            </a:r>
            <a:r>
              <a:rPr dirty="0"/>
              <a:t>positions.</a:t>
            </a:r>
            <a:endParaRPr lang="en-GB" dirty="0"/>
          </a:p>
          <a:p>
            <a:r>
              <a:rPr lang="en-GB" dirty="0"/>
              <a:t>I want you to notice something about that number straight away.</a:t>
            </a:r>
          </a:p>
          <a:p>
            <a:r>
              <a:rPr lang="en-GB" dirty="0"/>
              <a:t>It's a fixture </a:t>
            </a:r>
            <a:r>
              <a:rPr dirty="0"/>
              <a:t>value</a:t>
            </a:r>
            <a:r>
              <a:rPr lang="en-GB" dirty="0"/>
              <a:t>. It comes from the data</a:t>
            </a:r>
            <a:r>
              <a:rPr dirty="0"/>
              <a:t>, not </a:t>
            </a:r>
            <a:r>
              <a:rPr lang="en-GB" dirty="0"/>
              <a:t>from </a:t>
            </a:r>
            <a:r>
              <a:rPr dirty="0"/>
              <a:t>a </a:t>
            </a:r>
            <a:r>
              <a:rPr lang="en-GB" dirty="0"/>
              <a:t>model's </a:t>
            </a:r>
            <a:r>
              <a:rPr dirty="0"/>
              <a:t>estimate</a:t>
            </a:r>
            <a:r>
              <a:rPr lang="en-GB" dirty="0"/>
              <a:t>, which means I can assert on it in a test and so can you</a:t>
            </a:r>
            <a:r>
              <a:rPr dirty="0"/>
              <a:t>.</a:t>
            </a:r>
          </a:p>
          <a:p>
            <a:r>
              <a:rPr lang="en-GB" dirty="0"/>
              <a:t>To make her call, Asha needs three different kinds of evidence.</a:t>
            </a:r>
          </a:p>
          <a:p>
            <a:r>
              <a:rPr lang="en-GB" dirty="0"/>
              <a:t>The </a:t>
            </a:r>
            <a:r>
              <a:rPr dirty="0"/>
              <a:t>recall facts</a:t>
            </a:r>
            <a:r>
              <a:rPr lang="en-GB" dirty="0"/>
              <a:t> themselves</a:t>
            </a:r>
            <a:r>
              <a:rPr dirty="0"/>
              <a:t>, </a:t>
            </a:r>
            <a:r>
              <a:rPr lang="en-GB" dirty="0"/>
              <a:t>her actual </a:t>
            </a:r>
            <a:r>
              <a:rPr dirty="0"/>
              <a:t>stock exposure</a:t>
            </a:r>
            <a:r>
              <a:rPr lang="en-GB" dirty="0"/>
              <a:t>,</a:t>
            </a:r>
            <a:r>
              <a:rPr dirty="0"/>
              <a:t> </a:t>
            </a:r>
            <a:r>
              <a:rPr lang="en-GB" dirty="0"/>
              <a:t>and the </a:t>
            </a:r>
            <a:r>
              <a:rPr dirty="0"/>
              <a:t>supplier constraints</a:t>
            </a:r>
            <a:r>
              <a:rPr lang="en-GB" dirty="0"/>
              <a:t> that might limit what she's allowed to do.</a:t>
            </a:r>
          </a:p>
          <a:p>
            <a:r>
              <a:rPr lang="en-GB" dirty="0"/>
              <a:t>What she gets out of the system is </a:t>
            </a:r>
            <a:r>
              <a:rPr dirty="0"/>
              <a:t>a </a:t>
            </a:r>
            <a:r>
              <a:rPr lang="en-GB" dirty="0"/>
              <a:t>decision </a:t>
            </a:r>
            <a:r>
              <a:rPr dirty="0"/>
              <a:t>brief, </a:t>
            </a:r>
            <a:r>
              <a:rPr lang="en-GB" dirty="0"/>
              <a:t>and then,</a:t>
            </a:r>
            <a:r>
              <a:rPr dirty="0"/>
              <a:t> separately</a:t>
            </a:r>
            <a:r>
              <a:rPr lang="en-GB" dirty="0"/>
              <a:t>, an</a:t>
            </a:r>
            <a:r>
              <a:rPr dirty="0"/>
              <a:t> </a:t>
            </a:r>
            <a:r>
              <a:rPr dirty="0" err="1"/>
              <a:t>authorised</a:t>
            </a:r>
            <a:r>
              <a:rPr dirty="0"/>
              <a:t> action.</a:t>
            </a:r>
          </a:p>
          <a:p>
            <a:r>
              <a:rPr lang="en-GB" dirty="0"/>
              <a:t>So let me put my acceptance criteria on the table now, because I'm going to keep coming back to them.</a:t>
            </a:r>
          </a:p>
          <a:p>
            <a:r>
              <a:rPr lang="en-GB" dirty="0"/>
              <a:t>First, the </a:t>
            </a:r>
            <a:r>
              <a:rPr dirty="0"/>
              <a:t>brief </a:t>
            </a:r>
            <a:r>
              <a:rPr lang="en-GB" dirty="0"/>
              <a:t>has to preserve both the </a:t>
            </a:r>
            <a:r>
              <a:rPr dirty="0"/>
              <a:t>facts and </a:t>
            </a:r>
            <a:r>
              <a:rPr lang="en-GB" dirty="0"/>
              <a:t>the </a:t>
            </a:r>
            <a:r>
              <a:rPr dirty="0"/>
              <a:t>uncertainty</a:t>
            </a:r>
            <a:r>
              <a:rPr lang="en-GB" dirty="0"/>
              <a:t>.</a:t>
            </a:r>
          </a:p>
          <a:p>
            <a:r>
              <a:rPr lang="en-GB" dirty="0"/>
              <a:t>Second, no stock changes </a:t>
            </a:r>
            <a:r>
              <a:rPr dirty="0"/>
              <a:t>without </a:t>
            </a:r>
            <a:r>
              <a:rPr lang="en-GB" dirty="0"/>
              <a:t>an </a:t>
            </a:r>
            <a:r>
              <a:rPr dirty="0"/>
              <a:t>approval</a:t>
            </a:r>
            <a:r>
              <a:rPr lang="en-GB" dirty="0"/>
              <a:t>.</a:t>
            </a:r>
          </a:p>
          <a:p>
            <a:r>
              <a:rPr lang="en-GB" dirty="0"/>
              <a:t>And third, if that request gets retried</a:t>
            </a:r>
            <a:r>
              <a:rPr dirty="0"/>
              <a:t>, </a:t>
            </a:r>
            <a:r>
              <a:rPr lang="en-GB" dirty="0"/>
              <a:t>the same positions do not change twice</a:t>
            </a:r>
            <a:r>
              <a:rPr dirty="0"/>
              <a:t>.</a:t>
            </a:r>
          </a:p>
          <a:p>
            <a:r>
              <a:rPr dirty="0"/>
              <a:t>Notice </a:t>
            </a:r>
            <a:r>
              <a:rPr lang="en-GB" dirty="0"/>
              <a:t>that not one of those three says anything about how many agents we need.</a:t>
            </a:r>
          </a:p>
          <a:p>
            <a:r>
              <a:rPr lang="en-GB" dirty="0"/>
              <a:t>That's deliberate. You write the guarantee first and you choose the architecture second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And this generalises further than you'd think. A refund, a cancelled order, an infrastructure change — same shape.</a:t>
            </a:r>
          </a:p>
          <a:p>
            <a:r>
              <a:rPr lang="en-GB" dirty="0"/>
              <a:t>So let me ask you something to hold onto for the next twenty minutes.</a:t>
            </a:r>
          </a:p>
          <a:p>
            <a:r>
              <a:rPr dirty="0"/>
              <a:t>If the model </a:t>
            </a:r>
            <a:r>
              <a:rPr lang="en-GB" dirty="0"/>
              <a:t>told you the batch was quarantined, </a:t>
            </a:r>
            <a:r>
              <a:rPr dirty="0"/>
              <a:t>what would you </a:t>
            </a:r>
            <a:r>
              <a:rPr lang="en-GB" dirty="0"/>
              <a:t>actually inspect </a:t>
            </a:r>
            <a:r>
              <a:rPr dirty="0"/>
              <a:t>before </a:t>
            </a:r>
            <a:r>
              <a:rPr lang="en-GB" dirty="0"/>
              <a:t>you believed </a:t>
            </a:r>
            <a:r>
              <a:rPr dirty="0"/>
              <a:t>it</a:t>
            </a:r>
            <a:r>
              <a:rPr lang="en-GB" dirty="0"/>
              <a:t>?</a:t>
            </a:r>
          </a:p>
          <a:p>
            <a:r>
              <a:rPr lang="en-GB" dirty="0"/>
              <a:t>Keep your answer. We'll test it.</a:t>
            </a:r>
          </a:p>
          <a:p>
            <a:r>
              <a:rPr lang="en-GB" dirty="0"/>
              <a:t>Because first, Asha needs facts from a system that isn't the model.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So this is where MCP comes in, and I want to be quite precise about what it does and doesn't give us.</a:t>
            </a:r>
          </a:p>
          <a:p>
            <a:r>
              <a:t>MCP </a:t>
            </a:r>
            <a:r>
              <a:rPr lang="en-GB"/>
              <a:t>is </a:t>
            </a:r>
            <a:r>
              <a:t>a </a:t>
            </a:r>
            <a:r>
              <a:rPr lang="en-GB"/>
              <a:t>discovery and invocation contract.</a:t>
            </a:r>
          </a:p>
          <a:p>
            <a:r>
              <a:rPr lang="en-GB"/>
              <a:t>You list the </a:t>
            </a:r>
            <a:r>
              <a:t>tools, </a:t>
            </a:r>
            <a:r>
              <a:rPr lang="en-GB"/>
              <a:t>you read the input schema</a:t>
            </a:r>
            <a:r>
              <a:t>, </a:t>
            </a:r>
            <a:r>
              <a:rPr lang="en-GB"/>
              <a:t>you </a:t>
            </a:r>
            <a:r>
              <a:t>call</a:t>
            </a:r>
            <a:r>
              <a:rPr lang="en-GB"/>
              <a:t> the tool, and you get a structured result back</a:t>
            </a:r>
            <a:r>
              <a:t>.</a:t>
            </a:r>
            <a:endParaRPr lang="en-GB"/>
          </a:p>
          <a:p>
            <a:r>
              <a:rPr lang="en-GB"/>
              <a:t>What that buys you is one </a:t>
            </a:r>
            <a:r>
              <a:t>protocol</a:t>
            </a:r>
            <a:r>
              <a:rPr lang="en-GB"/>
              <a:t>, instead of inventing a different agent-facing integration for every single client application you support</a:t>
            </a:r>
            <a:r>
              <a:t>.</a:t>
            </a:r>
          </a:p>
          <a:p>
            <a:r>
              <a:rPr lang="en-GB"/>
              <a:t>The host application </a:t>
            </a:r>
            <a:r>
              <a:t>owns the </a:t>
            </a:r>
            <a:r>
              <a:rPr lang="en-GB"/>
              <a:t>client </a:t>
            </a:r>
            <a:r>
              <a:t>session</a:t>
            </a:r>
            <a:r>
              <a:rPr lang="en-GB"/>
              <a:t>.</a:t>
            </a:r>
          </a:p>
          <a:p>
            <a:r>
              <a:rPr lang="en-GB"/>
              <a:t>The </a:t>
            </a:r>
            <a:r>
              <a:t>server exposes the tool</a:t>
            </a:r>
            <a:r>
              <a:rPr lang="en-GB"/>
              <a:t>.</a:t>
            </a:r>
          </a:p>
          <a:p>
            <a:r>
              <a:rPr lang="en-GB"/>
              <a:t>And behind that tool is ordinary code calling an ordinary API or domain service.</a:t>
            </a:r>
          </a:p>
          <a:p>
            <a:r>
              <a:rPr lang="en-GB"/>
              <a:t>MCP does not replace your business logic, and it does not decide which workflow you should be running.</a:t>
            </a:r>
            <a:endParaRPr/>
          </a:p>
          <a:p>
            <a:r>
              <a:rPr lang="en-GB"/>
              <a:t>So there are three components on this slide with three genuinely different jobs.</a:t>
            </a:r>
          </a:p>
          <a:p>
            <a:r>
              <a:t>Agent Framework </a:t>
            </a:r>
            <a:r>
              <a:rPr lang="en-GB"/>
              <a:t>coordinates the model-backed workflow.</a:t>
            </a:r>
          </a:p>
          <a:p>
            <a:r>
              <a:t>Foundry </a:t>
            </a:r>
            <a:r>
              <a:rPr lang="en-GB"/>
              <a:t>hosts that execution.</a:t>
            </a:r>
          </a:p>
          <a:p>
            <a:r>
              <a:rPr lang="en-GB"/>
              <a:t>And </a:t>
            </a:r>
            <a:r>
              <a:t>MCP supplies the tool contract</a:t>
            </a:r>
            <a:r>
              <a:rPr lang="en-GB"/>
              <a:t> underneath both.</a:t>
            </a:r>
          </a:p>
          <a:p>
            <a:r>
              <a:rPr lang="en-GB"/>
              <a:t>If you take one line away from this slide, take the one at the bottom</a:t>
            </a:r>
            <a:r>
              <a:t>.</a:t>
            </a:r>
          </a:p>
          <a:p>
            <a:r>
              <a:rPr lang="en-GB"/>
              <a:t>MCP standardises </a:t>
            </a:r>
            <a:r>
              <a:t>access.</a:t>
            </a:r>
            <a:r>
              <a:rPr lang="en-GB"/>
              <a:t> Your application still owns policy.</a:t>
            </a:r>
          </a:p>
          <a:p>
            <a:r>
              <a:rPr lang="en-GB"/>
              <a:t>That distinction carries the rest of the talk, and I'll show you exactly where it bites.</a:t>
            </a:r>
          </a:p>
          <a:p>
            <a:r>
              <a:rPr lang="en-GB"/>
              <a:t>Let's go and discover one tool, and let's check its answer without a model involved at all.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Before the demos, here's the application, because the shape of it matters.</a:t>
            </a:r>
          </a:p>
          <a:p>
            <a:r>
              <a:rPr lang="en-GB"/>
              <a:t>There are two lanes here and I've separated them on purpose</a:t>
            </a:r>
            <a:r>
              <a:t>.</a:t>
            </a:r>
            <a:endParaRPr lang="en-GB"/>
          </a:p>
          <a:p>
            <a:r>
              <a:rPr lang="en-GB"/>
              <a:t>Across the top, the </a:t>
            </a:r>
            <a:r>
              <a:t>browser </a:t>
            </a:r>
            <a:r>
              <a:rPr lang="en-GB"/>
              <a:t>asks the host for an assessment.</a:t>
            </a:r>
          </a:p>
          <a:p>
            <a:r>
              <a:rPr lang="en-GB"/>
              <a:t>That hosted </a:t>
            </a:r>
            <a:r>
              <a:t>workflow</a:t>
            </a:r>
            <a:r>
              <a:rPr lang="en-GB"/>
              <a:t> gets </a:t>
            </a:r>
            <a:r>
              <a:t>read tools </a:t>
            </a:r>
            <a:r>
              <a:rPr lang="en-GB"/>
              <a:t>only, over an isolated bridge</a:t>
            </a:r>
            <a:r>
              <a:t>.</a:t>
            </a:r>
            <a:endParaRPr lang="en-GB"/>
          </a:p>
          <a:p>
            <a:r>
              <a:t>It can </a:t>
            </a:r>
            <a:r>
              <a:rPr lang="en-GB"/>
              <a:t>prepare a recommendation. It cannot approve anything and </a:t>
            </a:r>
            <a:r>
              <a:t>it cannot </a:t>
            </a:r>
            <a:r>
              <a:rPr lang="en-GB"/>
              <a:t>move a single unit of </a:t>
            </a:r>
            <a:r>
              <a:t>inventory.</a:t>
            </a:r>
          </a:p>
          <a:p>
            <a:r>
              <a:rPr lang="en-GB"/>
              <a:t>Across the bottom, the identity layer tells us who </a:t>
            </a:r>
            <a:r>
              <a:t>the caller</a:t>
            </a:r>
            <a:r>
              <a:rPr lang="en-GB"/>
              <a:t> actually is.</a:t>
            </a:r>
          </a:p>
          <a:p>
            <a:r>
              <a:rPr lang="en-GB"/>
              <a:t>Application </a:t>
            </a:r>
            <a:r>
              <a:t>policy </a:t>
            </a:r>
            <a:r>
              <a:rPr lang="en-GB"/>
              <a:t>then </a:t>
            </a:r>
            <a:r>
              <a:t>binds </a:t>
            </a:r>
            <a:r>
              <a:rPr lang="en-GB"/>
              <a:t>the </a:t>
            </a:r>
            <a:r>
              <a:t>approval to </a:t>
            </a:r>
            <a:r>
              <a:rPr lang="en-GB"/>
              <a:t>that </a:t>
            </a:r>
            <a:r>
              <a:t>caller, </a:t>
            </a:r>
            <a:r>
              <a:rPr lang="en-GB"/>
              <a:t>that </a:t>
            </a:r>
            <a:r>
              <a:t>batch, </a:t>
            </a:r>
            <a:r>
              <a:rPr lang="en-GB"/>
              <a:t>that </a:t>
            </a:r>
            <a:r>
              <a:t>action</a:t>
            </a:r>
            <a:r>
              <a:rPr lang="en-GB"/>
              <a:t>,</a:t>
            </a:r>
            <a:r>
              <a:t> and </a:t>
            </a:r>
            <a:r>
              <a:rPr lang="en-GB"/>
              <a:t>that </a:t>
            </a:r>
            <a:r>
              <a:t>session</a:t>
            </a:r>
            <a:r>
              <a:rPr lang="en-GB"/>
              <a:t>.</a:t>
            </a:r>
          </a:p>
          <a:p>
            <a:r>
              <a:rPr lang="en-GB"/>
              <a:t>The domain action records the quarantine and writes the audit entry, and the session state carries the concurrency tags and the replay record</a:t>
            </a:r>
            <a:r>
              <a:t>.</a:t>
            </a:r>
            <a:endParaRPr lang="en-GB"/>
          </a:p>
          <a:p>
            <a:r>
              <a:rPr lang="en-GB"/>
              <a:t>And then there's a third thing, which is the terminal demo.</a:t>
            </a:r>
          </a:p>
          <a:p>
            <a:r>
              <a:rPr lang="en-GB"/>
              <a:t>That one speaks real </a:t>
            </a:r>
            <a:r>
              <a:t>MCP </a:t>
            </a:r>
            <a:r>
              <a:rPr lang="en-GB"/>
              <a:t>over standard input and output </a:t>
            </a:r>
            <a:r>
              <a:t>to </a:t>
            </a:r>
            <a:r>
              <a:rPr lang="en-GB"/>
              <a:t>a completely </a:t>
            </a:r>
            <a:r>
              <a:t>isolated server.</a:t>
            </a:r>
            <a:endParaRPr lang="en-GB"/>
          </a:p>
          <a:p>
            <a:r>
              <a:t>Its state is not the </a:t>
            </a:r>
            <a:r>
              <a:rPr lang="en-GB"/>
              <a:t>browser's state, so please don't read across between the two — I'll flag it each time we switch.</a:t>
            </a:r>
          </a:p>
          <a:p>
            <a:r>
              <a:rPr lang="en-GB"/>
              <a:t>The sentence at the bottom is the design in one line.</a:t>
            </a:r>
            <a:endParaRPr/>
          </a:p>
          <a:p>
            <a:r>
              <a:rPr lang="en-GB"/>
              <a:t>The hosted agent can recommend. Only application policy can authorise and mutate.</a:t>
            </a:r>
          </a:p>
          <a:p>
            <a:r>
              <a:rPr lang="en-GB"/>
              <a:t>With those boundaries visible, let's go and inspect that first tool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This is the same architecture one level down, and I'll only spend a moment on it.</a:t>
            </a:r>
          </a:p>
          <a:p>
            <a:r>
              <a:rPr lang="en-GB"/>
              <a:t>The authenticated operator comes in through the Control Tower, through managed identity, into the hosted agent service, out through a sequence of specialists, and everything stops at the MCP tool boundary.</a:t>
            </a:r>
          </a:p>
          <a:p>
            <a:r>
              <a:rPr lang="en-GB"/>
              <a:t>The supervisor at the end synthesises the evidence.</a:t>
            </a:r>
          </a:p>
          <a:p>
            <a:r>
              <a:rPr lang="en-GB"/>
              <a:t>It has no tools of its own and it has no authority.</a:t>
            </a:r>
          </a:p>
          <a:p>
            <a:r>
              <a:rPr lang="en-GB"/>
              <a:t>Identity and approval get checked by application policy before the recall domain changes any state, and the stored session keeps the concurrency tags and the audit trail.</a:t>
            </a:r>
          </a:p>
          <a:p>
            <a:r>
              <a:rPr lang="en-GB"/>
              <a:t>One caveat before we move on, because it matters.</a:t>
            </a:r>
          </a:p>
          <a:p>
            <a:r>
              <a:rPr lang="en-GB"/>
              <a:t>This is a schematic of a synthetic demo.</a:t>
            </a:r>
          </a:p>
          <a:p>
            <a:r>
              <a:rPr lang="en-GB"/>
              <a:t>It is not a captured execution trace, and it is not a claim that any of this is production-hardened.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Right — demo one. Let's go and find </a:t>
            </a:r>
            <a:r>
              <a:t>the stock.</a:t>
            </a:r>
          </a:p>
          <a:p>
            <a:r>
              <a:rPr lang="en-GB"/>
              <a:t>I'm switching to a terminal, and there is no model anywhere in this first demo</a:t>
            </a:r>
            <a:r>
              <a:t>.</a:t>
            </a:r>
          </a:p>
          <a:p>
            <a:r>
              <a:rPr lang="en-GB"/>
              <a:t>We're going to discover </a:t>
            </a:r>
            <a:r>
              <a:t>the </a:t>
            </a:r>
            <a:r>
              <a:rPr lang="en-GB"/>
              <a:t>tool, read its contract</a:t>
            </a:r>
            <a:r>
              <a:t>, </a:t>
            </a:r>
            <a:r>
              <a:rPr lang="en-GB"/>
              <a:t>call it</a:t>
            </a:r>
            <a:r>
              <a:t>, </a:t>
            </a:r>
            <a:r>
              <a:rPr lang="en-GB"/>
              <a:t>and check </a:t>
            </a:r>
            <a:r>
              <a:t>the </a:t>
            </a:r>
            <a:r>
              <a:rPr lang="en-GB"/>
              <a:t>numbers ourselves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So Asha's very broad </a:t>
            </a:r>
            <a:r>
              <a:rPr dirty="0"/>
              <a:t>question </a:t>
            </a:r>
            <a:r>
              <a:rPr lang="en-GB" dirty="0"/>
              <a:t>— where is this batch and how exposed are we — collapses down to </a:t>
            </a:r>
            <a:r>
              <a:rPr dirty="0"/>
              <a:t>one narrow </a:t>
            </a:r>
            <a:r>
              <a:rPr lang="en-GB" dirty="0"/>
              <a:t>tool </a:t>
            </a:r>
            <a:r>
              <a:rPr dirty="0"/>
              <a:t>call</a:t>
            </a:r>
            <a:r>
              <a:rPr lang="en-GB" dirty="0"/>
              <a:t>.</a:t>
            </a:r>
          </a:p>
          <a:p>
            <a:r>
              <a:rPr lang="en-GB" dirty="0"/>
              <a:t>Locate </a:t>
            </a:r>
            <a:r>
              <a:rPr dirty="0"/>
              <a:t>inventory</a:t>
            </a:r>
            <a:r>
              <a:rPr lang="en-GB" dirty="0"/>
              <a:t>,</a:t>
            </a:r>
            <a:r>
              <a:rPr dirty="0"/>
              <a:t> for this batch.</a:t>
            </a:r>
          </a:p>
          <a:p>
            <a:r>
              <a:rPr lang="en-GB" dirty="0"/>
              <a:t>And before I call it, I can read its input schema.</a:t>
            </a:r>
          </a:p>
          <a:p>
            <a:r>
              <a:rPr lang="en-GB" dirty="0"/>
              <a:t>The batch identifier is required, it's bounded between one and sixty-four characters, and it only accepts uppercase letters, digits and hyphens.</a:t>
            </a:r>
          </a:p>
          <a:p>
            <a:r>
              <a:rPr lang="en-GB" dirty="0"/>
              <a:t>That is a surface you can test.</a:t>
            </a:r>
          </a:p>
          <a:p>
            <a:r>
              <a:rPr lang="en-GB" dirty="0"/>
              <a:t>An </a:t>
            </a:r>
            <a:r>
              <a:rPr dirty="0"/>
              <a:t>execute-anything endpoint</a:t>
            </a:r>
            <a:r>
              <a:rPr lang="en-GB" dirty="0"/>
              <a:t> is not, and that difference is most of the security story right there.</a:t>
            </a:r>
            <a:endParaRPr dirty="0"/>
          </a:p>
          <a:p>
            <a:r>
              <a:rPr lang="en-GB" dirty="0"/>
              <a:t>So I call it, and the structured content comes back.</a:t>
            </a:r>
          </a:p>
          <a:p>
            <a:r>
              <a:rPr lang="en-GB" dirty="0"/>
              <a:t>Two thousand one hundred and ninety-six units. Four positions</a:t>
            </a:r>
            <a:r>
              <a:rPr dirty="0"/>
              <a:t>.</a:t>
            </a:r>
            <a:r>
              <a:rPr lang="en-GB" dirty="0"/>
              <a:t> Exactly what the slide said.</a:t>
            </a:r>
            <a:endParaRPr dirty="0"/>
          </a:p>
          <a:p>
            <a:r>
              <a:rPr lang="en-GB" dirty="0"/>
              <a:t>Now I want you to watch one other number while I'm here, which is the tool count.</a:t>
            </a:r>
          </a:p>
          <a:p>
            <a:r>
              <a:rPr lang="en-GB" dirty="0"/>
              <a:t>The server discovers seven tools.</a:t>
            </a:r>
          </a:p>
          <a:p>
            <a:r>
              <a:rPr lang="en-GB" dirty="0"/>
              <a:t>The agent wrappers expose three of them, and all </a:t>
            </a:r>
            <a:r>
              <a:rPr dirty="0"/>
              <a:t>three </a:t>
            </a:r>
            <a:r>
              <a:rPr lang="en-GB" dirty="0"/>
              <a:t>are read-only</a:t>
            </a:r>
            <a:r>
              <a:rPr dirty="0"/>
              <a:t>.</a:t>
            </a:r>
            <a:endParaRPr lang="en-GB" dirty="0"/>
          </a:p>
          <a:p>
            <a:r>
              <a:rPr dirty="0"/>
              <a:t>Discovery is not permission.</a:t>
            </a:r>
            <a:r>
              <a:rPr lang="en-GB" dirty="0"/>
              <a:t> Those are separate decisions, and conflating them is how people end up with an agent that can delete things.</a:t>
            </a:r>
          </a:p>
          <a:p>
            <a:r>
              <a:rPr lang="en-GB" dirty="0"/>
              <a:t>Here's why this demo is worth two minutes of a twenty-five minute talk.</a:t>
            </a:r>
            <a:endParaRPr dirty="0"/>
          </a:p>
          <a:p>
            <a:r>
              <a:rPr dirty="0"/>
              <a:t>No model produced these rows</a:t>
            </a:r>
            <a:r>
              <a:rPr lang="en-GB" dirty="0"/>
              <a:t>.</a:t>
            </a:r>
          </a:p>
          <a:p>
            <a:r>
              <a:rPr lang="en-GB" dirty="0"/>
              <a:t>Which means I </a:t>
            </a:r>
            <a:r>
              <a:rPr dirty="0"/>
              <a:t>can prove the </a:t>
            </a:r>
            <a:r>
              <a:rPr lang="en-GB" dirty="0"/>
              <a:t>tool </a:t>
            </a:r>
            <a:r>
              <a:rPr dirty="0"/>
              <a:t>contract</a:t>
            </a:r>
            <a:r>
              <a:rPr lang="en-GB" dirty="0"/>
              <a:t> completely on its own, and then go and ask, separately, whether </a:t>
            </a:r>
            <a:r>
              <a:rPr dirty="0"/>
              <a:t>the agent </a:t>
            </a:r>
            <a:r>
              <a:rPr lang="en-GB" dirty="0"/>
              <a:t>uses that evidence faithfully.</a:t>
            </a:r>
          </a:p>
          <a:p>
            <a:r>
              <a:rPr lang="en-GB" dirty="0"/>
              <a:t>Two problems, two test suites.</a:t>
            </a:r>
            <a:endParaRPr dirty="0"/>
          </a:p>
          <a:p>
            <a:r>
              <a:rPr lang="en-GB" dirty="0"/>
              <a:t>One honest gap while we're here. The output schema is generic</a:t>
            </a:r>
            <a:r>
              <a:rPr dirty="0"/>
              <a:t>, </a:t>
            </a:r>
            <a:r>
              <a:rPr lang="en-GB" dirty="0"/>
              <a:t>so it's my client doing the checking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A typed result would make that contract stronger, and if I were shipping this, that's the first thing I'd fix.</a:t>
            </a:r>
          </a:p>
          <a:p>
            <a:r>
              <a:rPr lang="en-GB" dirty="0"/>
              <a:t>So Asha has her stock. She still needs everything else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How should we coordinate the rest of the evidence?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There are three patterns on this slide and only one of them is running today.</a:t>
            </a:r>
          </a:p>
          <a:p>
            <a:r>
              <a:rPr lang="en-GB" dirty="0"/>
              <a:t>What I've implemented is a fixed sequence of specialists, and I chose that because every </a:t>
            </a:r>
            <a:r>
              <a:rPr dirty="0"/>
              <a:t>handoff </a:t>
            </a:r>
            <a:r>
              <a:rPr lang="en-GB" dirty="0"/>
              <a:t>gives me somewhere to look at what the next step actually received.</a:t>
            </a:r>
          </a:p>
          <a:p>
            <a:r>
              <a:rPr lang="en-GB" dirty="0"/>
              <a:t>That's a debugging property, not a performance one</a:t>
            </a:r>
            <a:r>
              <a:rPr dirty="0"/>
              <a:t>.</a:t>
            </a:r>
          </a:p>
          <a:p>
            <a:r>
              <a:rPr lang="en-GB" dirty="0"/>
              <a:t>Now, change the request to just check </a:t>
            </a:r>
            <a:r>
              <a:rPr dirty="0"/>
              <a:t>the supplier</a:t>
            </a:r>
            <a:r>
              <a:rPr lang="en-GB" dirty="0"/>
              <a:t>, </a:t>
            </a:r>
            <a:r>
              <a:rPr dirty="0"/>
              <a:t>and a </a:t>
            </a:r>
            <a:r>
              <a:rPr lang="en-GB" dirty="0"/>
              <a:t>routing design could pick a single </a:t>
            </a:r>
            <a:r>
              <a:rPr dirty="0"/>
              <a:t>specialist</a:t>
            </a:r>
            <a:r>
              <a:rPr lang="en-GB" dirty="0"/>
              <a:t> instead.</a:t>
            </a:r>
          </a:p>
          <a:p>
            <a:r>
              <a:rPr lang="en-GB" dirty="0"/>
              <a:t>But </a:t>
            </a:r>
            <a:r>
              <a:rPr dirty="0"/>
              <a:t>a router needs </a:t>
            </a:r>
            <a:r>
              <a:rPr lang="en-GB" dirty="0"/>
              <a:t>a </a:t>
            </a:r>
            <a:r>
              <a:rPr dirty="0"/>
              <a:t>bounded </a:t>
            </a:r>
            <a:r>
              <a:rPr lang="en-GB" dirty="0"/>
              <a:t>set of choices </a:t>
            </a:r>
            <a:r>
              <a:rPr dirty="0"/>
              <a:t>and a stopping rule</a:t>
            </a:r>
            <a:r>
              <a:rPr lang="en-GB" dirty="0"/>
              <a:t>, otherwise you've built something that can loop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And notice a supervisor that chooses the next worker is a genuinely different component from one that only writes the final summary.</a:t>
            </a:r>
          </a:p>
          <a:p>
            <a:r>
              <a:rPr lang="en-GB" dirty="0"/>
              <a:t>They get called the same thing in blog posts. They are not the same thing.</a:t>
            </a:r>
          </a:p>
          <a:p>
            <a:r>
              <a:rPr lang="en-GB" dirty="0"/>
              <a:t>Third option: once you know </a:t>
            </a:r>
            <a:r>
              <a:rPr dirty="0"/>
              <a:t>the </a:t>
            </a:r>
            <a:r>
              <a:rPr lang="en-GB" dirty="0"/>
              <a:t>batch</a:t>
            </a:r>
            <a:r>
              <a:rPr dirty="0"/>
              <a:t>, </a:t>
            </a:r>
            <a:r>
              <a:rPr lang="en-GB" dirty="0"/>
              <a:t>stock and supplier evidence are independent, so you could fetch them in </a:t>
            </a:r>
            <a:r>
              <a:rPr dirty="0"/>
              <a:t>parallel </a:t>
            </a:r>
            <a:r>
              <a:rPr lang="en-GB" dirty="0"/>
              <a:t>and cut the waiting.</a:t>
            </a:r>
          </a:p>
          <a:p>
            <a:r>
              <a:rPr lang="en-GB" dirty="0"/>
              <a:t>The moment you do that, you owe yourself a decision about what happens when only one of them comes back</a:t>
            </a:r>
            <a:r>
              <a:rPr dirty="0"/>
              <a:t>.</a:t>
            </a:r>
          </a:p>
          <a:p>
            <a:r>
              <a:rPr lang="en-GB" dirty="0"/>
              <a:t>So these are three different designs with three different failure modes</a:t>
            </a:r>
            <a:r>
              <a:rPr dirty="0"/>
              <a:t>, not three </a:t>
            </a:r>
            <a:r>
              <a:rPr lang="en-GB" dirty="0"/>
              <a:t>names </a:t>
            </a:r>
            <a:r>
              <a:rPr dirty="0"/>
              <a:t>for the same </a:t>
            </a:r>
            <a:r>
              <a:rPr lang="en-GB" dirty="0"/>
              <a:t>idea</a:t>
            </a:r>
            <a:r>
              <a:rPr dirty="0"/>
              <a:t>.</a:t>
            </a:r>
            <a:endParaRPr lang="en-GB" dirty="0"/>
          </a:p>
          <a:p>
            <a:r>
              <a:rPr lang="en-GB" dirty="0"/>
              <a:t>Ours </a:t>
            </a:r>
            <a:r>
              <a:rPr dirty="0"/>
              <a:t>is sequential</a:t>
            </a:r>
            <a:r>
              <a:rPr lang="en-GB" dirty="0"/>
              <a:t>, and the final </a:t>
            </a:r>
            <a:r>
              <a:rPr dirty="0"/>
              <a:t>agent </a:t>
            </a:r>
            <a:r>
              <a:rPr lang="en-GB" dirty="0"/>
              <a:t>synthesises — it doesn't route.</a:t>
            </a:r>
          </a:p>
          <a:p>
            <a:r>
              <a:rPr lang="en-GB" dirty="0"/>
              <a:t>Let me ask the uncomfortable version of the question.</a:t>
            </a:r>
            <a:endParaRPr dirty="0"/>
          </a:p>
          <a:p>
            <a:r>
              <a:rPr dirty="0"/>
              <a:t>If the </a:t>
            </a:r>
            <a:r>
              <a:rPr lang="en-GB" dirty="0"/>
              <a:t>only thing you needed was </a:t>
            </a:r>
            <a:r>
              <a:rPr dirty="0"/>
              <a:t>the stock count, would you run </a:t>
            </a:r>
            <a:r>
              <a:rPr lang="en-GB" dirty="0"/>
              <a:t>the entire four-agent sequence?</a:t>
            </a:r>
          </a:p>
          <a:p>
            <a:r>
              <a:rPr lang="en-GB" dirty="0"/>
              <a:t>Of course not. A single tool call does it.</a:t>
            </a:r>
          </a:p>
          <a:p>
            <a:r>
              <a:rPr lang="en-GB" dirty="0"/>
              <a:t>More agents is not a better architecture, it's a bigger one.</a:t>
            </a:r>
          </a:p>
          <a:p>
            <a:r>
              <a:rPr lang="en-GB" dirty="0"/>
              <a:t>Choose by evidence dependencies, by how much the request varies, and by your failure policy.</a:t>
            </a:r>
          </a:p>
          <a:p>
            <a:r>
              <a:rPr lang="en-GB" dirty="0"/>
              <a:t>Let's go and see what the sequence actually adds on top of </a:t>
            </a:r>
            <a:r>
              <a:rPr dirty="0"/>
              <a:t>the </a:t>
            </a:r>
            <a:r>
              <a:rPr lang="en-GB" dirty="0"/>
              <a:t>raw tool facts.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Demo two. Let's produce </a:t>
            </a:r>
            <a:r>
              <a:t>the brief.</a:t>
            </a:r>
          </a:p>
          <a:p>
            <a:r>
              <a:rPr lang="en-GB"/>
              <a:t>This is the hosted </a:t>
            </a:r>
            <a:r>
              <a:t>Control Tower</a:t>
            </a:r>
            <a:r>
              <a:rPr lang="en-GB"/>
              <a:t>, running the </a:t>
            </a:r>
            <a:r>
              <a:t>read-only </a:t>
            </a:r>
            <a:r>
              <a:rPr lang="en-GB"/>
              <a:t>agent </a:t>
            </a:r>
            <a:r>
              <a:t>workflow</a:t>
            </a:r>
            <a:r>
              <a:rPr lang="en-GB"/>
              <a:t> against a real hosted agent</a:t>
            </a:r>
            <a:r>
              <a:t>.</a:t>
            </a:r>
          </a:p>
          <a:p>
            <a:r>
              <a:rPr lang="en-GB"/>
              <a:t>Keep half an eye on </a:t>
            </a:r>
            <a:r>
              <a:t>the </a:t>
            </a:r>
            <a:r>
              <a:rPr lang="en-GB"/>
              <a:t>response ID, because we come back to this same session for the approval in a few minutes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Here's the sequence.</a:t>
            </a:r>
          </a:p>
          <a:p>
            <a:r>
              <a:t>Triage </a:t>
            </a:r>
            <a:r>
              <a:rPr lang="en-GB"/>
              <a:t>establishes </a:t>
            </a:r>
            <a:r>
              <a:t>the batch</a:t>
            </a:r>
            <a:r>
              <a:rPr lang="en-GB"/>
              <a:t>.</a:t>
            </a:r>
          </a:p>
          <a:p>
            <a:r>
              <a:rPr lang="en-GB"/>
              <a:t>Inventory </a:t>
            </a:r>
            <a:r>
              <a:t>measures </a:t>
            </a:r>
            <a:r>
              <a:rPr lang="en-GB"/>
              <a:t>the </a:t>
            </a:r>
            <a:r>
              <a:t>exposure</a:t>
            </a:r>
            <a:r>
              <a:rPr lang="en-GB"/>
              <a:t>.</a:t>
            </a:r>
          </a:p>
          <a:p>
            <a:r>
              <a:rPr lang="en-GB"/>
              <a:t>Compliance </a:t>
            </a:r>
            <a:r>
              <a:t>preserves</a:t>
            </a:r>
            <a:r>
              <a:rPr lang="en-GB"/>
              <a:t> the supplier constraints and, importantly, the things we don't know.</a:t>
            </a:r>
          </a:p>
          <a:p>
            <a:r>
              <a:rPr lang="en-GB"/>
              <a:t>And the </a:t>
            </a:r>
            <a:r>
              <a:t>supervisor synthesises </a:t>
            </a:r>
            <a:r>
              <a:rPr lang="en-GB"/>
              <a:t>the brief with no</a:t>
            </a:r>
            <a:r>
              <a:t> tools</a:t>
            </a:r>
            <a:r>
              <a:rPr lang="en-GB"/>
              <a:t> of its own</a:t>
            </a:r>
            <a:r>
              <a:t>.</a:t>
            </a:r>
          </a:p>
          <a:p>
            <a:r>
              <a:rPr lang="en-GB"/>
              <a:t>What's running now is </a:t>
            </a:r>
            <a:r>
              <a:t>the </a:t>
            </a:r>
            <a:r>
              <a:rPr lang="en-GB"/>
              <a:t>real hosted </a:t>
            </a:r>
            <a:r>
              <a:t>agent</a:t>
            </a:r>
            <a:r>
              <a:rPr lang="en-GB"/>
              <a:t>, and I want to be clear about what its output </a:t>
            </a:r>
            <a:r>
              <a:t>is</a:t>
            </a:r>
            <a:r>
              <a:rPr lang="en-GB"/>
              <a:t>.</a:t>
            </a:r>
          </a:p>
          <a:p>
            <a:r>
              <a:rPr lang="en-GB"/>
              <a:t>It's</a:t>
            </a:r>
            <a:r>
              <a:t> advice</a:t>
            </a:r>
            <a:r>
              <a:rPr lang="en-GB"/>
              <a:t>. It is </a:t>
            </a:r>
            <a:r>
              <a:t>not authority.</a:t>
            </a:r>
            <a:endParaRPr lang="en-GB"/>
          </a:p>
          <a:p>
            <a:r>
              <a:rPr lang="en-GB"/>
              <a:t>So let's evaluate it together, and I'd like you to check three specific things rather than whether it reads nicely.</a:t>
            </a:r>
          </a:p>
          <a:p>
            <a:r>
              <a:rPr lang="en-GB"/>
              <a:t>Does </a:t>
            </a:r>
            <a:r>
              <a:t>the </a:t>
            </a:r>
            <a:r>
              <a:rPr lang="en-GB"/>
              <a:t>brief still carry two thousand one hundred and ninety-six units </a:t>
            </a:r>
            <a:r>
              <a:t>and four locations</a:t>
            </a:r>
            <a:r>
              <a:rPr lang="en-GB"/>
              <a:t>?</a:t>
            </a:r>
          </a:p>
          <a:p>
            <a:r>
              <a:rPr lang="en-GB"/>
              <a:t>Is the </a:t>
            </a:r>
            <a:r>
              <a:t>supplier uncertainty</a:t>
            </a:r>
            <a:r>
              <a:rPr lang="en-GB"/>
              <a:t> still in there, or did it get smoothed away?</a:t>
            </a:r>
          </a:p>
          <a:p>
            <a:r>
              <a:rPr lang="en-GB"/>
              <a:t>And does it still say that a </a:t>
            </a:r>
            <a:r>
              <a:t>human </a:t>
            </a:r>
            <a:r>
              <a:rPr lang="en-GB"/>
              <a:t>has to act?</a:t>
            </a:r>
          </a:p>
          <a:p>
            <a:r>
              <a:rPr lang="en-GB"/>
              <a:t>That's evidence preservation, and it's</a:t>
            </a:r>
            <a:r>
              <a:t> a </a:t>
            </a:r>
            <a:r>
              <a:rPr lang="en-GB"/>
              <a:t>far better evaluation target than fluency, because fluency is the thing these models are already best at.</a:t>
            </a:r>
          </a:p>
          <a:p>
            <a:r>
              <a:rPr lang="en-GB"/>
              <a:t>The value here isn't that four agents had a conversation.</a:t>
            </a:r>
          </a:p>
          <a:p>
            <a:r>
              <a:rPr lang="en-GB"/>
              <a:t>It's that we have a brief grounded in separately verifiable evidence, with the uncertainty still intact at the moment Asha has to decide</a:t>
            </a:r>
            <a:r>
              <a:t>.</a:t>
            </a:r>
          </a:p>
          <a:p>
            <a:r>
              <a:rPr lang="en-GB"/>
              <a:t>One small thing — a model name on a configuration screen is not </a:t>
            </a:r>
            <a:r>
              <a:t>evidence</a:t>
            </a:r>
            <a:r>
              <a:rPr lang="en-GB"/>
              <a:t> of what ran.</a:t>
            </a:r>
          </a:p>
          <a:p>
            <a:r>
              <a:rPr lang="en-GB"/>
              <a:t>The response ID and the request ID are, which is why I keep them on screen.</a:t>
            </a:r>
          </a:p>
          <a:p>
            <a:r>
              <a:rPr lang="en-GB"/>
              <a:t>So that's the happy path. What happens when the evidence doesn't arrive cleanly?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Demo three, and honestly this is the one I think transfers best to your own work.</a:t>
            </a:r>
          </a:p>
          <a:p>
            <a:r>
              <a:rPr lang="en-GB"/>
              <a:t>Back to the terminal</a:t>
            </a:r>
            <a:r>
              <a:t>.</a:t>
            </a:r>
          </a:p>
          <a:p>
            <a:r>
              <a:rPr lang="en-GB"/>
              <a:t>We're going to separate invalid </a:t>
            </a:r>
            <a:r>
              <a:t>input </a:t>
            </a:r>
            <a:r>
              <a:rPr lang="en-GB"/>
              <a:t>from </a:t>
            </a:r>
            <a:r>
              <a:t>denied authority, </a:t>
            </a:r>
            <a:r>
              <a:rPr lang="en-GB"/>
              <a:t>and then go and check what actually changed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Asha can't act on a </a:t>
            </a:r>
            <a:r>
              <a:t>failure</a:t>
            </a:r>
            <a:r>
              <a:rPr lang="en-GB"/>
              <a:t> nobody has explained.</a:t>
            </a:r>
          </a:p>
          <a:p>
            <a:r>
              <a:rPr lang="en-GB"/>
              <a:t>But retrying everything isn't a recovery strategy either, so let's get precise.</a:t>
            </a:r>
          </a:p>
          <a:p>
            <a:r>
              <a:rPr lang="en-GB"/>
              <a:t>There are three classes of failure here and people conflate them constantly</a:t>
            </a:r>
            <a:r>
              <a:t>.</a:t>
            </a:r>
            <a:endParaRPr lang="en-GB"/>
          </a:p>
          <a:p>
            <a:r>
              <a:rPr lang="en-GB"/>
              <a:t>First one: a </a:t>
            </a:r>
            <a:r>
              <a:t>malformed batch</a:t>
            </a:r>
            <a:r>
              <a:rPr lang="en-GB"/>
              <a:t> identifier</a:t>
            </a:r>
            <a:r>
              <a:t>.</a:t>
            </a:r>
            <a:endParaRPr lang="en-GB"/>
          </a:p>
          <a:p>
            <a:r>
              <a:rPr lang="en-GB"/>
              <a:t>Look at </a:t>
            </a:r>
            <a:r>
              <a:t>the argument </a:t>
            </a:r>
            <a:r>
              <a:rPr lang="en-GB"/>
              <a:t>that went out, </a:t>
            </a:r>
            <a:r>
              <a:t>and </a:t>
            </a:r>
            <a:r>
              <a:rPr lang="en-GB"/>
              <a:t>look at the error flag coming back from the tool itself</a:t>
            </a:r>
            <a:r>
              <a:t>.</a:t>
            </a:r>
          </a:p>
          <a:p>
            <a:r>
              <a:rPr lang="en-GB"/>
              <a:t>So — would changing the </a:t>
            </a:r>
            <a:r>
              <a:t>prompt fix this</a:t>
            </a:r>
            <a:r>
              <a:rPr lang="en-GB"/>
              <a:t>?</a:t>
            </a:r>
          </a:p>
          <a:p>
            <a:r>
              <a:rPr lang="en-GB"/>
              <a:t>No. It wouldn't. The tool was called with an invalid identifier, you fix </a:t>
            </a:r>
            <a:r>
              <a:t>the argument</a:t>
            </a:r>
            <a:r>
              <a:rPr lang="en-GB"/>
              <a:t> and you re-run the read</a:t>
            </a:r>
            <a:r>
              <a:t>.</a:t>
            </a:r>
            <a:endParaRPr lang="en-GB"/>
          </a:p>
          <a:p>
            <a:r>
              <a:rPr lang="en-GB"/>
              <a:t>Treating a schema violation as a prompt problem is </a:t>
            </a:r>
            <a:r>
              <a:t>the </a:t>
            </a:r>
            <a:r>
              <a:rPr lang="en-GB"/>
              <a:t>single most common wrong turn I see teams take, and it costs weeks.</a:t>
            </a:r>
          </a:p>
          <a:p>
            <a:r>
              <a:rPr lang="en-GB"/>
              <a:t>Second one, and it looks superficially identical</a:t>
            </a:r>
            <a:r>
              <a:t>.</a:t>
            </a:r>
            <a:endParaRPr lang="en-GB"/>
          </a:p>
          <a:p>
            <a:r>
              <a:rPr lang="en-GB"/>
              <a:t>This is a </a:t>
            </a:r>
            <a:r>
              <a:t>schema-valid quarantine </a:t>
            </a:r>
            <a:r>
              <a:rPr lang="en-GB"/>
              <a:t>request carrying </a:t>
            </a:r>
            <a:r>
              <a:t>an invalid approval credential.</a:t>
            </a:r>
            <a:endParaRPr lang="en-GB"/>
          </a:p>
          <a:p>
            <a:r>
              <a:rPr lang="en-GB"/>
              <a:t>The shape of the request is perfectly fine. Should it </a:t>
            </a:r>
            <a:r>
              <a:t>succeed</a:t>
            </a:r>
            <a:r>
              <a:rPr lang="en-GB"/>
              <a:t>?</a:t>
            </a:r>
            <a:endParaRPr/>
          </a:p>
          <a:p>
            <a:r>
              <a:rPr lang="en-GB"/>
              <a:t>It shouldn't</a:t>
            </a:r>
            <a:r>
              <a:t>, and </a:t>
            </a:r>
            <a:r>
              <a:rPr lang="en-GB"/>
              <a:t>it doesn't — but the important part is the next line, where I re-read </a:t>
            </a:r>
            <a:r>
              <a:t>the inventory </a:t>
            </a:r>
            <a:r>
              <a:rPr lang="en-GB"/>
              <a:t>and prove nothing changed</a:t>
            </a:r>
            <a:r>
              <a:t>.</a:t>
            </a:r>
            <a:endParaRPr lang="en-GB"/>
          </a:p>
          <a:p>
            <a:r>
              <a:rPr lang="en-GB"/>
              <a:t>Valid input</a:t>
            </a:r>
            <a:r>
              <a:t>, </a:t>
            </a:r>
            <a:r>
              <a:rPr lang="en-GB"/>
              <a:t>missing </a:t>
            </a:r>
            <a:r>
              <a:t>authority.</a:t>
            </a:r>
            <a:r>
              <a:rPr lang="en-GB"/>
              <a:t> Completely different owner, completely different fix.</a:t>
            </a:r>
          </a:p>
          <a:p>
            <a:r>
              <a:rPr lang="en-GB"/>
              <a:t>And a </a:t>
            </a:r>
            <a:r>
              <a:t>retry with </a:t>
            </a:r>
            <a:r>
              <a:rPr lang="en-GB"/>
              <a:t>that </a:t>
            </a:r>
            <a:r>
              <a:t>same </a:t>
            </a:r>
            <a:r>
              <a:rPr lang="en-GB"/>
              <a:t>bad credential must never, under any circumstances, converge on </a:t>
            </a:r>
            <a:r>
              <a:t>a </a:t>
            </a:r>
            <a:r>
              <a:rPr lang="en-GB"/>
              <a:t>successful </a:t>
            </a:r>
            <a:r>
              <a:t>write.</a:t>
            </a:r>
          </a:p>
          <a:p>
            <a:r>
              <a:rPr lang="en-GB"/>
              <a:t>Third class: the tool result is correct but the final </a:t>
            </a:r>
            <a:r>
              <a:t>brief</a:t>
            </a:r>
            <a:r>
              <a:rPr lang="en-GB"/>
              <a:t> is wrong</a:t>
            </a:r>
            <a:r>
              <a:t>.</a:t>
            </a:r>
            <a:endParaRPr lang="en-GB"/>
          </a:p>
          <a:p>
            <a:r>
              <a:rPr lang="en-GB"/>
              <a:t>Then you check the tool output</a:t>
            </a:r>
            <a:r>
              <a:t>, </a:t>
            </a:r>
            <a:r>
              <a:rPr lang="en-GB"/>
              <a:t>then the </a:t>
            </a:r>
            <a:r>
              <a:t>handoff</a:t>
            </a:r>
            <a:r>
              <a:rPr lang="en-GB"/>
              <a:t> payload, then the synthesis, in that order, and you stop at </a:t>
            </a:r>
            <a:r>
              <a:t>the first divergence</a:t>
            </a:r>
            <a:r>
              <a:rPr lang="en-GB"/>
              <a:t>.</a:t>
            </a:r>
            <a:endParaRPr/>
          </a:p>
          <a:p>
            <a:r>
              <a:rPr lang="en-GB"/>
              <a:t>One practical note, because this is where people lose hours.</a:t>
            </a:r>
          </a:p>
          <a:p>
            <a:r>
              <a:rPr lang="en-GB"/>
              <a:t>Learn to tell an MCP error result from an HTTP status from an SDK exception.</a:t>
            </a:r>
          </a:p>
          <a:p>
            <a:r>
              <a:rPr lang="en-GB"/>
              <a:t>Three layers, three owners, three different fixes.</a:t>
            </a:r>
          </a:p>
          <a:p>
            <a:r>
              <a:rPr lang="en-GB"/>
              <a:t>And on logging — log the tool name</a:t>
            </a:r>
            <a:r>
              <a:t>, </a:t>
            </a:r>
            <a:r>
              <a:rPr lang="en-GB"/>
              <a:t>the sanitised arguments</a:t>
            </a:r>
            <a:r>
              <a:t>, </a:t>
            </a:r>
            <a:r>
              <a:rPr lang="en-GB"/>
              <a:t>the outcome and the duration</a:t>
            </a:r>
            <a:r>
              <a:t>.</a:t>
            </a:r>
            <a:endParaRPr lang="en-GB"/>
          </a:p>
          <a:p>
            <a:r>
              <a:rPr lang="en-GB"/>
              <a:t>Never log a reusable approval credential</a:t>
            </a:r>
            <a:r>
              <a:t>.</a:t>
            </a:r>
          </a:p>
          <a:p>
            <a:r>
              <a:rPr lang="en-GB"/>
              <a:t>What I'm not showing you today is timeouts, lost responses and cross-replica recovery. Those are real production test requirements and we'll come to them.</a:t>
            </a:r>
          </a:p>
          <a:p>
            <a:r>
              <a:rPr lang="en-GB"/>
              <a:t>Classify the failure, fix the layer that owns it, then go and inspect the state.</a:t>
            </a:r>
          </a:p>
          <a:p>
            <a:r>
              <a:rPr lang="en-GB"/>
              <a:t>Because the brief is only ever a recommendation</a:t>
            </a:r>
            <a:r>
              <a:t>. </a:t>
            </a:r>
            <a:r>
              <a:rPr lang="en-GB"/>
              <a:t>Asha still owns the decision.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Demo four. Now we hand the </a:t>
            </a:r>
            <a:r>
              <a:t>authority to the person.</a:t>
            </a:r>
          </a:p>
          <a:p>
            <a:r>
              <a:rPr lang="en-GB"/>
              <a:t>This is where a recommendation turns into </a:t>
            </a:r>
            <a:r>
              <a:t>an authenticated, application-controlled </a:t>
            </a:r>
            <a:r>
              <a:rPr lang="en-GB"/>
              <a:t>action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We're in the same </a:t>
            </a:r>
            <a:r>
              <a:t>session</a:t>
            </a:r>
            <a:r>
              <a:rPr lang="en-GB"/>
              <a:t>, with the same </a:t>
            </a:r>
            <a:r>
              <a:t>brief</a:t>
            </a:r>
            <a:r>
              <a:rPr lang="en-GB"/>
              <a:t> we got a few minutes ago</a:t>
            </a:r>
            <a:r>
              <a:t>.</a:t>
            </a:r>
            <a:endParaRPr lang="en-GB"/>
          </a:p>
          <a:p>
            <a:r>
              <a:rPr lang="en-GB"/>
              <a:t>And now</a:t>
            </a:r>
            <a:r>
              <a:t> </a:t>
            </a:r>
            <a:r>
              <a:rPr lang="en-GB"/>
              <a:t>we're testing </a:t>
            </a:r>
            <a:r>
              <a:t>authority and state</a:t>
            </a:r>
            <a:r>
              <a:rPr lang="en-GB"/>
              <a:t> — we are </a:t>
            </a:r>
            <a:r>
              <a:t>not </a:t>
            </a:r>
            <a:r>
              <a:rPr lang="en-GB"/>
              <a:t>asking a model to approve </a:t>
            </a:r>
            <a:r>
              <a:t>its own </a:t>
            </a:r>
            <a:r>
              <a:rPr lang="en-GB"/>
              <a:t>output</a:t>
            </a:r>
            <a:r>
              <a:t>.</a:t>
            </a:r>
          </a:p>
          <a:p>
            <a:r>
              <a:rPr lang="en-GB"/>
              <a:t>The model-facing </a:t>
            </a:r>
            <a:r>
              <a:t>tools are read-only</a:t>
            </a:r>
            <a:r>
              <a:rPr lang="en-GB"/>
              <a:t>, and the approval lives in </a:t>
            </a:r>
            <a:r>
              <a:t>application policy</a:t>
            </a:r>
            <a:r>
              <a:rPr lang="en-GB"/>
              <a:t>.</a:t>
            </a:r>
          </a:p>
          <a:p>
            <a:r>
              <a:rPr lang="en-GB"/>
              <a:t>Not in a second </a:t>
            </a:r>
            <a:r>
              <a:t>model </a:t>
            </a:r>
            <a:r>
              <a:rPr lang="en-GB"/>
              <a:t>casting a </a:t>
            </a:r>
            <a:r>
              <a:t>vote</a:t>
            </a:r>
            <a:r>
              <a:rPr lang="en-GB"/>
              <a:t>. And definitely not in a greyed-out button, because a greyed-out </a:t>
            </a:r>
            <a:r>
              <a:t>button</a:t>
            </a:r>
            <a:r>
              <a:rPr lang="en-GB"/>
              <a:t> enforces nothing</a:t>
            </a:r>
            <a:r>
              <a:t>.</a:t>
            </a:r>
          </a:p>
          <a:p>
            <a:r>
              <a:rPr lang="en-GB"/>
              <a:t>One honest detail while this loads: </a:t>
            </a:r>
            <a:r>
              <a:t>the </a:t>
            </a:r>
            <a:r>
              <a:rPr lang="en-GB"/>
              <a:t>authenticated </a:t>
            </a:r>
            <a:r>
              <a:t>approver </a:t>
            </a:r>
            <a:r>
              <a:rPr lang="en-GB"/>
              <a:t>field shows me</a:t>
            </a:r>
            <a:r>
              <a:t>, </a:t>
            </a:r>
            <a:r>
              <a:rPr lang="en-GB"/>
              <a:t>the signed-in presenter. It isn't the </a:t>
            </a:r>
            <a:r>
              <a:t>fictional Asha.</a:t>
            </a:r>
          </a:p>
          <a:p>
            <a:r>
              <a:rPr lang="en-GB"/>
              <a:t>There's one submit here — it approves and it quarantines. There's no second button to press.</a:t>
            </a:r>
          </a:p>
          <a:p>
            <a:r>
              <a:rPr lang="en-GB"/>
              <a:t>And now watch the quarantine evidence.</a:t>
            </a:r>
          </a:p>
          <a:p>
            <a:r>
              <a:rPr lang="en-GB"/>
              <a:t>Four </a:t>
            </a:r>
            <a:r>
              <a:t>positions changed</a:t>
            </a:r>
            <a:r>
              <a:rPr lang="en-GB"/>
              <a:t>. Two thousand one hundred and ninety-six </a:t>
            </a:r>
            <a:r>
              <a:t>units processed</a:t>
            </a:r>
            <a:r>
              <a:rPr lang="en-GB"/>
              <a:t>.</a:t>
            </a:r>
          </a:p>
          <a:p>
            <a:r>
              <a:rPr lang="en-GB"/>
              <a:t>Latest </a:t>
            </a:r>
            <a:r>
              <a:t>replay </a:t>
            </a:r>
            <a:r>
              <a:rPr lang="en-GB"/>
              <a:t>says not recorded, because we haven't replayed it yet.</a:t>
            </a:r>
          </a:p>
          <a:p>
            <a:r>
              <a:rPr lang="en-GB"/>
              <a:t>The transition I care about on this slide is the one from recommendation to authorised operation</a:t>
            </a:r>
            <a:r>
              <a:t>.</a:t>
            </a:r>
          </a:p>
          <a:p>
            <a:r>
              <a:rPr lang="en-GB"/>
              <a:t>And the reason it holds is that the application checks permission </a:t>
            </a:r>
            <a:r>
              <a:t>even when a caller </a:t>
            </a:r>
            <a:r>
              <a:rPr lang="en-GB"/>
              <a:t>goes around </a:t>
            </a:r>
            <a:r>
              <a:t>the </a:t>
            </a:r>
            <a:r>
              <a:rPr lang="en-GB"/>
              <a:t>interface completely</a:t>
            </a:r>
            <a:r>
              <a:t>.</a:t>
            </a:r>
            <a:endParaRPr lang="en-GB"/>
          </a:p>
          <a:p>
            <a:r>
              <a:rPr lang="en-GB"/>
              <a:t>That's the difference between a control and </a:t>
            </a:r>
            <a:r>
              <a:t>a </a:t>
            </a:r>
            <a:r>
              <a:rPr lang="en-GB"/>
              <a:t>convention</a:t>
            </a:r>
            <a:r>
              <a:t>.</a:t>
            </a:r>
            <a:endParaRPr lang="en-GB"/>
          </a:p>
          <a:p>
            <a:r>
              <a:rPr lang="en-GB"/>
              <a:t>But what if Asha presses that button again? Or the response never reaches her at all?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Demo five, the last one. Let's prove </a:t>
            </a:r>
            <a:r>
              <a:t>the outcome.</a:t>
            </a:r>
          </a:p>
          <a:p>
            <a:r>
              <a:rPr lang="en-GB"/>
              <a:t>We're going to replay that operation and compare what changed against </a:t>
            </a:r>
            <a:r>
              <a:t>the audit</a:t>
            </a:r>
            <a:r>
              <a:rPr lang="en-GB"/>
              <a:t> record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The screen looking finished is not </a:t>
            </a:r>
            <a:r>
              <a:rPr dirty="0"/>
              <a:t>the </a:t>
            </a:r>
            <a:r>
              <a:rPr lang="en-GB"/>
              <a:t>acceptance test</a:t>
            </a:r>
            <a:r>
              <a:rPr dirty="0"/>
              <a:t>.</a:t>
            </a:r>
          </a:p>
          <a:p>
            <a:r>
              <a:rPr lang="en-GB"/>
              <a:t>The first authorised </a:t>
            </a:r>
            <a:r>
              <a:rPr dirty="0"/>
              <a:t>call </a:t>
            </a:r>
            <a:r>
              <a:rPr lang="en-GB"/>
              <a:t>changed four positions. We saw that.</a:t>
            </a:r>
          </a:p>
          <a:p>
            <a:r>
              <a:rPr lang="en-GB"/>
              <a:t>Now I replay it, and the replay should change </a:t>
            </a:r>
            <a:r>
              <a:rPr dirty="0"/>
              <a:t>zero </a:t>
            </a:r>
            <a:r>
              <a:rPr lang="en-GB"/>
              <a:t>additional </a:t>
            </a:r>
            <a:r>
              <a:rPr dirty="0"/>
              <a:t>positions.</a:t>
            </a:r>
            <a:endParaRPr lang="en-GB"/>
          </a:p>
          <a:p>
            <a:r>
              <a:rPr lang="en-GB"/>
              <a:t>Here's the subtlety that catches people. </a:t>
            </a:r>
            <a:r>
              <a:rPr dirty="0"/>
              <a:t>Both </a:t>
            </a:r>
            <a:r>
              <a:rPr lang="en-GB"/>
              <a:t>of them </a:t>
            </a:r>
            <a:r>
              <a:rPr dirty="0"/>
              <a:t>may</a:t>
            </a:r>
            <a:r>
              <a:rPr lang="en-GB"/>
              <a:t> </a:t>
            </a:r>
            <a:r>
              <a:rPr dirty="0"/>
              <a:t>report </a:t>
            </a:r>
            <a:r>
              <a:rPr lang="en-GB"/>
              <a:t>two thousand one hundred and ninety-six </a:t>
            </a:r>
            <a:r>
              <a:rPr dirty="0"/>
              <a:t>units processed</a:t>
            </a:r>
            <a:r>
              <a:rPr lang="en-GB"/>
              <a:t>, and that's correct.</a:t>
            </a:r>
          </a:p>
          <a:p>
            <a:r>
              <a:rPr lang="en-GB"/>
              <a:t>That count describes </a:t>
            </a:r>
            <a:r>
              <a:rPr dirty="0"/>
              <a:t>the batch</a:t>
            </a:r>
            <a:r>
              <a:rPr lang="en-GB"/>
              <a:t> scope</a:t>
            </a:r>
            <a:r>
              <a:rPr dirty="0"/>
              <a:t>, not </a:t>
            </a:r>
            <a:r>
              <a:rPr lang="en-GB"/>
              <a:t>new mutations</a:t>
            </a:r>
            <a:r>
              <a:rPr dirty="0"/>
              <a:t>.</a:t>
            </a:r>
            <a:endParaRPr lang="en-GB"/>
          </a:p>
          <a:p>
            <a:r>
              <a:rPr lang="en-GB"/>
              <a:t>So read the positions-changed number. Don't read the </a:t>
            </a:r>
            <a:r>
              <a:rPr dirty="0"/>
              <a:t>badge.</a:t>
            </a:r>
            <a:endParaRPr lang="en-GB"/>
          </a:p>
          <a:p>
            <a:r>
              <a:rPr lang="en-GB"/>
              <a:t>The audit shows the decision and the outcome, and it hands back no reusable token</a:t>
            </a:r>
            <a:r>
              <a:rPr dirty="0"/>
              <a:t>.</a:t>
            </a:r>
          </a:p>
          <a:p>
            <a:r>
              <a:rPr lang="en-GB"/>
              <a:t>Let me scope the claim honestly.</a:t>
            </a:r>
          </a:p>
          <a:p>
            <a:r>
              <a:rPr lang="en-GB"/>
              <a:t>This demonstrates </a:t>
            </a:r>
            <a:r>
              <a:rPr dirty="0"/>
              <a:t>replay </a:t>
            </a:r>
            <a:r>
              <a:rPr lang="en-GB"/>
              <a:t>and refresh </a:t>
            </a:r>
            <a:r>
              <a:rPr dirty="0"/>
              <a:t>for </a:t>
            </a:r>
            <a:r>
              <a:rPr lang="en-GB"/>
              <a:t>one hosted </a:t>
            </a:r>
            <a:r>
              <a:rPr dirty="0"/>
              <a:t>session</a:t>
            </a:r>
            <a:r>
              <a:rPr lang="en-GB"/>
              <a:t>.</a:t>
            </a:r>
          </a:p>
          <a:p>
            <a:r>
              <a:rPr lang="en-GB"/>
              <a:t>It does not test a restart, and it does not test replica failover</a:t>
            </a:r>
            <a:r>
              <a:rPr dirty="0"/>
              <a:t>.</a:t>
            </a:r>
          </a:p>
          <a:p>
            <a:r>
              <a:rPr lang="en-GB"/>
              <a:t>The principle, though, is the one I'd write on the wall.</a:t>
            </a:r>
          </a:p>
          <a:p>
            <a:r>
              <a:rPr lang="en-GB"/>
              <a:t>Measure the business effect</a:t>
            </a:r>
            <a:r>
              <a:rPr dirty="0"/>
              <a:t>, </a:t>
            </a:r>
            <a:r>
              <a:rPr lang="en-GB"/>
              <a:t>and measure it independently of the generated prose.</a:t>
            </a:r>
          </a:p>
          <a:p>
            <a:r>
              <a:rPr lang="en-GB"/>
              <a:t>Now let's put real users and real replicas around all of this.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</a:t>
            </a:r>
            <a:r>
              <a:rPr lang="en-GB"/>
              <a:t>production gates</a:t>
            </a:r>
            <a:r>
              <a:rPr dirty="0"/>
              <a:t>, </a:t>
            </a:r>
            <a:r>
              <a:rPr lang="en-GB"/>
              <a:t>and each one falls straight out of Asha's </a:t>
            </a:r>
            <a:r>
              <a:rPr dirty="0"/>
              <a:t>incident.</a:t>
            </a:r>
          </a:p>
          <a:p>
            <a:r>
              <a:rPr lang="en-GB"/>
              <a:t>First, identity. Who is Asha, really?</a:t>
            </a:r>
          </a:p>
          <a:p>
            <a:r>
              <a:rPr lang="en-GB"/>
              <a:t>Today she's my</a:t>
            </a:r>
            <a:r>
              <a:rPr dirty="0"/>
              <a:t> </a:t>
            </a:r>
            <a:r>
              <a:rPr lang="en-GB"/>
              <a:t>signed-in </a:t>
            </a:r>
            <a:r>
              <a:rPr dirty="0"/>
              <a:t>identity</a:t>
            </a:r>
            <a:r>
              <a:rPr lang="en-GB"/>
              <a:t>, which is fine for a conference</a:t>
            </a:r>
            <a:r>
              <a:rPr dirty="0"/>
              <a:t>.</a:t>
            </a:r>
            <a:endParaRPr lang="en-GB"/>
          </a:p>
          <a:p>
            <a:r>
              <a:rPr lang="en-GB"/>
              <a:t>Production needs approval scoped per </a:t>
            </a:r>
            <a:r>
              <a:rPr dirty="0"/>
              <a:t>batch and </a:t>
            </a:r>
            <a:r>
              <a:rPr lang="en-GB"/>
              <a:t>per </a:t>
            </a:r>
            <a:r>
              <a:rPr dirty="0"/>
              <a:t>action, </a:t>
            </a:r>
            <a:r>
              <a:rPr lang="en-GB"/>
              <a:t>and it needs a least-privilege workload identity as well</a:t>
            </a:r>
            <a:r>
              <a:rPr dirty="0"/>
              <a:t>.</a:t>
            </a:r>
            <a:endParaRPr lang="en-GB"/>
          </a:p>
          <a:p>
            <a:r>
              <a:rPr lang="en-GB"/>
              <a:t>The identity that deployed your service is not the </a:t>
            </a:r>
            <a:r>
              <a:rPr dirty="0"/>
              <a:t>identity</a:t>
            </a:r>
            <a:r>
              <a:rPr lang="en-GB"/>
              <a:t> it should run as</a:t>
            </a:r>
            <a:r>
              <a:rPr dirty="0"/>
              <a:t>.</a:t>
            </a:r>
          </a:p>
          <a:p>
            <a:r>
              <a:rPr lang="en-GB"/>
              <a:t>Second, durability. Picture this: the stock change commits, and then the </a:t>
            </a:r>
            <a:r>
              <a:rPr dirty="0"/>
              <a:t>response </a:t>
            </a:r>
            <a:r>
              <a:rPr lang="en-GB"/>
              <a:t>is </a:t>
            </a:r>
            <a:r>
              <a:rPr dirty="0"/>
              <a:t>lost</a:t>
            </a:r>
            <a:r>
              <a:rPr lang="en-GB"/>
              <a:t>.</a:t>
            </a:r>
          </a:p>
          <a:p>
            <a:r>
              <a:rPr lang="en-GB"/>
              <a:t>Another </a:t>
            </a:r>
            <a:r>
              <a:rPr dirty="0"/>
              <a:t>replica </a:t>
            </a:r>
            <a:r>
              <a:rPr lang="en-GB"/>
              <a:t>picks up </a:t>
            </a:r>
            <a:r>
              <a:rPr dirty="0"/>
              <a:t>the retry.</a:t>
            </a:r>
            <a:endParaRPr lang="en-GB"/>
          </a:p>
          <a:p>
            <a:r>
              <a:rPr dirty="0"/>
              <a:t>The mutation and the idempotency record </a:t>
            </a:r>
            <a:r>
              <a:rPr lang="en-GB"/>
              <a:t>have to commit </a:t>
            </a:r>
            <a:r>
              <a:rPr dirty="0"/>
              <a:t>atomically</a:t>
            </a:r>
            <a:r>
              <a:rPr lang="en-GB"/>
              <a:t>, or you'll eventually quarantine the same batch twice.</a:t>
            </a:r>
          </a:p>
          <a:p>
            <a:r>
              <a:rPr lang="en-GB"/>
              <a:t>And the approval itself needs explicit </a:t>
            </a:r>
            <a:r>
              <a:rPr dirty="0"/>
              <a:t>scope</a:t>
            </a:r>
            <a:r>
              <a:rPr lang="en-GB"/>
              <a:t>, expiry, retention</a:t>
            </a:r>
            <a:r>
              <a:rPr dirty="0"/>
              <a:t> and </a:t>
            </a:r>
            <a:r>
              <a:rPr lang="en-GB"/>
              <a:t>invalidation rules</a:t>
            </a:r>
            <a:r>
              <a:rPr dirty="0"/>
              <a:t>.</a:t>
            </a:r>
          </a:p>
          <a:p>
            <a:r>
              <a:rPr lang="en-GB"/>
              <a:t>Third, release. You need a versioned evidence set — tool </a:t>
            </a:r>
            <a:r>
              <a:rPr dirty="0"/>
              <a:t>tests, policy tests,</a:t>
            </a:r>
            <a:r>
              <a:rPr lang="en-GB"/>
              <a:t> model evaluations</a:t>
            </a:r>
            <a:r>
              <a:rPr dirty="0"/>
              <a:t>, </a:t>
            </a:r>
            <a:r>
              <a:rPr lang="en-GB"/>
              <a:t>the failure cases you've actually observed</a:t>
            </a:r>
            <a:r>
              <a:rPr dirty="0"/>
              <a:t>, and </a:t>
            </a:r>
            <a:r>
              <a:rPr lang="en-GB"/>
              <a:t>a </a:t>
            </a:r>
            <a:r>
              <a:rPr dirty="0"/>
              <a:t>rollback</a:t>
            </a:r>
            <a:r>
              <a:rPr lang="en-GB"/>
              <a:t> you've genuinely exercised</a:t>
            </a:r>
            <a:r>
              <a:rPr dirty="0"/>
              <a:t>.</a:t>
            </a:r>
            <a:endParaRPr lang="en-GB"/>
          </a:p>
          <a:p>
            <a:r>
              <a:rPr dirty="0"/>
              <a:t>Hosting </a:t>
            </a:r>
            <a:r>
              <a:rPr lang="en-GB"/>
              <a:t>the process gives you exactly none of that for free.</a:t>
            </a:r>
            <a:endParaRPr dirty="0"/>
          </a:p>
          <a:p>
            <a:r>
              <a:rPr lang="en-GB"/>
              <a:t>So, quick one for the room: which of those catches </a:t>
            </a:r>
            <a:r>
              <a:rPr dirty="0"/>
              <a:t>the </a:t>
            </a:r>
            <a:r>
              <a:rPr lang="en-GB"/>
              <a:t>lost-response bug — </a:t>
            </a:r>
            <a:r>
              <a:rPr dirty="0"/>
              <a:t>a prompt </a:t>
            </a:r>
            <a:r>
              <a:rPr lang="en-GB"/>
              <a:t>evaluation,</a:t>
            </a:r>
            <a:r>
              <a:rPr dirty="0"/>
              <a:t> or a state-and-retry test</a:t>
            </a:r>
            <a:r>
              <a:rPr lang="en-GB"/>
              <a:t>?</a:t>
            </a:r>
          </a:p>
          <a:p>
            <a:r>
              <a:rPr lang="en-GB"/>
              <a:t>It's the second, and I think that answer reallocates where a lot of teams are currently spending their effort.</a:t>
            </a:r>
          </a:p>
          <a:p>
            <a:r>
              <a:rPr lang="en-GB"/>
              <a:t>A few implementation lessons worth stealing.</a:t>
            </a:r>
          </a:p>
          <a:p>
            <a:r>
              <a:rPr lang="en-GB"/>
              <a:t>Incompatible runtime dependencies pushed us to an isolated bridge.</a:t>
            </a:r>
          </a:p>
          <a:p>
            <a:r>
              <a:rPr lang="en-GB"/>
              <a:t>Child processes need bounded concurrency, timeouts and cleanup.</a:t>
            </a:r>
          </a:p>
          <a:p>
            <a:r>
              <a:rPr lang="en-GB"/>
              <a:t>And per-request workflow state has to be isolated, or you'll leak one user's evidence into another's brief.</a:t>
            </a:r>
            <a:endParaRPr dirty="0"/>
          </a:p>
          <a:p>
            <a:r>
              <a:rPr dirty="0"/>
              <a:t>Governance is </a:t>
            </a:r>
            <a:r>
              <a:rPr lang="en-GB"/>
              <a:t>just as </a:t>
            </a:r>
            <a:r>
              <a:rPr dirty="0"/>
              <a:t>concrete.</a:t>
            </a:r>
            <a:endParaRPr lang="en-GB"/>
          </a:p>
          <a:p>
            <a:r>
              <a:rPr dirty="0"/>
              <a:t>If </a:t>
            </a:r>
            <a:r>
              <a:rPr lang="en-GB"/>
              <a:t>someone changes </a:t>
            </a:r>
            <a:r>
              <a:rPr dirty="0"/>
              <a:t>a tool from read-only to destructive,</a:t>
            </a:r>
            <a:r>
              <a:rPr lang="en-GB"/>
              <a:t> </a:t>
            </a:r>
            <a:r>
              <a:rPr dirty="0"/>
              <a:t>who reviews </a:t>
            </a:r>
            <a:r>
              <a:rPr lang="en-GB"/>
              <a:t>its permissions and its tests</a:t>
            </a:r>
            <a:r>
              <a:rPr dirty="0"/>
              <a:t>?</a:t>
            </a:r>
            <a:endParaRPr lang="en-GB"/>
          </a:p>
          <a:p>
            <a:r>
              <a:rPr dirty="0"/>
              <a:t>If </a:t>
            </a:r>
            <a:r>
              <a:rPr lang="en-GB"/>
              <a:t>text coming back from an external </a:t>
            </a:r>
            <a:r>
              <a:rPr dirty="0"/>
              <a:t>tool </a:t>
            </a:r>
            <a:r>
              <a:rPr lang="en-GB"/>
              <a:t>contains </a:t>
            </a:r>
            <a:r>
              <a:rPr dirty="0"/>
              <a:t>instructions, </a:t>
            </a:r>
            <a:r>
              <a:rPr lang="en-GB"/>
              <a:t>which boundary stops that </a:t>
            </a:r>
            <a:r>
              <a:rPr dirty="0"/>
              <a:t>becoming authority?</a:t>
            </a:r>
            <a:endParaRPr lang="en-GB"/>
          </a:p>
          <a:p>
            <a:r>
              <a:rPr lang="en-GB"/>
              <a:t>And if an evaluation regresses, who has the power to stop the release?</a:t>
            </a:r>
          </a:p>
          <a:p>
            <a:r>
              <a:rPr dirty="0"/>
              <a:t>This </a:t>
            </a:r>
            <a:r>
              <a:rPr lang="en-GB"/>
              <a:t>slide </a:t>
            </a:r>
            <a:r>
              <a:rPr dirty="0"/>
              <a:t>is a checklist, not a claim </a:t>
            </a:r>
            <a:r>
              <a:rPr lang="en-GB"/>
              <a:t>that I've proved any </a:t>
            </a:r>
            <a:r>
              <a:rPr dirty="0"/>
              <a:t>of </a:t>
            </a:r>
            <a:r>
              <a:rPr lang="en-GB"/>
              <a:t>it in front of you today.</a:t>
            </a:r>
          </a:p>
          <a:p>
            <a:r>
              <a:rPr lang="en-GB"/>
              <a:t>So let's take this off my workload and onto yours.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Five questions for the </a:t>
            </a:r>
            <a:r>
              <a:t>next </a:t>
            </a:r>
            <a:r>
              <a:rPr lang="en-GB"/>
              <a:t>agent system you build</a:t>
            </a:r>
            <a:r>
              <a:t>.</a:t>
            </a:r>
            <a:endParaRPr lang="en-GB"/>
          </a:p>
          <a:p>
            <a:r>
              <a:t>What outcome </a:t>
            </a:r>
            <a:r>
              <a:rPr lang="en-GB"/>
              <a:t>has to </a:t>
            </a:r>
            <a:r>
              <a:t>be correct</a:t>
            </a:r>
            <a:r>
              <a:rPr lang="en-GB"/>
              <a:t>?</a:t>
            </a:r>
          </a:p>
          <a:p>
            <a:r>
              <a:rPr lang="en-GB"/>
              <a:t>What's </a:t>
            </a:r>
            <a:r>
              <a:t>the smallest workflow that </a:t>
            </a:r>
            <a:r>
              <a:rPr lang="en-GB"/>
              <a:t>can produce </a:t>
            </a:r>
            <a:r>
              <a:t>it</a:t>
            </a:r>
            <a:r>
              <a:rPr lang="en-GB"/>
              <a:t>?</a:t>
            </a:r>
          </a:p>
          <a:p>
            <a:r>
              <a:t>Which narrow tools expose the evidence</a:t>
            </a:r>
            <a:r>
              <a:rPr lang="en-GB"/>
              <a:t>?</a:t>
            </a:r>
          </a:p>
          <a:p>
            <a:r>
              <a:t>Where </a:t>
            </a:r>
            <a:r>
              <a:rPr lang="en-GB"/>
              <a:t>will </a:t>
            </a:r>
            <a:r>
              <a:t>you look when </a:t>
            </a:r>
            <a:r>
              <a:rPr lang="en-GB"/>
              <a:t>the result </a:t>
            </a:r>
            <a:r>
              <a:t>diverges</a:t>
            </a:r>
            <a:r>
              <a:rPr lang="en-GB"/>
              <a:t>?</a:t>
            </a:r>
          </a:p>
          <a:p>
            <a:r>
              <a:rPr lang="en-GB"/>
              <a:t>And which </a:t>
            </a:r>
            <a:r>
              <a:t>policy </a:t>
            </a:r>
            <a:r>
              <a:rPr lang="en-GB"/>
              <a:t>gates </a:t>
            </a:r>
            <a:r>
              <a:t>the action</a:t>
            </a:r>
            <a:r>
              <a:rPr lang="en-GB"/>
              <a:t>?</a:t>
            </a:r>
            <a:endParaRPr/>
          </a:p>
          <a:p>
            <a:r>
              <a:rPr lang="en-GB"/>
              <a:t>We used a product recall, but a refund is exactly </a:t>
            </a:r>
            <a:r>
              <a:t>the same </a:t>
            </a:r>
            <a:r>
              <a:rPr lang="en-GB"/>
              <a:t>shape.</a:t>
            </a:r>
          </a:p>
          <a:p>
            <a:r>
              <a:rPr lang="en-GB"/>
              <a:t>Find </a:t>
            </a:r>
            <a:r>
              <a:t>the order, gather </a:t>
            </a:r>
            <a:r>
              <a:rPr lang="en-GB"/>
              <a:t>the </a:t>
            </a:r>
            <a:r>
              <a:t>eligibility</a:t>
            </a:r>
            <a:r>
              <a:rPr lang="en-GB"/>
              <a:t> evidence</a:t>
            </a:r>
            <a:r>
              <a:t>, </a:t>
            </a:r>
            <a:r>
              <a:rPr lang="en-GB"/>
              <a:t>prepare the recommendation</a:t>
            </a:r>
            <a:r>
              <a:t>, authorise</a:t>
            </a:r>
            <a:r>
              <a:rPr lang="en-GB"/>
              <a:t> the refund</a:t>
            </a:r>
            <a:r>
              <a:t>, </a:t>
            </a:r>
            <a:r>
              <a:rPr lang="en-GB"/>
              <a:t>and </a:t>
            </a:r>
            <a:r>
              <a:t>prove </a:t>
            </a:r>
            <a:r>
              <a:rPr lang="en-GB"/>
              <a:t>that a retry doesn't </a:t>
            </a:r>
            <a:r>
              <a:t>pay </a:t>
            </a:r>
            <a:r>
              <a:rPr lang="en-GB"/>
              <a:t>the customer </a:t>
            </a:r>
            <a:r>
              <a:t>twice.</a:t>
            </a:r>
          </a:p>
          <a:p>
            <a:r>
              <a:t>MCP </a:t>
            </a:r>
            <a:r>
              <a:rPr lang="en-GB"/>
              <a:t>gives you a common </a:t>
            </a:r>
            <a:r>
              <a:t>tool contract.</a:t>
            </a:r>
            <a:endParaRPr lang="en-GB"/>
          </a:p>
          <a:p>
            <a:r>
              <a:t>It doesn't remove </a:t>
            </a:r>
            <a:r>
              <a:rPr lang="en-GB"/>
              <a:t>a single one of those five </a:t>
            </a:r>
            <a:r>
              <a:t>decisions</a:t>
            </a:r>
            <a:r>
              <a:rPr lang="en-GB"/>
              <a:t>.</a:t>
            </a:r>
          </a:p>
          <a:p>
            <a:r>
              <a:rPr lang="en-GB"/>
              <a:t>What </a:t>
            </a:r>
            <a:r>
              <a:t>it </a:t>
            </a:r>
            <a:r>
              <a:rPr lang="en-GB"/>
              <a:t>does give you is </a:t>
            </a:r>
            <a:r>
              <a:t>a </a:t>
            </a:r>
            <a:r>
              <a:rPr lang="en-GB"/>
              <a:t>clearer, more testable </a:t>
            </a:r>
            <a:r>
              <a:t>place to make them.</a:t>
            </a:r>
          </a:p>
          <a:p>
            <a:r>
              <a:rPr lang="en-GB"/>
              <a:t>So please take </a:t>
            </a:r>
            <a:r>
              <a:t>the decisions</a:t>
            </a:r>
            <a:r>
              <a:rPr lang="en-GB"/>
              <a:t> home with you</a:t>
            </a:r>
            <a:r>
              <a:t>, </a:t>
            </a:r>
            <a:r>
              <a:rPr lang="en-GB"/>
              <a:t>rather than </a:t>
            </a:r>
            <a:r>
              <a:t>the component names</a:t>
            </a:r>
            <a:r>
              <a:rPr lang="en-GB"/>
              <a:t>.</a:t>
            </a:r>
          </a:p>
          <a:p>
            <a:r>
              <a:rPr lang="en-GB"/>
              <a:t>Let's go back to where Asha started.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Facts </a:t>
            </a:r>
            <a:r>
              <a:t>she can inspect</a:t>
            </a:r>
            <a:r>
              <a:rPr lang="en-GB"/>
              <a:t>. Authority </a:t>
            </a:r>
            <a:r>
              <a:t>she can exercise</a:t>
            </a:r>
            <a:r>
              <a:rPr lang="en-GB"/>
              <a:t>. An </a:t>
            </a:r>
            <a:r>
              <a:t>outcome she</a:t>
            </a:r>
            <a:r>
              <a:rPr lang="en-GB"/>
              <a:t> </a:t>
            </a:r>
            <a:r>
              <a:t>can verify.</a:t>
            </a:r>
            <a:endParaRPr lang="en-GB"/>
          </a:p>
          <a:p>
            <a:r>
              <a:rPr lang="en-GB"/>
              <a:t>And the engineering </a:t>
            </a:r>
            <a:r>
              <a:t>is </a:t>
            </a:r>
            <a:r>
              <a:rPr lang="en-GB"/>
              <a:t>all in keeping </a:t>
            </a:r>
            <a:r>
              <a:t>that chain </a:t>
            </a:r>
            <a:r>
              <a:rPr lang="en-GB"/>
              <a:t>intact </a:t>
            </a:r>
            <a:r>
              <a:t>when tools fail, </a:t>
            </a:r>
            <a:r>
              <a:rPr lang="en-GB"/>
              <a:t>when </a:t>
            </a:r>
            <a:r>
              <a:t>models </a:t>
            </a:r>
            <a:r>
              <a:rPr lang="en-GB"/>
              <a:t>quietly drop </a:t>
            </a:r>
            <a:r>
              <a:t>evidence, and</a:t>
            </a:r>
            <a:r>
              <a:rPr lang="en-GB"/>
              <a:t> when </a:t>
            </a:r>
            <a:r>
              <a:t>requests get retried.</a:t>
            </a:r>
          </a:p>
          <a:p>
            <a:r>
              <a:rPr lang="en-GB"/>
              <a:t>You should now be able to choose a workflow, design its tools, investigate a failure, and control its actions.</a:t>
            </a:r>
          </a:p>
          <a:p>
            <a:r>
              <a:rPr lang="en-GB"/>
              <a:t>Not because any one framework makes this safe, but because we've made the responsibilities explicit and testable.</a:t>
            </a:r>
          </a:p>
          <a:p>
            <a:r>
              <a:t>The model </a:t>
            </a:r>
            <a:r>
              <a:rPr lang="en-GB"/>
              <a:t>is what </a:t>
            </a:r>
            <a:r>
              <a:t>makes </a:t>
            </a:r>
            <a:r>
              <a:rPr lang="en-GB"/>
              <a:t>the system </a:t>
            </a:r>
            <a:r>
              <a:t>capable.</a:t>
            </a:r>
            <a:endParaRPr lang="en-GB"/>
          </a:p>
          <a:p>
            <a:r>
              <a:t>Engineering </a:t>
            </a:r>
            <a:r>
              <a:rPr lang="en-GB"/>
              <a:t>is what </a:t>
            </a:r>
            <a:r>
              <a:t>makes it accountable.</a:t>
            </a:r>
          </a:p>
          <a:p>
            <a:r>
              <a:rPr lang="en-GB"/>
              <a:t>So, last time: would you authorise the action?</a:t>
            </a:r>
          </a:p>
          <a:p>
            <a:r>
              <a:rPr lang="en-GB"/>
              <a:t>And the question I'd genuinely like to hear the answer to — which link in </a:t>
            </a:r>
            <a:r>
              <a:t>that chain is </a:t>
            </a:r>
            <a:r>
              <a:rPr lang="en-GB"/>
              <a:t>weakest </a:t>
            </a:r>
            <a:r>
              <a:t>in </a:t>
            </a:r>
            <a:r>
              <a:rPr lang="en-GB"/>
              <a:t>the system </a:t>
            </a:r>
            <a:r>
              <a:t>you're building</a:t>
            </a:r>
            <a:r>
              <a:rPr lang="en-GB"/>
              <a:t> right now?</a:t>
            </a:r>
            <a:endParaRPr/>
          </a:p>
          <a:p>
            <a:r>
              <a:rPr lang="en-GB"/>
              <a:t>We've got a few minutes, so let's take your questions.</a:t>
            </a:r>
          </a:p>
          <a:p>
            <a:r>
              <a:rPr lang="en-GB"/>
              <a:t>If you're wondering why </a:t>
            </a:r>
            <a:r>
              <a:t>four agents</a:t>
            </a:r>
            <a:r>
              <a:rPr lang="en-GB"/>
              <a:t> — that's </a:t>
            </a:r>
            <a:r>
              <a:t>a teaching choice</a:t>
            </a:r>
            <a:r>
              <a:rPr lang="en-GB"/>
              <a:t>, and you should benchmark </a:t>
            </a:r>
            <a:r>
              <a:t>simpler </a:t>
            </a:r>
            <a:r>
              <a:rPr lang="en-GB"/>
              <a:t>options against it</a:t>
            </a:r>
            <a:r>
              <a:t>.</a:t>
            </a:r>
          </a:p>
          <a:p>
            <a:r>
              <a:rPr lang="en-GB"/>
              <a:t>On routing, </a:t>
            </a:r>
            <a:r>
              <a:t>the graph </a:t>
            </a:r>
            <a:r>
              <a:rPr lang="en-GB"/>
              <a:t>that ships </a:t>
            </a:r>
            <a:r>
              <a:t>is fixed</a:t>
            </a:r>
            <a:r>
              <a:rPr lang="en-GB"/>
              <a:t>; routing was a comparison, not a demo.</a:t>
            </a:r>
            <a:endParaRPr/>
          </a:p>
          <a:p>
            <a:r>
              <a:rPr lang="en-GB"/>
              <a:t>And on distributed </a:t>
            </a:r>
            <a:r>
              <a:t>safety</a:t>
            </a:r>
            <a:r>
              <a:rPr lang="en-GB"/>
              <a:t>, I can tell you </a:t>
            </a:r>
            <a:r>
              <a:t>the tests </a:t>
            </a:r>
            <a:r>
              <a:rPr lang="en-GB"/>
              <a:t>and the durable policy you'd need. I'm not claiming to have proved them here.</a:t>
            </a:r>
          </a:p>
          <a:p>
            <a:r>
              <a:rPr lang="en-GB"/>
              <a:t>The repository and all the links are on the final slide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EDITION APPENDIX: outside the timed show.</a:t>
            </a:r>
          </a:p>
          <a:p>
            <a:r>
              <a:t>Original-edition timing and navigation cues below do not apply.</a:t>
            </a:r>
          </a:p>
          <a:p>
            <a:endParaRPr/>
          </a:p>
          <a:p>
            <a:r>
              <a:t>TIME: 1:30-3:00. This diagram is the anchor for the rest of the session.</a:t>
            </a:r>
          </a:p>
          <a:p>
            <a:endParaRPr/>
          </a:p>
          <a:p>
            <a:r>
              <a:t>SAY: "There are two separate paths here. At the top, the browser calls the local</a:t>
            </a:r>
          </a:p>
          <a:p>
            <a:r>
              <a:t>FastAPI application. That application makes real in-memory MCP calls to the server.</a:t>
            </a:r>
          </a:p>
          <a:p>
            <a:r>
              <a:t>The domain layer owns approval validation, inventory changes, replay behavior and</a:t>
            </a:r>
          </a:p>
          <a:p>
            <a:r>
              <a:t>audit. This path demonstrates controls deterministically; it does not invoke an LLM."</a:t>
            </a:r>
          </a:p>
          <a:p>
            <a:endParaRPr/>
          </a:p>
          <a:p>
            <a:r>
              <a:t>POINT: Trace the top lane left to right. The human approval arrives through the</a:t>
            </a:r>
          </a:p>
          <a:p>
            <a:r>
              <a:t>application. The application retains the usable approval token and exposes a local</a:t>
            </a:r>
          </a:p>
          <a:p>
            <a:r>
              <a:t>handle to the UI. A typed approver name is demonstration input, not authenticated identity.</a:t>
            </a:r>
          </a:p>
          <a:p>
            <a:endParaRPr/>
          </a:p>
          <a:p>
            <a:r>
              <a:t>SAY: "Below is the actual agent path. A separate request reaches a Responses host</a:t>
            </a:r>
          </a:p>
          <a:p>
            <a:r>
              <a:t>in Microsoft Foundry. Microsoft Agent Framework runs four agents with a model client.</a:t>
            </a:r>
          </a:p>
          <a:p>
            <a:r>
              <a:t>Their tools call a read-only bridge, which uses an isolated MCP interpreter. The</a:t>
            </a:r>
          </a:p>
          <a:p>
            <a:r>
              <a:t>agents can inspect recall evidence, but they cannot approve or quarantine stock."</a:t>
            </a:r>
          </a:p>
          <a:p>
            <a:endParaRPr/>
          </a:p>
          <a:p>
            <a:r>
              <a:t>OPTIONAL DEPTH: These paths reuse domain code and synthetic fixtures, not a shared</a:t>
            </a:r>
          </a:p>
          <a:p>
            <a:r>
              <a:t>live database. The current Control Tower does not call the hosted workflow. A</a:t>
            </a:r>
          </a:p>
          <a:p>
            <a:r>
              <a:t>deployment of the same code is not evidence that local mutation state appears in</a:t>
            </a:r>
          </a:p>
          <a:p>
            <a:r>
              <a:t>the hosted agent. Wiring a production UI, identity boundary and durable store would</a:t>
            </a:r>
          </a:p>
          <a:p>
            <a:r>
              <a:t>be additional work. The diagram describes logical components, not network segmentation.</a:t>
            </a:r>
          </a:p>
          <a:p>
            <a:endParaRPr/>
          </a:p>
          <a:p>
            <a:r>
              <a:t>HOST, CLIENT, SERVER: An MCP host is the application that owns user interaction and</a:t>
            </a:r>
          </a:p>
          <a:p>
            <a:r>
              <a:t>tool-use policy. A client is its protocol connection/session; a server exposes capabilities.</a:t>
            </a:r>
          </a:p>
          <a:p>
            <a:r>
              <a:t>The model is not the MCP client. In this local path FastAPI owns Client(mcp). The hosted</a:t>
            </a:r>
          </a:p>
          <a:p>
            <a:r>
              <a:t>agent gets explicitly registered Python wrappers, not dynamically discovered MCP tools.</a:t>
            </a:r>
          </a:p>
          <a:p>
            <a:r>
              <a:t>main.py starts mcp_v2_bridge.py with a tool name and JSON argument on the command line;</a:t>
            </a:r>
          </a:p>
          <a:p>
            <a:r>
              <a:t>that child opens Client(mcp) in process and prints JSON back. This outer CLI/JSON adapter</a:t>
            </a:r>
          </a:p>
          <a:p>
            <a:r>
              <a:t>is custom application code, not an MCP transport. The new inspect_mcp.py demonstration</a:t>
            </a:r>
          </a:p>
          <a:p>
            <a:r>
              <a:t>instead launches caldova_mcp.py using StdioServerParameters and genuinely exercises</a:t>
            </a:r>
          </a:p>
          <a:p>
            <a:r>
              <a:t>MCP stdio. Distinguish the three paths when pointing at the diagram.</a:t>
            </a:r>
          </a:p>
          <a:p>
            <a:endParaRPr/>
          </a:p>
          <a:p>
            <a:r>
              <a:t>CAUTION: Do not draw an imaginary UI-to-Foundry integration while narrating. Hosting,</a:t>
            </a:r>
          </a:p>
          <a:p>
            <a:r>
              <a:t>model access, MCP calls and business authorization are separate responsibilities.</a:t>
            </a:r>
          </a:p>
          <a:p>
            <a:r>
              <a:t>Source anchors: control_tower_api.py run_analysis/invoke; main.py build_workflow;</a:t>
            </a:r>
          </a:p>
          <a:p>
            <a:r>
              <a:t>mcp_v2_bridge.py read-tool boundary.</a:t>
            </a:r>
          </a:p>
          <a:p>
            <a:endParaRPr/>
          </a:p>
          <a:p>
            <a:r>
              <a:t>TRANSITION: "MCP is the contract inside both paths. Here is what a well-designed tool exposes."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EDITION APPENDIX: outside the timed show.</a:t>
            </a:r>
          </a:p>
          <a:p>
            <a:r>
              <a:t>Original-edition timing and navigation cues below do not apply.</a:t>
            </a:r>
          </a:p>
          <a:p>
            <a:endParaRPr/>
          </a:p>
          <a:p>
            <a:r>
              <a:t>TECHNICAL APPENDIX: Use after the timed talk, or answer a roles question in 60 seconds.</a:t>
            </a:r>
          </a:p>
          <a:p>
            <a:endParaRPr/>
          </a:p>
          <a:p>
            <a:r>
              <a:t>SAY: "The host is the application that controls the experience and tool-use policy.</a:t>
            </a:r>
          </a:p>
          <a:p>
            <a:r>
              <a:t>It creates a client session to a server. The server exposes capabilities. A model can</a:t>
            </a:r>
          </a:p>
          <a:p>
            <a:r>
              <a:t>propose a tool name and arguments, but application code mediates execution. A scripted</a:t>
            </a:r>
          </a:p>
          <a:p>
            <a:r>
              <a:t>client can use the same server without any model; our terminal demonstration did exactly that."</a:t>
            </a:r>
          </a:p>
          <a:p>
            <a:endParaRPr/>
          </a:p>
          <a:p>
            <a:r>
              <a:t>WALKTHROUGH: Tools are callable operations such as locate_inventory. Resources are</a:t>
            </a:r>
          </a:p>
          <a:p>
            <a:r>
              <a:t>addressable context, typically identified by a URI. Prompts are reusable templates</a:t>
            </a:r>
          </a:p>
          <a:p>
            <a:r>
              <a:t>that a client can retrieve. The recall-document resource and assessment prompt on this</a:t>
            </a:r>
          </a:p>
          <a:p>
            <a:r>
              <a:t>slide are possible extensions, not implemented endpoints. This server demonstrates tools</a:t>
            </a:r>
          </a:p>
          <a:p>
            <a:r>
              <a:t>only. Do not call every returned JSON object an MCP resource or every system instruction</a:t>
            </a:r>
          </a:p>
          <a:p>
            <a:r>
              <a:t>an MCP prompt. Those words also name specific protocol primitives.</a:t>
            </a:r>
          </a:p>
          <a:p>
            <a:endParaRPr/>
          </a:p>
          <a:p>
            <a:r>
              <a:t>WHY MCP INSTEAD OF JUST REST? The value is a common client-facing discovery and invocation</a:t>
            </a:r>
          </a:p>
          <a:p>
            <a:r>
              <a:t>contract, not replacing every business API. A tool handler could call an existing REST</a:t>
            </a:r>
          </a:p>
          <a:p>
            <a:r>
              <a:t>service, SQL query, or domain function. That integration code still exists. MCP may reduce</a:t>
            </a:r>
          </a:p>
          <a:p>
            <a:r>
              <a:t>repeated adapters across compatible clients, but interoperability must be tested, including</a:t>
            </a:r>
          </a:p>
          <a:p>
            <a:r>
              <a:t>capability support, authentication and error behavior. A single application may still be</a:t>
            </a:r>
          </a:p>
          <a:p>
            <a:r>
              <a:t>well served by a direct function call; do not add a server without a reuse or boundary need.</a:t>
            </a:r>
          </a:p>
          <a:p>
            <a:endParaRPr/>
          </a:p>
          <a:p>
            <a:r>
              <a:t>TRANSPORT: Stdio uses a launched process's input/output streams; keep ordinary logs off</a:t>
            </a:r>
          </a:p>
          <a:p>
            <a:r>
              <a:t>protocol stdout. Streamable HTTP is a remote transport with additional authentication and</a:t>
            </a:r>
          </a:p>
          <a:p>
            <a:r>
              <a:t>network considerations. This sample's custom CLI/JSON bridge is neither a generic remote</a:t>
            </a:r>
          </a:p>
          <a:p>
            <a:r>
              <a:t>MCP service nor an MCP stdio connection. Its MCP session runs in process inside the child.</a:t>
            </a:r>
          </a:p>
          <a:p>
            <a:endParaRPr/>
          </a:p>
          <a:p>
            <a:r>
              <a:t>CHECK UNDERSTANDING: Can the same MCP server serve a deterministic test client? Yes.</a:t>
            </a:r>
          </a:p>
          <a:p>
            <a:r>
              <a:t>Does publishing a tool authorize its use? No. Does this sample expose resources or prompts?</a:t>
            </a:r>
          </a:p>
          <a:p>
            <a:r>
              <a:t>No. These distinctions are more useful than memorizing a framework-specific class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EDITION APPENDIX: outside the timed show.</a:t>
            </a:r>
          </a:p>
          <a:p>
            <a:r>
              <a:t>Original-edition timing and navigation cues below do not apply.</a:t>
            </a:r>
          </a:p>
          <a:p>
            <a:endParaRPr/>
          </a:p>
          <a:p>
            <a:r>
              <a:t>TECHNICAL APPENDIX: A line-by-line walkthrough for engineers. Excerpts are shortened</a:t>
            </a:r>
          </a:p>
          <a:p>
            <a:r>
              <a:t>for legibility; use the repository files for runnable code. This SDK syntax matches</a:t>
            </a:r>
          </a:p>
          <a:p>
            <a:r>
              <a:t>the installed MCP v2 environment, not all older examples found online.</a:t>
            </a:r>
          </a:p>
          <a:p>
            <a:endParaRPr/>
          </a:p>
          <a:p>
            <a:r>
              <a:t>SERVER: MCPServer registers capabilities. The decorator exposes one operation and its</a:t>
            </a:r>
          </a:p>
          <a:p>
            <a:r>
              <a:t>metadata. ToolAnnotations reports hints, not enforced permissions. BatchId is an</a:t>
            </a:r>
          </a:p>
          <a:p>
            <a:r>
              <a:t>Annotated string with Pydantic Field constraints: required input, length bounds and a</a:t>
            </a:r>
          </a:p>
          <a:p>
            <a:r>
              <a:t>restricted pattern. The handler delegates to STORE, keeping protocol adaptation separate</a:t>
            </a:r>
          </a:p>
          <a:p>
            <a:r>
              <a:t>from the business computation. That separation lets domain tests run without MCP and</a:t>
            </a:r>
          </a:p>
          <a:p>
            <a:r>
              <a:t>protocol tests exercise the same logic through MCP.</a:t>
            </a:r>
          </a:p>
          <a:p>
            <a:endParaRPr/>
          </a:p>
          <a:p>
            <a:r>
              <a:t>OUTPUT: dict[str, Any] produces a generic object outputSchema in this environment. The</a:t>
            </a:r>
          </a:p>
          <a:p>
            <a:r>
              <a:t>named fields seen in structured_content are actual data, not a strongly enforced DTO.</a:t>
            </a:r>
          </a:p>
          <a:p>
            <a:r>
              <a:t>A production improvement would define a typed inventory result and validate invariants,</a:t>
            </a:r>
          </a:p>
          <a:p>
            <a:r>
              <a:t>such as total_units matching the sum of positions. Do not present that improvement as</a:t>
            </a:r>
          </a:p>
          <a:p>
            <a:r>
              <a:t>already implemented. The output should also be bounded so a large inventory cannot</a:t>
            </a:r>
          </a:p>
          <a:p>
            <a:r>
              <a:t>consume an unbounded model context or response budget.</a:t>
            </a:r>
          </a:p>
          <a:p>
            <a:endParaRPr/>
          </a:p>
          <a:p>
            <a:r>
              <a:t>CLIENT: In inspect_mcp.py, server is StdioServerParameters pointing at caldova_mcp.py</a:t>
            </a:r>
          </a:p>
          <a:p>
            <a:r>
              <a:t>using the current interpreter. Entering the client context starts the session and manages</a:t>
            </a:r>
          </a:p>
          <a:p>
            <a:r>
              <a:t>initialization. list_tools returns metadata; call_tool invokes the named operation with</a:t>
            </a:r>
          </a:p>
          <a:p>
            <a:r>
              <a:t>arguments. structured_content is the Python SDK spelling of wire-level structuredContent.</a:t>
            </a:r>
          </a:p>
          <a:p>
            <a:r>
              <a:t>Leaving the context closes the session. The script adds a 30-second overall bound.</a:t>
            </a:r>
          </a:p>
          <a:p>
            <a:endParaRPr/>
          </a:p>
          <a:p>
            <a:r>
              <a:t>BUILD UP THE EXAMPLE: Start with discovery only. Add one valid inventory call. Finally</a:t>
            </a:r>
          </a:p>
          <a:p>
            <a:r>
              <a:t>add invalid input, a schema-valid denied write, and a read to verify unchanged state.</a:t>
            </a:r>
          </a:p>
          <a:p>
            <a:r>
              <a:t>That progression makes a protocol test explainable without a model. If the downstream</a:t>
            </a:r>
          </a:p>
          <a:p>
            <a:r>
              <a:t>agent answer is wrong after these checks pass, inspect the handoff and synthesis next.</a:t>
            </a:r>
          </a:p>
          <a:p>
            <a:endParaRPr/>
          </a:p>
          <a:p>
            <a:r>
              <a:t>REPRODUCE FROM REPOSITORY ROOT:</a:t>
            </a:r>
          </a:p>
          <a:p>
            <a:r>
              <a:t>./caldova-recall-control/.venv/Scripts/python.exe caldova-recall-control/scripts/inspect_mcp.py</a:t>
            </a:r>
          </a:p>
          <a:p>
            <a:r>
              <a:t>Use .venv/bin/python instead on macOS/Linux. Install requirements-ui.txt first; do not</a:t>
            </a:r>
          </a:p>
          <a:p>
            <a:r>
              <a:t>mix the Foundry hosting dependencies into this MCP v2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EDITION APPENDIX: outside the timed show.</a:t>
            </a:r>
          </a:p>
          <a:p>
            <a:r>
              <a:t>Original-edition timing and navigation cues below do not apply.</a:t>
            </a:r>
          </a:p>
          <a:p>
            <a:endParaRPr/>
          </a:p>
          <a:p>
            <a:r>
              <a:t>TECHNICAL APPENDIX: Use to make the demo's evidence precise and to discuss testing.</a:t>
            </a:r>
          </a:p>
          <a:p>
            <a:endParaRPr/>
          </a:p>
          <a:p>
            <a:r>
              <a:t>ROW 1: inspect_mcp.py sends 'bad batch!', which violates BatchId constraints. In the</a:t>
            </a:r>
          </a:p>
          <a:p>
            <a:r>
              <a:t>installed SDK this returns a tool result with is_error true. The server has understood</a:t>
            </a:r>
          </a:p>
          <a:p>
            <a:r>
              <a:t>the MCP request, but the tool cannot execute with these arguments. Correcting input is</a:t>
            </a:r>
          </a:p>
          <a:p>
            <a:r>
              <a:t>different from retrying a transient outage. We display the observed error flag rather</a:t>
            </a:r>
          </a:p>
          <a:p>
            <a:r>
              <a:t>than depending on an SDK-specific validation message in the live narration.</a:t>
            </a:r>
          </a:p>
          <a:p>
            <a:endParaRPr/>
          </a:p>
          <a:p>
            <a:r>
              <a:t>ROW 2: The script sends a synthetic 16-character hexadecimal credential. It passes the</a:t>
            </a:r>
          </a:p>
          <a:p>
            <a:r>
              <a:t>input shape but has no matching approval in the domain store. The response is isError</a:t>
            </a:r>
          </a:p>
          <a:p>
            <a:r>
              <a:t>true and sanitized text, 'Error executing tool quarantine_batch'. No usable credential</a:t>
            </a:r>
          </a:p>
          <a:p>
            <a:r>
              <a:t>is created or printed. A second read verifies that the failed call left inventory</a:t>
            </a:r>
          </a:p>
          <a:p>
            <a:r>
              <a:t>unchanged. This demonstrates policy enforcement, not verified human authentication.</a:t>
            </a:r>
          </a:p>
          <a:p>
            <a:endParaRPr/>
          </a:p>
          <a:p>
            <a:r>
              <a:t>ROW 3: The optional direct browser-API request supplies an invalid approval handle.</a:t>
            </a:r>
          </a:p>
          <a:p>
            <a:r>
              <a:t>FastAPI rejects it with HTTP 403 before granting access to a valid approval credential.</a:t>
            </a:r>
          </a:p>
          <a:p>
            <a:r>
              <a:t>That status is an application HTTP response, not an MCP JSON-RPC error. Separately,</a:t>
            </a:r>
          </a:p>
          <a:p>
            <a:r>
              <a:t>unknown tools or protocol-level failures may use JSON-RPC error responses. Distinguish</a:t>
            </a:r>
          </a:p>
          <a:p>
            <a:r>
              <a:t>the protocol's two error channels from the HTTP layer and from SDK exception settings.</a:t>
            </a:r>
          </a:p>
          <a:p>
            <a:endParaRPr/>
          </a:p>
          <a:p>
            <a:r>
              <a:t>ROW 4: A valid, factual tool response can still become an incomplete or misleading</a:t>
            </a:r>
          </a:p>
          <a:p>
            <a:r>
              <a:t>brief. Domain tests cannot prove model quality. Evaluate factual coverage, uncertainty,</a:t>
            </a:r>
          </a:p>
          <a:p>
            <a:r>
              <a:t>refusal to claim mutation, and focused-answer behavior against the actual tool evidence.</a:t>
            </a:r>
          </a:p>
          <a:p>
            <a:endParaRPr/>
          </a:p>
          <a:p>
            <a:r>
              <a:t>TEST LADDER: Run domain policy tests, then schema/annotation and in-process MCP tests,</a:t>
            </a:r>
          </a:p>
          <a:p>
            <a:r>
              <a:t>then the stdio test, then API approval/replay tests, and finally hosted integration and</a:t>
            </a:r>
          </a:p>
          <a:p>
            <a:r>
              <a:t>evaluation. A passing local suite is not proof that a cloud model, identity, trace, or</a:t>
            </a:r>
          </a:p>
          <a:p>
            <a:r>
              <a:t>deployment is healthy. The tests live under caldova-recall-control/tests; the relevant</a:t>
            </a:r>
          </a:p>
          <a:p>
            <a:r>
              <a:t>protocol file is test_caldova_mcp.py and the UI contract is test_control_tower_api.py.</a:t>
            </a:r>
          </a:p>
          <a:p>
            <a:endParaRPr/>
          </a:p>
          <a:p>
            <a:r>
              <a:t>REMAINING WORK: Exercise timeout and cancellation cleanup, tool-output prompt injection,</a:t>
            </a:r>
          </a:p>
          <a:p>
            <a:r>
              <a:t>lost-response retries, restarts and replicas. These are follow-up tests or production</a:t>
            </a:r>
          </a:p>
          <a:p>
            <a:r>
              <a:t>requirements, not guarantees demonstrated by this five-minute local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STORY EDITION APPENDIX: outside the timed show.</a:t>
            </a:r>
          </a:p>
          <a:p>
            <a:r>
              <a:t>Original-edition timing and navigation cues below do not apply.</a:t>
            </a:r>
          </a:p>
          <a:p>
            <a:endParaRPr/>
          </a:p>
          <a:p>
            <a:r>
              <a:t>TIME: 18:30-19:30. One-minute outlook, not a second product tour.</a:t>
            </a:r>
          </a:p>
          <a:p>
            <a:endParaRPr/>
          </a:p>
          <a:p>
            <a:r>
              <a:t>SAY: "MCP Live highlights where the ecosystem is expanding. We can turn those topics</a:t>
            </a:r>
          </a:p>
          <a:p>
            <a:r>
              <a:t>into design questions for this workload. As tool access grows, how do we curate what</a:t>
            </a:r>
          </a:p>
          <a:p>
            <a:r>
              <a:t>each workload discovers? For a remote server, which caller is allowed to act? Could</a:t>
            </a:r>
          </a:p>
          <a:p>
            <a:r>
              <a:t>an embedded interface make evidence review clearer? Could a recall event start the</a:t>
            </a:r>
          </a:p>
          <a:p>
            <a:r>
              <a:t>analysis without also authorizing a mutation?"</a:t>
            </a:r>
          </a:p>
          <a:p>
            <a:endParaRPr/>
          </a:p>
          <a:p>
            <a:r>
              <a:t>POINT: Read the questions, not the timestamps. Toolboxes connects to governed tool</a:t>
            </a:r>
          </a:p>
          <a:p>
            <a:r>
              <a:t>access. Authentication connects to caller identity. MCP Apps connects to interactive</a:t>
            </a:r>
          </a:p>
          <a:p>
            <a:r>
              <a:t>evidence review. Event-driven agents connects to initiating work when the business</a:t>
            </a:r>
          </a:p>
          <a:p>
            <a:r>
              <a:t>changes rather than waiting for a chat message. The design principle stays constant:</a:t>
            </a:r>
          </a:p>
          <a:p>
            <a:r>
              <a:t>an improved interface or trigger does not replace server-side authority.</a:t>
            </a:r>
          </a:p>
          <a:p>
            <a:endParaRPr/>
          </a:p>
          <a:p>
            <a:r>
              <a:t>OPTIONAL DEPTH: These are extension ideas, not features of Caldova. An event-triggered</a:t>
            </a:r>
          </a:p>
          <a:p>
            <a:r>
              <a:t>analysis could be useful, but it would still need deduplication, bounded retries,</a:t>
            </a:r>
          </a:p>
          <a:p>
            <a:r>
              <a:t>failure visibility and a human approval boundary. A Teams tab is not an MCP App.</a:t>
            </a:r>
          </a:p>
          <a:p>
            <a:r>
              <a:t>Do not turn this slide into unverified setup guidance or a claim of interoperability.</a:t>
            </a:r>
          </a:p>
          <a:p>
            <a:endParaRPr/>
          </a:p>
          <a:p>
            <a:r>
              <a:t>ATTRIBUTION: Topics are from the published video description, not a full transcript</a:t>
            </a:r>
          </a:p>
          <a:p>
            <a:r>
              <a:t>review. The questions are our engineering interpretation, not speaker quotations.</a:t>
            </a:r>
          </a:p>
          <a:p>
            <a:r>
              <a:t>Toolboxes: Viswajeeet Balaji (Microsoft), https://www.youtube.com/watch?v=uydwDk91Y9Y&amp;t=4823s</a:t>
            </a:r>
          </a:p>
          <a:p>
            <a:r>
              <a:t>Evolution of MCP auth: Den Delimarsky (Anthropic), https://www.youtube.com/watch?v=uydwDk91Y9Y&amp;t=9149s</a:t>
            </a:r>
          </a:p>
          <a:p>
            <a:r>
              <a:t>MCP Apps: Jeremiah Lowin (Prefect), https://www.youtube.com/watch?v=uydwDk91Y9Y&amp;t=12065s</a:t>
            </a:r>
          </a:p>
          <a:p>
            <a:r>
              <a:t>Event-driven agents: Clare Liguori (Amazon), https://www.youtube.com/watch?v=uydwDk91Y9Y&amp;t=13508s</a:t>
            </a:r>
          </a:p>
          <a:p>
            <a:endParaRPr/>
          </a:p>
          <a:p>
            <a:r>
              <a:t>TRANSITION: "Before adding those capabilities, remove the shortcuts that already</a:t>
            </a:r>
          </a:p>
          <a:p>
            <a:r>
              <a:t>prevent a prototype from being reliable."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/>
              <a:t>Everything on this slide is a live link.</a:t>
            </a:r>
          </a:p>
          <a:p>
            <a:r>
              <a:rPr lang="en-GB"/>
              <a:t>The event page, the MCP architecture overview, the tools and lifecycle specifications, </a:t>
            </a:r>
            <a:r>
              <a:t>the </a:t>
            </a:r>
            <a:r>
              <a:rPr lang="en-GB"/>
              <a:t>Agent Framework orchestration patterns, and four timestamped chapters from MCP Live</a:t>
            </a:r>
            <a:r>
              <a:t>.</a:t>
            </a:r>
          </a:p>
          <a:p>
            <a:r>
              <a:rPr lang="en-GB"/>
              <a:t>Go to the specifications </a:t>
            </a:r>
            <a:r>
              <a:t>for </a:t>
            </a:r>
            <a:r>
              <a:rPr lang="en-GB"/>
              <a:t>the </a:t>
            </a:r>
            <a:r>
              <a:t>implementation detail</a:t>
            </a:r>
            <a:r>
              <a:rPr lang="en-GB"/>
              <a:t> rather than relying on my diagram</a:t>
            </a:r>
            <a:r>
              <a:t>.</a:t>
            </a:r>
          </a:p>
          <a:p>
            <a:r>
              <a:rPr lang="en-GB"/>
              <a:t>And do verify the </a:t>
            </a:r>
            <a:r>
              <a:t>API versions and</a:t>
            </a:r>
            <a:r>
              <a:rPr lang="en-GB"/>
              <a:t> the authentication </a:t>
            </a:r>
            <a:r>
              <a:t>requirements when </a:t>
            </a:r>
            <a:r>
              <a:rPr lang="en-GB"/>
              <a:t>you build.</a:t>
            </a:r>
          </a:p>
          <a:p>
            <a:r>
              <a:rPr lang="en-GB"/>
              <a:t>This space moves quickly, and </a:t>
            </a:r>
            <a:r>
              <a:t>a conference diagram</a:t>
            </a:r>
            <a:r>
              <a:rPr lang="en-GB"/>
              <a:t> is not deployment guidance.</a:t>
            </a:r>
          </a:p>
          <a:p>
            <a:r>
              <a:rPr lang="en-GB"/>
              <a:t>Thank you very much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Hidden navigation slide, outside the 25-minute schedule. Select a title to return to its main slide. Browser links do not start servers. Switch to prepared terminal/hosted windows manually; no executable links. Use only genuine saved evidence or explicitly labelled source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CP_DARK">
    <p:bg>
      <p:bgPr>
        <a:solidFill>
          <a:srgbClr val="1E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24E"/>
          </a:solidFill>
          <a:ln w="12700">
            <a:solidFill>
              <a:srgbClr val="1E22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6446520"/>
            <a:ext cx="11365992" cy="0"/>
          </a:xfrm>
          <a:prstGeom prst="line">
            <a:avLst/>
          </a:prstGeom>
          <a:noFill/>
          <a:ln w="13970">
            <a:solidFill>
              <a:srgbClr val="39C6D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75488" y="647395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40">
                <a:solidFill>
                  <a:srgbClr val="7ED9E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 CONNECT · BENGALURU</a:t>
            </a:r>
            <a:endParaRPr lang="en-US" sz="750"/>
          </a:p>
        </p:txBody>
      </p:sp>
      <p:sp>
        <p:nvSpPr>
          <p:cNvPr id="5" name="Text 3"/>
          <p:cNvSpPr/>
          <p:nvPr/>
        </p:nvSpPr>
        <p:spPr>
          <a:xfrm>
            <a:off x="9738360" y="64739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11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SEPTEMBER 2026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77472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ydwDk91Y9Y&amp;t=4823s" TargetMode="External"/><Relationship Id="rId13" Type="http://schemas.openxmlformats.org/officeDocument/2006/relationships/image" Target="../media/image5.png"/><Relationship Id="rId3" Type="http://schemas.openxmlformats.org/officeDocument/2006/relationships/hyperlink" Target="https://globalai.community/e/bd1o37ln" TargetMode="External"/><Relationship Id="rId7" Type="http://schemas.openxmlformats.org/officeDocument/2006/relationships/hyperlink" Target="https://github.com/microsoft/agent-framework/tree/main/python/packages/orchestrations" TargetMode="External"/><Relationship Id="rId12" Type="http://schemas.openxmlformats.org/officeDocument/2006/relationships/hyperlink" Target="https://aka.ms/MCPLiveResource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odelcontextprotocol.io/specification/2025-11-25/basic/lifecycle" TargetMode="External"/><Relationship Id="rId11" Type="http://schemas.openxmlformats.org/officeDocument/2006/relationships/hyperlink" Target="https://www.youtube.com/watch?v=uydwDk91Y9Y&amp;t=13508s" TargetMode="External"/><Relationship Id="rId5" Type="http://schemas.openxmlformats.org/officeDocument/2006/relationships/hyperlink" Target="https://modelcontextprotocol.io/specification/2025-11-25/server/tools" TargetMode="External"/><Relationship Id="rId10" Type="http://schemas.openxmlformats.org/officeDocument/2006/relationships/hyperlink" Target="https://www.youtube.com/watch?v=uydwDk91Y9Y&amp;t=12065s" TargetMode="External"/><Relationship Id="rId4" Type="http://schemas.openxmlformats.org/officeDocument/2006/relationships/hyperlink" Target="https://modelcontextprotocol.io/docs/learn/architecture" TargetMode="External"/><Relationship Id="rId9" Type="http://schemas.openxmlformats.org/officeDocument/2006/relationships/hyperlink" Target="https://www.youtube.com/watch?v=uydwDk91Y9Y&amp;t=9149s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7" Type="http://schemas.openxmlformats.org/officeDocument/2006/relationships/slide" Target="slide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rand_16"/>
          <p:cNvSpPr/>
          <p:nvPr/>
        </p:nvSpPr>
        <p:spPr>
          <a:xfrm>
            <a:off x="10221937" y="-196596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0724857" y="-148132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566928" y="576072"/>
            <a:ext cx="73152" cy="5166360"/>
          </a:xfrm>
          <a:prstGeom prst="rect">
            <a:avLst/>
          </a:prstGeom>
          <a:solidFill>
            <a:srgbClr val="39C6D8"/>
          </a:solidFill>
          <a:ln w="12700">
            <a:solidFill>
              <a:srgbClr val="39C6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850391" y="1234440"/>
            <a:ext cx="8986627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</a:t>
            </a:r>
          </a:p>
        </p:txBody>
      </p:sp>
      <p:sp>
        <p:nvSpPr>
          <p:cNvPr id="24" name="Brand_24"/>
          <p:cNvSpPr/>
          <p:nvPr/>
        </p:nvSpPr>
        <p:spPr>
          <a:xfrm>
            <a:off x="850391" y="2421636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Agent Systems with MCP, Multi-Agent Patterns and Real Work</a:t>
            </a:r>
          </a:p>
        </p:txBody>
      </p:sp>
      <p:sp>
        <p:nvSpPr>
          <p:cNvPr id="25" name="Brand_25"/>
          <p:cNvSpPr/>
          <p:nvPr/>
        </p:nvSpPr>
        <p:spPr>
          <a:xfrm>
            <a:off x="877824" y="347233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40" dirty="0">
                <a:solidFill>
                  <a:srgbClr val="68E1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Lee Stott</a:t>
            </a:r>
          </a:p>
        </p:txBody>
      </p:sp>
      <p:sp>
        <p:nvSpPr>
          <p:cNvPr id="26" name="Brand_26"/>
          <p:cNvSpPr/>
          <p:nvPr/>
        </p:nvSpPr>
        <p:spPr>
          <a:xfrm>
            <a:off x="877824" y="405388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Principal Cloud Advocate,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@lee_stott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Linkedin</a:t>
            </a:r>
            <a:r>
              <a:rPr lang="en-US" sz="1600" dirty="0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/in/</a:t>
            </a:r>
            <a:r>
              <a:rPr lang="en-US" sz="1600" dirty="0" err="1">
                <a:solidFill>
                  <a:srgbClr val="F8FB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leestott</a:t>
            </a:r>
            <a:endParaRPr lang="en-US" sz="1600" dirty="0">
              <a:solidFill>
                <a:srgbClr val="F8FBFF"/>
              </a:solidFill>
              <a:latin typeface="Carlito" pitchFamily="34" charset="0"/>
              <a:ea typeface="Carlito" pitchFamily="34" charset="-122"/>
              <a:cs typeface="Carlito" pitchFamily="34" charset="-120"/>
            </a:endParaRPr>
          </a:p>
        </p:txBody>
      </p:sp>
      <p:sp>
        <p:nvSpPr>
          <p:cNvPr id="27" name="Brand_27"/>
          <p:cNvSpPr/>
          <p:nvPr/>
        </p:nvSpPr>
        <p:spPr>
          <a:xfrm>
            <a:off x="877824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MCP Community Connect Bengaluru</a:t>
            </a:r>
            <a:endParaRPr lang="en-US" sz="1100" dirty="0"/>
          </a:p>
        </p:txBody>
      </p:sp>
      <p:sp>
        <p:nvSpPr>
          <p:cNvPr id="28" name="Brand_28"/>
          <p:cNvSpPr/>
          <p:nvPr/>
        </p:nvSpPr>
        <p:spPr>
          <a:xfrm>
            <a:off x="877824" y="5376672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7D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26 September 2026 | 11:00-11:25 IST</a:t>
            </a:r>
          </a:p>
        </p:txBody>
      </p:sp>
      <p:pic>
        <p:nvPicPr>
          <p:cNvPr id="29" name="Brand_29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30" name="Brand_30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31" name="Brand_31">
            <a:extLst>
              <a:ext uri="{FF2B5EF4-FFF2-40B4-BE49-F238E27FC236}">
                <a16:creationId xmlns:a16="http://schemas.microsoft.com/office/drawing/2014/main" id="{A918BD17-FC34-2986-89DE-2EF3764ACD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292" y="1222189"/>
            <a:ext cx="3590661" cy="35906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_24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PROBLEM | 0:45-2:00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One alert. Four locations. A person accountable.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400" b="1">
                <a:solidFill>
                  <a:srgbClr val="F4C44E"/>
                </a:solidFill>
                <a:latin typeface="Carlito"/>
              </a:defRPr>
            </a:pPr>
            <a:r>
              <a:t>2,196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synthetic units affected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400" b="1">
                <a:solidFill>
                  <a:srgbClr val="68E1E8"/>
                </a:solidFill>
                <a:latin typeface="Carlito"/>
              </a:defRPr>
            </a:pPr>
            <a:r>
              <a:t>4 locations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one batch to assess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400" b="1">
                <a:solidFill>
                  <a:srgbClr val="68E1E8"/>
                </a:solidFill>
                <a:latin typeface="Carlito"/>
              </a:defRPr>
            </a:pPr>
            <a:r>
              <a:t>Asha Rao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must decide whether to approve</a:t>
            </a:r>
          </a:p>
        </p:txBody>
      </p:sp>
      <p:pic>
        <p:nvPicPr>
          <p:cNvPr id="15" name="Picture 14" descr="control-tower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0040" y="1309878"/>
            <a:ext cx="7315200" cy="4749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06240" y="614781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Saved local UI | synthetic data | live results must be checked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" y="5755386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Define success before choosing an agent.</a:t>
            </a:r>
          </a:p>
        </p:txBody>
      </p:sp>
      <p:sp>
        <p:nvSpPr>
          <p:cNvPr id="18" name="TextBox 17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5" name="Brand_25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rand_32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rand_3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Brand_30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rand_29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rand_28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rand_27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DECISION | 2:00-3:00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Give the application a common tool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344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HOST + 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063240"/>
            <a:ext cx="3444240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383280"/>
            <a:ext cx="344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Own the session and tool-use policy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75176" y="3063240"/>
            <a:ext cx="228600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212336" y="299008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212336" y="30632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58640" y="2423160"/>
            <a:ext cx="344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MCP SERVER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58640" y="3063240"/>
            <a:ext cx="3444240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58640" y="3383280"/>
            <a:ext cx="344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Discover tools; validate calls; return evidence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39456" y="3063240"/>
            <a:ext cx="228600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976616" y="299008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976616" y="30632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22920" y="2423160"/>
            <a:ext cx="344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DOMAIN / APIs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122920" y="3063240"/>
            <a:ext cx="3444240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122920" y="3383280"/>
            <a:ext cx="3444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Inventory facts and business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749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AAB7D8"/>
                </a:solidFill>
                <a:latin typeface="Carlito"/>
              </a:defRPr>
            </a:pPr>
            <a:r>
              <a:t>Discover -&gt; call -&gt; structured result | no model required for this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MCP standardises tool access. Your application still owns policy.</a:t>
            </a:r>
          </a:p>
        </p:txBody>
      </p:sp>
      <p:sp>
        <p:nvSpPr>
          <p:cNvPr id="26" name="TextBox 25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33" name="Brand_33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Brand_7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Brand_6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Brand_6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Brand_6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Brand_6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Brand_6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APPLICATION ARCHITECTURE | BEFORE THE DEMONSTRATIONS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One application. Separate reasoning and authority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8E1E8"/>
                </a:solidFill>
                <a:latin typeface="Carlito"/>
              </a:defRPr>
            </a:pPr>
            <a:r>
              <a:t>READ-ONLY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6596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96596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08483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Control 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4963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96596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96596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29584" y="208483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FastAPI host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4963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Hosted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196596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18504" y="208483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Foundry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4963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Agent Framework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96596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61120" y="196596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07424" y="208483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MCP read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7424" y="249631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Synthetic fixtures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971800" y="245059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191256" y="23774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191256" y="245059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60720" y="245059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980176" y="23774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980176" y="245059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49640" y="245059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769096" y="23774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769096" y="245059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3310128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F4C44E"/>
                </a:solidFill>
                <a:latin typeface="Carlito"/>
              </a:defRPr>
            </a:pPr>
            <a:r>
              <a:t>AUTHORISED ACTION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70332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4360" y="370332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0664" y="382219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EasyAuth identity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" y="42336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Verified caller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70332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83280" y="370332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9584" y="382219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Application policy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9584" y="42336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Bound approval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370332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172200" y="370332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18504" y="382219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Domain 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4" y="42336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Quarantine + audit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3703320"/>
            <a:ext cx="2331720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961120" y="3703320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107424" y="3822191"/>
            <a:ext cx="2057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Blob session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4233672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ETag + replay state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2971800" y="418795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191256" y="411480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191256" y="418795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760720" y="418795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80176" y="411480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980176" y="418795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49640" y="418795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769096" y="411480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8769096" y="418795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94360" y="5093208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68E1E8"/>
                </a:solidFill>
                <a:latin typeface="Carlito"/>
              </a:defRPr>
            </a:pPr>
            <a:r>
              <a:t>SEPARATE MCP TERMINAL DEMO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65776"/>
            <a:ext cx="79552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Inspector -&gt; MCP stdio server -&gt; isolated synthetic state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5833872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4C44E"/>
                </a:solidFill>
                <a:latin typeface="Carlito"/>
              </a:defRPr>
            </a:pPr>
            <a:r>
              <a:t>The hosted agent can recommend. Only application policy can authorise and mutate.</a:t>
            </a:r>
          </a:p>
        </p:txBody>
      </p:sp>
      <p:sp>
        <p:nvSpPr>
          <p:cNvPr id="64" name="TextBox 63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71" name="Brand_7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Caldova branded architecture image">
    <p:bg>
      <p:bgPr>
        <a:solidFill>
          <a:srgbClr val="1E22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ldova branded architecture image" descr="Caldova architecture: read-only agent reasoning and separate human-authorized application action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9867" y="-59346"/>
            <a:ext cx="11820719" cy="69105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rand_22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20" name="Brand_2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d_1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01 | SWITCH TO MCP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1140" y="2120900"/>
            <a:ext cx="793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 b="1">
                <a:solidFill>
                  <a:srgbClr val="F8FBFF"/>
                </a:solidFill>
                <a:latin typeface="Carlito"/>
              </a:defRPr>
            </a:pPr>
            <a:r>
              <a:t>Find the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7980"/>
            <a:ext cx="6223000" cy="38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39C6D8"/>
                </a:solidFill>
                <a:latin typeface="Carlito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1325880"/>
            <a:ext cx="1905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800" b="1">
                <a:solidFill>
                  <a:srgbClr val="39C6D8"/>
                </a:solidFill>
                <a:latin typeface="Carlito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774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F8FBFF"/>
                </a:solidFill>
                <a:latin typeface="Carlito"/>
              </a:defRPr>
            </a:pPr>
            <a:r>
              <a:t>Discover the tool, inspect its contract, and verify the inventory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49800"/>
            <a:ext cx="749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NEXT: MCP terminal</a:t>
            </a:r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1" name="Brand_2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rand_23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DEMONSTRATION | 3:00-5:00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Find the stock before asking for a decision.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tools/list: inspect locate_inventory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06324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tools/call: supply the known batch_id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06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206240"/>
            <a:ext cx="8686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Expected: 2,196 units across 4 positions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44068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AAB7D8"/>
                </a:solidFill>
                <a:latin typeface="Carlito"/>
              </a:defRPr>
            </a:pPr>
            <a:r>
              <a:t>Required batch_id | 1-64 characters | uppercase letters, digits, hyphens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A narrow tool turns a vague request into checkable evidence.</a:t>
            </a:r>
          </a:p>
        </p:txBody>
      </p:sp>
      <p:sp>
        <p:nvSpPr>
          <p:cNvPr id="17" name="TextBox 16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4" name="Brand_24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DECISION | 5:00-6:30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Which workflow serves Asha's question?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SEQUENTIAL | demonstrated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Build a brief through explicit specialist handoffs.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SUPERVISOR ROUTING |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Choose a specialist for a variable request; bound loops.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PARALLEL |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Fetch independent evidence; define partial-failure policy.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Choose by dependencies and uncertainty, not by agent count.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rand_22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20" name="Brand_2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d_1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02 | SWITCH TO HOSTED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1140" y="2120900"/>
            <a:ext cx="793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 b="1">
                <a:solidFill>
                  <a:srgbClr val="F8FBFF"/>
                </a:solidFill>
                <a:latin typeface="Carlito"/>
              </a:defRPr>
            </a:pPr>
            <a:r>
              <a:t>Produce the brief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7980"/>
            <a:ext cx="6223000" cy="38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39C6D8"/>
                </a:solidFill>
                <a:latin typeface="Carlito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1325880"/>
            <a:ext cx="1905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800" b="1">
                <a:solidFill>
                  <a:srgbClr val="39C6D8"/>
                </a:solidFill>
                <a:latin typeface="Carlit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774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F8FBFF"/>
                </a:solidFill>
                <a:latin typeface="Carlito"/>
              </a:defRPr>
            </a:pPr>
            <a:r>
              <a:t>Run the read-only agent workflow and retain its response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49800"/>
            <a:ext cx="749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NEXT: Hosted Control Tower</a:t>
            </a:r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1" name="Brand_2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rand_38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rand_37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Brand_36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Brand_35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Brand_3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Brand_33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DEMONSTRATION | 6:30-9:00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Turn tool evidence into a decision brief.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5031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TRIAGE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063240"/>
            <a:ext cx="2503169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383280"/>
            <a:ext cx="250317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Establish the batch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34106" y="3063240"/>
            <a:ext cx="228600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71265" y="2990088"/>
            <a:ext cx="91441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271265" y="3063240"/>
            <a:ext cx="91441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417570" y="2423160"/>
            <a:ext cx="25031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INVENTORY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17570" y="3063240"/>
            <a:ext cx="2503170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17570" y="3383280"/>
            <a:ext cx="250317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Measure exposure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57316" y="3063240"/>
            <a:ext cx="228600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4476" y="299008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94476" y="30632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240780" y="2423160"/>
            <a:ext cx="25031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COMPLIANCE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40780" y="3063240"/>
            <a:ext cx="2503170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40780" y="3383280"/>
            <a:ext cx="250317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Preserve uncertainty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80526" y="3063240"/>
            <a:ext cx="228600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17686" y="299008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917686" y="306324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63990" y="2423160"/>
            <a:ext cx="250317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68E1E8"/>
                </a:solidFill>
                <a:latin typeface="Carlito"/>
              </a:defRPr>
            </a:pPr>
            <a:r>
              <a:t>SUPERVISOR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63990" y="3063240"/>
            <a:ext cx="2503169" cy="0"/>
          </a:xfrm>
          <a:prstGeom prst="line">
            <a:avLst/>
          </a:prstGeom>
          <a:ln w="3810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63990" y="3383280"/>
            <a:ext cx="250317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F8FBFF"/>
                </a:solidFill>
                <a:latin typeface="Carlito"/>
              </a:defRPr>
            </a:pPr>
            <a:r>
              <a:t>Synthesise; no tools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7492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AAB7D8"/>
                </a:solidFill>
                <a:latin typeface="Carlito"/>
              </a:defRPr>
            </a:pPr>
            <a:r>
              <a:t>Microsoft Agent Framework: fixed graph | Microsoft Foundry: hosted execution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Run analysis in the hosted Control Tower; retain the response ID.</a:t>
            </a:r>
          </a:p>
        </p:txBody>
      </p:sp>
      <p:sp>
        <p:nvSpPr>
          <p:cNvPr id="32" name="TextBox 31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39" name="Brand_39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rand_22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20" name="Brand_2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d_1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03 | SWITCH TO MCP TERMINAL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1140" y="2120900"/>
            <a:ext cx="793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 b="1">
                <a:solidFill>
                  <a:srgbClr val="F8FBFF"/>
                </a:solidFill>
                <a:latin typeface="Carlito"/>
              </a:defRPr>
            </a:pPr>
            <a:r>
              <a:t>Investigate a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7980"/>
            <a:ext cx="6223000" cy="38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39C6D8"/>
                </a:solidFill>
                <a:latin typeface="Carlito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1325880"/>
            <a:ext cx="1905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800" b="1">
                <a:solidFill>
                  <a:srgbClr val="39C6D8"/>
                </a:solidFill>
                <a:latin typeface="Carlito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774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F8FBFF"/>
                </a:solidFill>
                <a:latin typeface="Carlito"/>
              </a:defRPr>
            </a:pPr>
            <a:r>
              <a:t>Separate invalid input from denied authority, then inspect unchanged 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49800"/>
            <a:ext cx="749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NEXT: MCP terminal</a:t>
            </a:r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1" name="Brand_2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FAILURE LAB | 9:00-13:00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The request failed. What should happen next?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BAD INPUT | inspect_mcp.py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Observe isError; correct the argument, not the prompt.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NO APPROVAL | inspect_mcp.py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Observe denial; re-read stock to check no mutation.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WRONG BRIEF | diagnostic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Compare tool result, handoff and synthesis in that order.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Fix the layer that owns the failure. Verify the resulting state.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rand_22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20" name="Brand_2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d_1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04 | SWITCH TO HOSTED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1140" y="2120900"/>
            <a:ext cx="793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 b="1">
                <a:solidFill>
                  <a:srgbClr val="F8FBFF"/>
                </a:solidFill>
                <a:latin typeface="Carlito"/>
              </a:defRPr>
            </a:pPr>
            <a:r>
              <a:t>Give authority to the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7980"/>
            <a:ext cx="6223000" cy="38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39C6D8"/>
                </a:solidFill>
                <a:latin typeface="Carlito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1325880"/>
            <a:ext cx="1905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800" b="1">
                <a:solidFill>
                  <a:srgbClr val="39C6D8"/>
                </a:solidFill>
                <a:latin typeface="Carlito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774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F8FBFF"/>
                </a:solidFill>
                <a:latin typeface="Carlito"/>
              </a:defRPr>
            </a:pPr>
            <a:r>
              <a:t>Move from recommendation to an authenticated, application-controlled action.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49800"/>
            <a:ext cx="749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NEXT: Hosted Control Tower</a:t>
            </a:r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1" name="Brand_2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_24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DEMONSTRATION | 13:00-16:00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rPr lang="en-GB" dirty="0"/>
              <a:t>I</a:t>
            </a:r>
            <a:r>
              <a:rPr dirty="0"/>
              <a:t> can approve. The model cannot.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F4C44E"/>
                </a:solidFill>
                <a:latin typeface="Carlito"/>
              </a:defRPr>
            </a:pPr>
            <a:r>
              <a:t>ASSESS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Retained Foundry response; read-only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68E1E8"/>
                </a:solidFill>
                <a:latin typeface="Carlito"/>
              </a:defRPr>
            </a:pPr>
            <a:r>
              <a:t>APPROVE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6576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Authenticated person authorises quarantine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1">
                <a:solidFill>
                  <a:srgbClr val="68E1E8"/>
                </a:solidFill>
                <a:latin typeface="Carlito"/>
              </a:defRPr>
            </a:pPr>
            <a:r>
              <a:t>INSPECT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F8FBFF"/>
                </a:solidFill>
                <a:latin typeface="Carlito"/>
              </a:defRPr>
            </a:pPr>
            <a:r>
              <a:t>Check the operation result and audit</a:t>
            </a:r>
          </a:p>
        </p:txBody>
      </p:sp>
      <p:pic>
        <p:nvPicPr>
          <p:cNvPr id="15" name="Picture 14" descr="control-tower-init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5773921" cy="374903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51960" y="55321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Saved local UI | synthetic data | live results must be checked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Human approval is a server-enforced policy boundary.</a:t>
            </a:r>
          </a:p>
        </p:txBody>
      </p:sp>
      <p:sp>
        <p:nvSpPr>
          <p:cNvPr id="18" name="TextBox 17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5" name="Brand_25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rand_22" descr="/mnt/data/bengaluru_skyline_in_cyan_line_ar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592862" y="5230368"/>
            <a:ext cx="3422315" cy="1143000"/>
          </a:xfrm>
          <a:prstGeom prst="rect">
            <a:avLst/>
          </a:prstGeom>
        </p:spPr>
      </p:pic>
      <p:sp>
        <p:nvSpPr>
          <p:cNvPr id="20" name="Brand_2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rand_1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05 | SWITCH TO HOSTED CONTROL TOWER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71140" y="2120900"/>
            <a:ext cx="79375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3600" b="1">
                <a:solidFill>
                  <a:srgbClr val="F8FBFF"/>
                </a:solidFill>
                <a:latin typeface="Carlito"/>
              </a:defRPr>
            </a:pPr>
            <a:r>
              <a:t>Prove the outcome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7980"/>
            <a:ext cx="6223000" cy="383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39C6D8"/>
                </a:solidFill>
                <a:latin typeface="Carlito"/>
              </a:defRPr>
            </a:pPr>
            <a: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860" y="1325880"/>
            <a:ext cx="19050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7800" b="1">
                <a:solidFill>
                  <a:srgbClr val="39C6D8"/>
                </a:solidFill>
                <a:latin typeface="Carlito"/>
              </a:defRPr>
            </a:pPr>
            <a: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657600"/>
            <a:ext cx="7747000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 b="0">
                <a:solidFill>
                  <a:srgbClr val="F8FBFF"/>
                </a:solidFill>
                <a:latin typeface="Carlito"/>
              </a:defRPr>
            </a:pPr>
            <a:r>
              <a:t>Replay the operation and compare the state change with the audit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4749800"/>
            <a:ext cx="7493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NEXT: Hosted Control Tower</a:t>
            </a:r>
          </a:p>
        </p:txBody>
      </p:sp>
      <p:sp>
        <p:nvSpPr>
          <p:cNvPr id="14" name="TextBox 13">
            <a:hlinkClick r:id="rId4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1" name="Brand_2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EVIDENCE | 16:00-17:00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A retry must not become a second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FIRST AUTHORISED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Expected: 4 positions changed; 2,196 units processed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REPLAY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Expected: 0 additional positions changed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Decision and outcome; no reusable approval token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Measure the business effect, not the confidence of the answer.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PRODUCTION DECISIONS | 17:00-20:00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Now put real users and replicas around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WHO CAN ACT?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Verified caller; scoped approval; least-privilege workload.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WHAT SURVIVES A RETRY?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Atomic mutation + idempotency record; defined expiry.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WHAT SUPPORTS RELEASE?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Traces, evaluations, reviewed tool changes and rollback.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Hosting is a step. Identity, durable state and release evidence are gates.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LESSON | 20:00-21:00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The same decisions apply to your workload.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CHOOSE +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Smallest useful workflow; narrow, bounded tool contracts.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INVESTIGATE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Find the first divergence; separate tool and model quality.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400" b="0">
                <a:solidFill>
                  <a:srgbClr val="F8FBFF"/>
                </a:solidFill>
                <a:latin typeface="Carlito"/>
              </a:defRPr>
            </a:pPr>
            <a:r>
              <a:t>Enforce authority; test denial, retries and state changes.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MCP makes tools accessible. Engineering makes actions accountable.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OUTCOME | 21:00-22:00 | QUESTIONS 22:00-25:00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Would you authorise the action?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915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Where did the answer come from?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297180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94360" y="3154679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39311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Who is allowed to approve?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4251959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4434840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68E1E8"/>
                </a:solidFill>
                <a:latin typeface="Carlito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0">
                <a:solidFill>
                  <a:srgbClr val="F8FBFF"/>
                </a:solidFill>
                <a:latin typeface="Carlito"/>
              </a:defRPr>
            </a:pPr>
            <a:r>
              <a:t>What changed, and what did the retry do?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5532120"/>
            <a:ext cx="1092708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98464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1">
                <a:solidFill>
                  <a:srgbClr val="68E1E8"/>
                </a:solidFill>
                <a:latin typeface="Carlito"/>
              </a:defRPr>
            </a:pPr>
            <a:r>
              <a:t>Choose a workflow. Design its tools. Investigate failures. Control actions.</a:t>
            </a:r>
          </a:p>
        </p:txBody>
      </p:sp>
      <p:sp>
        <p:nvSpPr>
          <p:cNvPr id="19" name="TextBox 18">
            <a:hlinkClick r:id="rId3" action="ppaction://hlinksldjump"/>
          </p:cNvPr>
          <p:cNvSpPr txBox="1"/>
          <p:nvPr/>
        </p:nvSpPr>
        <p:spPr>
          <a:xfrm>
            <a:off x="10149840" y="36576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Brand_68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Brand_67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Brand_66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Brand_65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Brand_64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Brand_63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SOLUTION ARCHITECTURE | TWO SEPARATE EXECUTION PATHS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One domain. Two demos. Explicit boundaries.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8E1E8"/>
                </a:solidFill>
                <a:latin typeface="Carlito"/>
              </a:defRPr>
            </a:pPr>
            <a:r>
              <a:t>01  LOCAL CONTROL PATH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31136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231136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" y="2350008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Control 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276148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Browser + FastAPI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2231136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47288" y="2231136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2350008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MCP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76148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In-memory tool calls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216" y="2231136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0216" y="2231136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2350008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MCP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6148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Typed tool contract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53144" y="2231136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53144" y="2231136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99448" y="2350008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Policy +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276148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Approval / replay / audit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54096" y="2697480"/>
            <a:ext cx="310895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273551" y="262432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273551" y="26974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907024" y="2697480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126480" y="262432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126480" y="26974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759952" y="2697480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79408" y="2624328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79408" y="26974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94360" y="3364992"/>
            <a:ext cx="10972800" cy="338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4C44E"/>
                </a:solidFill>
                <a:latin typeface="Carlito"/>
              </a:defRPr>
            </a:pPr>
            <a:r>
              <a:t>Human approves in the application. No LLM call in this UI path.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89534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68E1E8"/>
                </a:solidFill>
                <a:latin typeface="Carlito"/>
              </a:defRPr>
            </a:pPr>
            <a:r>
              <a:t>02  HOSTED REASONING PATH  |  MICROSOFT FOUNDRY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361688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" y="4361688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0664" y="4480559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Responses host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" y="489204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Separate hosted invocation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47288" y="4361688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447288" y="4361688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593592" y="4480559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Agent Framework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2" y="489204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4 agents + model client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0216" y="4361688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300216" y="4361688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46520" y="4480559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CLI / JSON bridge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489204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Read-only allowlist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53144" y="4361688"/>
            <a:ext cx="24505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53144" y="4361688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99448" y="4480559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In-process MCP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892040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Isolated interpreter + fixtures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54096" y="4828032"/>
            <a:ext cx="310895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273551" y="47548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273551" y="482803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907024" y="482803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6126480" y="47548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6126480" y="482803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759952" y="4828032"/>
            <a:ext cx="310896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979408" y="4754880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8979408" y="482803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94360" y="5760720"/>
            <a:ext cx="10972800" cy="484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0">
                <a:solidFill>
                  <a:srgbClr val="AAB7D8"/>
                </a:solidFill>
                <a:latin typeface="Carlito"/>
              </a:defRPr>
            </a:pPr>
            <a:r>
              <a:t>Shared domain code and synthetic data, not a shared live store or a wired UI-to-agent call.</a:t>
            </a:r>
          </a:p>
        </p:txBody>
      </p:sp>
      <p:sp>
        <p:nvSpPr>
          <p:cNvPr id="69" name="Brand_69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rand_42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Brand_41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Brand_40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Brand_39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Brand_38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Brand_37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TECHNICAL APPENDIX | ROLES +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MCP is a protocol, not the agent's brain.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33649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1993391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HOST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2404872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Application + tool-use policy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33649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5424" y="1993391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04872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Protocol session + requests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74519"/>
            <a:ext cx="3364992" cy="932688"/>
          </a:xfrm>
          <a:prstGeom prst="rect">
            <a:avLst/>
          </a:prstGeom>
          <a:solidFill>
            <a:srgbClr val="15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79" y="1874519"/>
            <a:ext cx="50292" cy="932688"/>
          </a:xfrm>
          <a:prstGeom prst="rect">
            <a:avLst/>
          </a:prstGeom>
          <a:solidFill>
            <a:srgbClr val="68E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3" y="1993391"/>
            <a:ext cx="309067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1">
                <a:solidFill>
                  <a:srgbClr val="F8FBFF"/>
                </a:solidFill>
                <a:latin typeface="Carlito"/>
              </a:defRPr>
            </a:pPr>
            <a:r>
              <a:t>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404872"/>
            <a:ext cx="3090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0">
                <a:solidFill>
                  <a:srgbClr val="AAB7D8"/>
                </a:solidFill>
                <a:latin typeface="Carlito"/>
              </a:defRPr>
            </a:pPr>
            <a:r>
              <a:t>Capabilities + tool handlers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14215" y="2340864"/>
            <a:ext cx="274321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97096" y="226771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197096" y="2340864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08975" y="2340864"/>
            <a:ext cx="274321" cy="0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91856" y="2267712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7991856" y="2340864"/>
            <a:ext cx="91440" cy="73152"/>
          </a:xfrm>
          <a:prstGeom prst="line">
            <a:avLst/>
          </a:prstGeom>
          <a:ln w="22860">
            <a:solidFill>
              <a:srgbClr val="68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94360" y="3355848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F8FBFF"/>
                </a:solidFill>
                <a:latin typeface="Carlito"/>
              </a:defRPr>
            </a:pPr>
            <a:r>
              <a:t>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55848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Callable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55848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t>DEMONSTRATED: inventory lookup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23944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F8FBFF"/>
                </a:solidFill>
                <a:latin typeface="Carlito"/>
              </a:defRPr>
            </a:pPr>
            <a:r>
              <a:t>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123944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Addressable context /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123944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t>NOT EXPOSED: recall document URI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92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300" b="1">
                <a:solidFill>
                  <a:srgbClr val="F8FBFF"/>
                </a:solidFill>
                <a:latin typeface="Carlito"/>
              </a:defRPr>
            </a:pPr>
            <a:r>
              <a:t>Prompts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8920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Reusable interaction templates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4892040"/>
            <a:ext cx="47548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t>NOT EXPOSED: assessment template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700" b="1">
                <a:solidFill>
                  <a:srgbClr val="F4C44E"/>
                </a:solidFill>
                <a:latin typeface="Carlito"/>
              </a:defRPr>
            </a:pPr>
            <a:r>
              <a:t>REST can stay behind the server. MCP standardizes the AI-facing capability interface.</a:t>
            </a:r>
          </a:p>
        </p:txBody>
      </p:sp>
      <p:sp>
        <p:nvSpPr>
          <p:cNvPr id="43" name="Brand_43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rand_21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rand_18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Brand_17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Brand_16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TECHNICAL APPENDIX | REPOSITORY CODE EXCERPTS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Follow one call from Python to MCP and 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>
                <a:solidFill>
                  <a:srgbClr val="68E1E8"/>
                </a:solidFill>
                <a:latin typeface="Carlito"/>
              </a:defRPr>
            </a:pPr>
            <a:r>
              <a:t>SERVER  /  caldova_mcp.py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5440680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0">
                <a:solidFill>
                  <a:srgbClr val="F8FBFF"/>
                </a:solidFill>
                <a:latin typeface="Carlito"/>
              </a:defRPr>
            </a:pPr>
            <a:r>
              <a:t>@mcp.tool(</a:t>
            </a:r>
            <a:br/>
            <a:r>
              <a:t>    title="Locate affected inventory",</a:t>
            </a:r>
            <a:br/>
            <a:r>
              <a:t>    annotations=ToolAnnotations(</a:t>
            </a:r>
            <a:br/>
            <a:r>
              <a:t>        read_only_hint=True,</a:t>
            </a:r>
            <a:br/>
            <a:r>
              <a:t>        open_world_hint=False),</a:t>
            </a:r>
            <a:br/>
            <a:r>
              <a:t>)</a:t>
            </a:r>
            <a:br/>
            <a:r>
              <a:t>def locate_inventory(</a:t>
            </a:r>
            <a:br/>
            <a:r>
              <a:t>    batch_id: BatchId</a:t>
            </a:r>
            <a:br/>
            <a:r>
              <a:t>) -&gt; dict[str, Any]:</a:t>
            </a:r>
            <a:br/>
            <a:r>
              <a:t>    return STORE.locate_inventory(batch_id)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1828800"/>
            <a:ext cx="0" cy="393192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0" y="1828800"/>
            <a:ext cx="516636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900" b="1">
                <a:solidFill>
                  <a:srgbClr val="68E1E8"/>
                </a:solidFill>
                <a:latin typeface="Carlito"/>
              </a:defRPr>
            </a:pPr>
            <a:r>
              <a:t>CLIENT  /  inspect_mcp.py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23160"/>
            <a:ext cx="516636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0">
                <a:solidFill>
                  <a:srgbClr val="F8FBFF"/>
                </a:solidFill>
                <a:latin typeface="Carlito"/>
              </a:defRPr>
            </a:pPr>
            <a:r>
              <a:t>async with Client(server) as client:</a:t>
            </a:r>
            <a:br/>
            <a:r>
              <a:t>    listing = await client.list_tools()</a:t>
            </a:r>
            <a:br/>
            <a:r>
              <a:t>    result = await client.call_tool(</a:t>
            </a:r>
            <a:br/>
            <a:r>
              <a:t>        "locate_inventory",</a:t>
            </a:r>
            <a:br/>
            <a:r>
              <a:t>        {"batch_id": "B-2408-AX7"},</a:t>
            </a:r>
            <a:br/>
            <a:r>
              <a:t>    )</a:t>
            </a:r>
            <a:br/>
            <a:r>
              <a:t>    facts = result.structured_content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074920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AAB7D8"/>
                </a:solidFill>
                <a:latin typeface="Carlito"/>
              </a:defRPr>
            </a:pPr>
            <a:r>
              <a:t>Validate the result and domain invariants.</a:t>
            </a:r>
            <a:br/>
            <a:r>
              <a:t>Do not scrape prose to recover inventory.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053328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400" b="0">
                <a:solidFill>
                  <a:srgbClr val="AAB7D8"/>
                </a:solidFill>
                <a:latin typeface="Carlito"/>
              </a:defRPr>
            </a:pPr>
            <a:r>
              <a:t>Imports, setup and docstring omitted. BatchId supplies the validated input constraints.</a:t>
            </a:r>
          </a:p>
        </p:txBody>
      </p:sp>
      <p:sp>
        <p:nvSpPr>
          <p:cNvPr id="22" name="Brand_22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rand_30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Brand_29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Brand_28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rand_27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rand_26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rand_25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TECHNICAL APPENDIX | TEST THE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Different failures need different responses.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8FBFF"/>
                </a:solidFill>
                <a:latin typeface="Carlito"/>
              </a:defRPr>
            </a:pPr>
            <a:r>
              <a:t>Malformed batch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48840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68E1E8"/>
                </a:solidFill>
                <a:latin typeface="Carlito"/>
              </a:defRPr>
            </a:pPr>
            <a:r>
              <a:t>MCP isError: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48840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Correct input; no blind retry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852928"/>
            <a:ext cx="1097280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94360" y="3026664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8FBFF"/>
                </a:solidFill>
                <a:latin typeface="Carlito"/>
              </a:defRPr>
            </a:pPr>
            <a:r>
              <a:t>Invalid approval credential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026664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68E1E8"/>
                </a:solidFill>
                <a:latin typeface="Carlito"/>
              </a:defRPr>
            </a:pPr>
            <a:r>
              <a:t>MCP isError: true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026664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Require real authority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" y="3730752"/>
            <a:ext cx="1097280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94360" y="3904487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8FBFF"/>
                </a:solidFill>
                <a:latin typeface="Carlito"/>
              </a:defRPr>
            </a:pPr>
            <a:r>
              <a:t>Invalid UI approval handle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904487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68E1E8"/>
                </a:solidFill>
                <a:latin typeface="Carlito"/>
              </a:defRPr>
            </a:pPr>
            <a:r>
              <a:t>HTTP 403 from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904487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Application gate, not MCP RPC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" y="4608575"/>
            <a:ext cx="10972800" cy="0"/>
          </a:xfrm>
          <a:prstGeom prst="line">
            <a:avLst/>
          </a:prstGeom>
          <a:ln w="12700">
            <a:solidFill>
              <a:srgbClr val="39C6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4360" y="4782312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1">
                <a:solidFill>
                  <a:srgbClr val="F8FBFF"/>
                </a:solidFill>
                <a:latin typeface="Carlito"/>
              </a:defRPr>
            </a:pPr>
            <a:r>
              <a:t>Correct facts, wrong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782312"/>
            <a:ext cx="31546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68E1E8"/>
                </a:solidFill>
                <a:latin typeface="Carlito"/>
              </a:defRPr>
            </a:pPr>
            <a:r>
              <a:t>Agent quality failure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782312"/>
            <a:ext cx="35204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Check handoff +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8076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500" b="1">
                <a:solidFill>
                  <a:srgbClr val="F4C44E"/>
                </a:solidFill>
                <a:latin typeface="Carlito"/>
              </a:defRPr>
            </a:pPr>
            <a:r>
              <a:t>Also test: unknown tool / timeout / malicious output / lost response / restart / replicas</a:t>
            </a:r>
          </a:p>
        </p:txBody>
      </p:sp>
      <p:sp>
        <p:nvSpPr>
          <p:cNvPr id="31" name="Brand_31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rand_27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Brand_26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Brand_25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MCP LIVE! | NEXT DESIGN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Extend the experience. Keep the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74519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68E1E8"/>
                </a:solidFill>
                <a:latin typeface="Carlito"/>
              </a:defRPr>
            </a:pPr>
            <a:r>
              <a:t>01:20:23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95144"/>
            <a:ext cx="5120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F8FBFF"/>
                </a:solidFill>
                <a:latin typeface="Carlito"/>
              </a:defRPr>
            </a:pPr>
            <a:r>
              <a:t>Toolboxes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26079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AAB7D8"/>
                </a:solidFill>
                <a:latin typeface="Carlito"/>
              </a:defRPr>
            </a:pPr>
            <a:r>
              <a:t>Which tools should a workload discover?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19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8FBFF"/>
                </a:solidFill>
                <a:latin typeface="Carlito"/>
              </a:defRPr>
            </a:pPr>
            <a:r>
              <a:t>02:32:29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95144"/>
            <a:ext cx="5120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F8FBFF"/>
                </a:solidFill>
                <a:latin typeface="Carlito"/>
              </a:defRPr>
            </a:pPr>
            <a:r>
              <a:t>MCP 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926079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AAB7D8"/>
                </a:solidFill>
                <a:latin typeface="Carlito"/>
              </a:defRPr>
            </a:pPr>
            <a:r>
              <a:t>Which caller may act on this resource?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6791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F4C44E"/>
                </a:solidFill>
                <a:latin typeface="Carlito"/>
              </a:defRPr>
            </a:pPr>
            <a:r>
              <a:t>03:21:05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288536"/>
            <a:ext cx="5120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F8FBFF"/>
                </a:solidFill>
                <a:latin typeface="Carlito"/>
              </a:defRPr>
            </a:pPr>
            <a:r>
              <a:t>MCP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919472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AAB7D8"/>
                </a:solidFill>
                <a:latin typeface="Carlito"/>
              </a:defRPr>
            </a:pPr>
            <a:r>
              <a:t>Can an embedded UI improve evidence review?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67912"/>
            <a:ext cx="5120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200" b="1">
                <a:solidFill>
                  <a:srgbClr val="68E1E8"/>
                </a:solidFill>
                <a:latin typeface="Carlito"/>
              </a:defRPr>
            </a:pPr>
            <a:r>
              <a:t>03:45:08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88536"/>
            <a:ext cx="512064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700" b="1">
                <a:solidFill>
                  <a:srgbClr val="F8FBFF"/>
                </a:solidFill>
                <a:latin typeface="Carlito"/>
              </a:defRPr>
            </a:pPr>
            <a:r>
              <a:t>Event-driven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919472"/>
            <a:ext cx="5247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100" b="0">
                <a:solidFill>
                  <a:srgbClr val="AAB7D8"/>
                </a:solidFill>
                <a:latin typeface="Carlito"/>
              </a:defRPr>
            </a:pPr>
            <a:r>
              <a:t>Can recall arrival trigger analysis, not approval?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6080760"/>
            <a:ext cx="10241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1">
                <a:solidFill>
                  <a:srgbClr val="F4C44E"/>
                </a:solidFill>
                <a:latin typeface="Carlito"/>
              </a:defRPr>
            </a:pPr>
            <a:r>
              <a:t>Extension ideas, not implemented features of this demo.</a:t>
            </a:r>
          </a:p>
        </p:txBody>
      </p:sp>
      <p:sp>
        <p:nvSpPr>
          <p:cNvPr id="28" name="Brand_28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Brand_25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rand_24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APPENDIX | CLICKABLE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Continue exploring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3"/>
              </a:rPr>
              <a:t>MCP Community Connect Bengaluru | event and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85416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4"/>
              </a:rPr>
              <a:t>MCP architecture | clients, servers and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8775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5"/>
              </a:rPr>
              <a:t>MCP tools | schemas, results and errors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9008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6"/>
              </a:rPr>
              <a:t>MCP lifecycle | initialization and capabilities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9242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7"/>
              </a:rPr>
              <a:t>Agent Framework | orchestration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9476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8"/>
              </a:rPr>
              <a:t>MCP Live! | Toolboxes in Microsoft Foundry | 1:20:23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97096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9"/>
              </a:rPr>
              <a:t>MCP Live! | Evolution of MCP auth | 2:32:29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99432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10"/>
              </a:rPr>
              <a:t>MCP Live! | Building MCP Apps | 3:21:05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0176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11"/>
              </a:rPr>
              <a:t>MCP Live! | Event-driven agents | 3:45:08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04104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600" b="0">
                <a:solidFill>
                  <a:srgbClr val="68E1E8"/>
                </a:solidFill>
                <a:latin typeface="Carlito"/>
              </a:defRPr>
            </a:pPr>
            <a:r>
              <a:rPr>
                <a:hlinkClick r:id="rId12"/>
              </a:rPr>
              <a:t>MCP Live! | official resource collection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300" b="0">
                <a:solidFill>
                  <a:srgbClr val="AAB7D8"/>
                </a:solidFill>
                <a:latin typeface="Carlito"/>
              </a:defRPr>
            </a:pPr>
            <a:r>
              <a:t>MCP Live additions are based on its published agenda, not a full transcript review.</a:t>
            </a:r>
          </a:p>
        </p:txBody>
      </p:sp>
      <p:sp>
        <p:nvSpPr>
          <p:cNvPr id="26" name="Brand_26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  <p:pic>
        <p:nvPicPr>
          <p:cNvPr id="2" name="Picture 1" descr="QR Code">
            <a:extLst>
              <a:ext uri="{FF2B5EF4-FFF2-40B4-BE49-F238E27FC236}">
                <a16:creationId xmlns:a16="http://schemas.microsoft.com/office/drawing/2014/main" id="{5E98BE69-9867-436A-4E80-D29485DF2F6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2737" y="1889315"/>
            <a:ext cx="3590925" cy="35909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rand_24"/>
          <p:cNvSpPr/>
          <p:nvPr/>
        </p:nvSpPr>
        <p:spPr>
          <a:xfrm>
            <a:off x="9966960" y="-1143000"/>
            <a:ext cx="3383280" cy="3383280"/>
          </a:xfrm>
          <a:prstGeom prst="ellipse">
            <a:avLst/>
          </a:prstGeom>
          <a:solidFill>
            <a:srgbClr val="1E224E">
              <a:alpha val="0"/>
            </a:srgbClr>
          </a:solidFill>
          <a:ln w="16510">
            <a:solidFill>
              <a:srgbClr val="39C6D8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Brand_23"/>
          <p:cNvSpPr/>
          <p:nvPr/>
        </p:nvSpPr>
        <p:spPr>
          <a:xfrm>
            <a:off x="10469880" y="-658368"/>
            <a:ext cx="2423160" cy="242316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2F78D8">
                <a:alpha val="4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Brand_22"/>
          <p:cNvSpPr/>
          <p:nvPr/>
        </p:nvSpPr>
        <p:spPr>
          <a:xfrm>
            <a:off x="11109960" y="594360"/>
            <a:ext cx="73152" cy="73152"/>
          </a:xfrm>
          <a:prstGeom prst="ellipse">
            <a:avLst/>
          </a:prstGeom>
          <a:solidFill>
            <a:srgbClr val="68E1E8"/>
          </a:solidFill>
          <a:ln w="12700">
            <a:solidFill>
              <a:srgbClr val="68E1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rand_21"/>
          <p:cNvSpPr/>
          <p:nvPr/>
        </p:nvSpPr>
        <p:spPr>
          <a:xfrm>
            <a:off x="11384280" y="850392"/>
            <a:ext cx="45720" cy="45720"/>
          </a:xfrm>
          <a:prstGeom prst="ellipse">
            <a:avLst/>
          </a:prstGeom>
          <a:solidFill>
            <a:srgbClr val="39C6D8"/>
          </a:solidFill>
          <a:ln w="12700">
            <a:solidFill>
              <a:srgbClr val="39C6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Brand_20"/>
          <p:cNvSpPr/>
          <p:nvPr/>
        </p:nvSpPr>
        <p:spPr>
          <a:xfrm>
            <a:off x="11631168" y="1106424"/>
            <a:ext cx="36576" cy="36576"/>
          </a:xfrm>
          <a:prstGeom prst="ellipse">
            <a:avLst/>
          </a:prstGeom>
          <a:solidFill>
            <a:srgbClr val="2F78D8"/>
          </a:solidFill>
          <a:ln w="12700">
            <a:solidFill>
              <a:srgbClr val="2F78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Brand_19"/>
          <p:cNvSpPr/>
          <p:nvPr/>
        </p:nvSpPr>
        <p:spPr>
          <a:xfrm>
            <a:off x="-1371600" y="5166360"/>
            <a:ext cx="2926080" cy="2926080"/>
          </a:xfrm>
          <a:prstGeom prst="ellipse">
            <a:avLst/>
          </a:prstGeom>
          <a:solidFill>
            <a:srgbClr val="1E224E">
              <a:alpha val="0"/>
            </a:srgbClr>
          </a:solidFill>
          <a:ln w="12700">
            <a:solidFill>
              <a:srgbClr val="39C6D8">
                <a:alpha val="2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94360" y="383540"/>
            <a:ext cx="9334500" cy="256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100" b="1">
                <a:solidFill>
                  <a:srgbClr val="68E1E8"/>
                </a:solidFill>
                <a:latin typeface="Carlito"/>
              </a:defRPr>
            </a:pPr>
            <a:r>
              <a:t>PRESENTER NAVIGATION | OUTSIDE TIMED SHOW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420" y="786130"/>
            <a:ext cx="1106424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800" b="1">
                <a:solidFill>
                  <a:srgbClr val="F8FBFF"/>
                </a:solidFill>
                <a:latin typeface="Carlito"/>
              </a:defRPr>
            </a:pPr>
            <a:r>
              <a:t>Demo Index</a:t>
            </a:r>
          </a:p>
        </p:txBody>
      </p:sp>
      <p:sp>
        <p:nvSpPr>
          <p:cNvPr id="9" name="TextBox 8">
            <a:hlinkClick r:id="rId3" action="ppaction://hlinksldjump"/>
          </p:cNvPr>
          <p:cNvSpPr txBox="1"/>
          <p:nvPr/>
        </p:nvSpPr>
        <p:spPr>
          <a:xfrm>
            <a:off x="594360" y="1828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01  Find the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828800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Prepared MCP terminal: discovery and valid read</a:t>
            </a:r>
          </a:p>
        </p:txBody>
      </p:sp>
      <p:sp>
        <p:nvSpPr>
          <p:cNvPr id="11" name="TextBox 10">
            <a:hlinkClick r:id="rId4" action="ppaction://hlinksldjump"/>
          </p:cNvPr>
          <p:cNvSpPr txBox="1"/>
          <p:nvPr/>
        </p:nvSpPr>
        <p:spPr>
          <a:xfrm>
            <a:off x="594360" y="2633472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02  Produce the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633472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Hosted Control Tower: Run analysis; inspect response ID</a:t>
            </a:r>
          </a:p>
        </p:txBody>
      </p:sp>
      <p:sp>
        <p:nvSpPr>
          <p:cNvPr id="13" name="TextBox 12">
            <a:hlinkClick r:id="rId5" action="ppaction://hlinksldjump"/>
          </p:cNvPr>
          <p:cNvSpPr txBox="1"/>
          <p:nvPr/>
        </p:nvSpPr>
        <p:spPr>
          <a:xfrm>
            <a:off x="594360" y="3438144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03  Investigate a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438144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Same MCP terminal: validation, denial, unchanged state</a:t>
            </a:r>
          </a:p>
        </p:txBody>
      </p:sp>
      <p:sp>
        <p:nvSpPr>
          <p:cNvPr id="15" name="TextBox 14">
            <a:hlinkClick r:id="rId6" action="ppaction://hlinksldjump"/>
          </p:cNvPr>
          <p:cNvSpPr txBox="1"/>
          <p:nvPr/>
        </p:nvSpPr>
        <p:spPr>
          <a:xfrm>
            <a:off x="594360" y="4242816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04  Give Authority to the Person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4242816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Same hosted session: authenticated approval and audit</a:t>
            </a:r>
          </a:p>
        </p:txBody>
      </p:sp>
      <p:sp>
        <p:nvSpPr>
          <p:cNvPr id="17" name="TextBox 16">
            <a:hlinkClick r:id="rId7" action="ppaction://hlinksldjump"/>
          </p:cNvPr>
          <p:cNvSpPr txBox="1"/>
          <p:nvPr/>
        </p:nvSpPr>
        <p:spPr>
          <a:xfrm>
            <a:off x="594360" y="5047488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200" b="1">
                <a:solidFill>
                  <a:srgbClr val="68E1E8"/>
                </a:solidFill>
                <a:latin typeface="Carlito"/>
              </a:defRPr>
            </a:pPr>
            <a:r>
              <a:t>05  Prove 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5047488"/>
            <a:ext cx="54864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1800" b="0">
                <a:solidFill>
                  <a:srgbClr val="F8FBFF"/>
                </a:solidFill>
                <a:latin typeface="Carlito"/>
              </a:defRPr>
            </a:pPr>
            <a:r>
              <a:t>Keep browser open: first call and latest replay</a:t>
            </a:r>
          </a:p>
        </p:txBody>
      </p:sp>
      <p:sp>
        <p:nvSpPr>
          <p:cNvPr id="25" name="Brand_25"/>
          <p:cNvSpPr>
            <a:spLocks noGrp="1"/>
          </p:cNvSpPr>
          <p:nvPr>
            <p:ph type="sldNum" sz="quarter" idx="4294967295"/>
          </p:nvPr>
        </p:nvSpPr>
        <p:spPr>
          <a:xfrm>
            <a:off x="11772900" y="6455664"/>
            <a:ext cx="279400" cy="29997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AAB7D8"/>
                </a:solidFill>
                <a:latin typeface="Carlito"/>
                <a:ea typeface="Carlito"/>
                <a:cs typeface="Carlito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68E1E8"/>
      </a:hlink>
      <a:folHlink>
        <a:srgbClr val="AAB7D8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7633</Words>
  <Application>Microsoft Office PowerPoint</Application>
  <PresentationFormat>Widescreen</PresentationFormat>
  <Paragraphs>732</Paragraphs>
  <Slides>26</Slides>
  <Notes>26</Notes>
  <HiddenSlides>6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Carlito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Prototype to Production: Engineering Agent Systems with MCP, Multi-Agent Patterns and Real Work | Story Edition</dc:title>
  <dc:subject>Synthetic recall: problem, decision, demonstration, evidence, lesson</dc:subject>
  <dc:creator>Lee Stott</dc:creator>
  <cp:keywords/>
  <dc:description>generated using python-pptx</dc:description>
  <cp:lastModifiedBy>Lee Stott</cp:lastModifiedBy>
  <cp:revision>10</cp:revision>
  <dcterms:created xsi:type="dcterms:W3CDTF">2013-01-27T09:14:16Z</dcterms:created>
  <dcterms:modified xsi:type="dcterms:W3CDTF">2026-09-26T08:17:31Z</dcterms:modified>
  <cp:category/>
</cp:coreProperties>
</file>