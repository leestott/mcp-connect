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0:00-0:45. Cover slide. Start with the person, not a product definition.</a:t>
            </a:r>
          </a:p>
          <a:p/>
          <a:p>
            <a:r>
              <a:t>SAY: "Asha receives a cold-chain alert. One batch is spread across four locations.</a:t>
            </a:r>
          </a:p>
          <a:p>
            <a:r>
              <a:t>Before she authorises a quarantine, she needs to know where the stock is, what the</a:t>
            </a:r>
          </a:p>
          <a:p>
            <a:r>
              <a:t>supplier constraints are, and whether she can trust the proposed action.</a:t>
            </a:r>
          </a:p>
          <a:p/>
          <a:p>
            <a:r>
              <a:t>A chatbot can give her an answer. Her job needs something harder: a decision she can</a:t>
            </a:r>
          </a:p>
          <a:p>
            <a:r>
              <a:t>defend, an action she can control, and a record she can inspect.</a:t>
            </a:r>
          </a:p>
          <a:p/>
          <a:p>
            <a:r>
              <a:t>This is a fictional recall with synthetic data. We'll use it to explore a real engineering</a:t>
            </a:r>
          </a:p>
          <a:p>
            <a:r>
              <a:t>problem: connecting an agent to a tool is easy. Making the resulting system dependable is not."</a:t>
            </a:r>
          </a:p>
          <a:p/>
          <a:p>
            <a:r>
              <a:t>TRANSITION: "Let's define what success means for Asha before we choose an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0:45-2:00. Problem and acceptance criteria.</a:t>
            </a:r>
          </a:p>
          <a:p/>
          <a:p>
            <a:r>
              <a:t>SAY: "The incident affects two thousand, one hundred and ninety-six units across four</a:t>
            </a:r>
          </a:p>
          <a:p>
            <a:r>
              <a:t>stock positions. That is a fixture value we can check, not a model's estimate.</a:t>
            </a:r>
          </a:p>
          <a:p/>
          <a:p>
            <a:r>
              <a:t>Asha needs three kinds of evidence: recall facts, stock exposure, and supplier constraints.</a:t>
            </a:r>
          </a:p>
          <a:p>
            <a:r>
              <a:t>The outcome is a decision brief, followed by a separately authorised action.</a:t>
            </a:r>
          </a:p>
          <a:p/>
          <a:p>
            <a:r>
              <a:t>Here is our definition of success. The brief preserves the facts and uncertainty. No stock</a:t>
            </a:r>
          </a:p>
          <a:p>
            <a:r>
              <a:t>changes without approval. And if the request is retried, the same positions don't change twice.</a:t>
            </a:r>
          </a:p>
          <a:p/>
          <a:p>
            <a:r>
              <a:t>Notice that we haven't said how many agents we need. Start with the business guarantee.</a:t>
            </a:r>
          </a:p>
          <a:p>
            <a:r>
              <a:t>You can apply exactly this approach to a refund, a cancelled order, or an infrastructure change."</a:t>
            </a:r>
          </a:p>
          <a:p/>
          <a:p>
            <a:r>
              <a:t>ASK: "If the model says 'quarantined', what would you inspect before believing it?"</a:t>
            </a:r>
          </a:p>
          <a:p>
            <a:r>
              <a:t>Pause briefly; take one answer, then return to this question on slide 9.</a:t>
            </a:r>
          </a:p>
          <a:p/>
          <a:p>
            <a:r>
              <a:t>LESSON: An operational outcome needs acceptance criteria beyond a convincing response.</a:t>
            </a:r>
          </a:p>
          <a:p>
            <a:r>
              <a:t>TRANSITION: "First, Asha needs facts from a system outside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2:00-3:00. Decision: a common client-facing tool contract.</a:t>
            </a:r>
          </a:p>
          <a:p/>
          <a:p>
            <a:r>
              <a:t>SAY: "MCP gives compatible applications a common way to discover tools, inspect their</a:t>
            </a:r>
          </a:p>
          <a:p>
            <a:r>
              <a:t>contracts, and call them. Instead of inventing a different agent-facing integration for</a:t>
            </a:r>
          </a:p>
          <a:p>
            <a:r>
              <a:t>every client, we expose a narrow capability through a shared protocol.</a:t>
            </a:r>
          </a:p>
          <a:p/>
          <a:p>
            <a:r>
              <a:t>The host application owns the client session. The server exposes the tool. Behind that</a:t>
            </a:r>
          </a:p>
          <a:p>
            <a:r>
              <a:t>tool, ordinary code can call an API or a domain service. MCP doesn't replace that business</a:t>
            </a:r>
          </a:p>
          <a:p>
            <a:r>
              <a:t>logic, and it doesn't decide which workflow we should run.</a:t>
            </a:r>
          </a:p>
          <a:p/>
          <a:p>
            <a:r>
              <a:t>Agent Framework will coordinate our model-backed workflow. Foundry will host that agent</a:t>
            </a:r>
          </a:p>
          <a:p>
            <a:r>
              <a:t>execution. MCP supplies the tool contract. Each solves a different part of Asha's problem."</a:t>
            </a:r>
          </a:p>
          <a:p/>
          <a:p>
            <a:r>
              <a:t>POINT: Follow the three components. Transport and subprocess details are in appendix 13.</a:t>
            </a:r>
          </a:p>
          <a:p>
            <a:r>
              <a:t>LESSON: Standardise access without confusing access with authority.</a:t>
            </a:r>
          </a:p>
          <a:p>
            <a:r>
              <a:t>TRANSITION: "Let's discover one tool and check its answer without involving a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Immediately before Demo 1. Introduce the application architecture.</a:t>
            </a:r>
          </a:p>
          <a:p/>
          <a:p>
            <a:r>
              <a:t>SAY: "The Control Tower has two deliberately different paths. Across the top, the browser asks the FastAPI host for an assessment. The Foundry-hosted Agent Framework workflow can use only read tools over the application's isolated MCP bridge. It can prepare a recommendation; it cannot approve or quarantine inventory.</a:t>
            </a:r>
          </a:p>
          <a:p/>
          <a:p>
            <a:r>
              <a:t>Across the second lane, EasyAuth supplies the caller identity. Application policy binds approval to that caller, batch, action and session generation. The domain action records the quarantine and audit result, while the actor-scoped Blob session uses optimistic concurrency and retains replay state.</a:t>
            </a:r>
          </a:p>
          <a:p/>
          <a:p>
            <a:r>
              <a:t>Our terminal demonstration is separate again: the inspector talks genuine MCP stdio to an isolated synthetic server. Its state is not the browser session."</a:t>
            </a:r>
          </a:p>
          <a:p/>
          <a:p>
            <a:r>
              <a:t>POINT: Follow each lane left to right. Do not imply that the model grants authority or that the terminal and hosted browser share live state.</a:t>
            </a:r>
          </a:p>
          <a:p>
            <a:r>
              <a:t>TRANSITION: "With those boundaries visible, let's inspect the first tool without a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BREAK 01: Find the stock.</a:t>
            </a:r>
          </a:p>
          <a:p/>
          <a:p>
            <a:r>
              <a:t>ACTION: Switch to the prepared MCP terminal.</a:t>
            </a:r>
          </a:p>
          <a:p>
            <a:r>
              <a:t>PURPOSE: Discover the tool, inspect its contract, and verify the inventory facts.</a:t>
            </a:r>
          </a:p>
          <a:p>
            <a:r>
              <a:t>Do not advance until the demonstration surface is ready. Use the scripted fallback if live evidence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3:00-5:00. Demonstration: connection, discovery, schema, valid read.</a:t>
            </a:r>
          </a:p>
          <a:p/>
          <a:p>
            <a:r>
              <a:t>SAY: "Asha's broad question becomes one narrow tool call: locate inventory for this batch.</a:t>
            </a:r>
          </a:p>
          <a:p>
            <a:r>
              <a:t>Before calling it, we can inspect its input contract. The identifier has a bounded length</a:t>
            </a:r>
          </a:p>
          <a:p>
            <a:r>
              <a:t>and a restricted pattern. The tool is much easier to test than an execute-anything endpoint."</a:t>
            </a:r>
          </a:p>
          <a:p/>
          <a:p>
            <a:r>
              <a:t>ACTION: In a prepared terminal at the repository root, run:</a:t>
            </a:r>
          </a:p>
          <a:p>
            <a:r>
              <a:t>```powershell</a:t>
            </a:r>
          </a:p>
          <a:p>
            <a:r>
              <a:t>Set-Location (git rev-parse --show-toplevel)</a:t>
            </a:r>
          </a:p>
          <a:p>
            <a:r>
              <a:t>./caldova-recall-control/.venv/Scripts/python.exe caldova-recall-control/scripts/inspect_mcp.py</a:t>
            </a:r>
          </a:p>
          <a:p>
            <a:r>
              <a:t>```</a:t>
            </a:r>
          </a:p>
          <a:p>
            <a:r>
              <a:t>The script runs all its checks. Discuss connection/discovery/schema/read output here;</a:t>
            </a:r>
          </a:p>
          <a:p>
            <a:r>
              <a:t>leave its failure output ready to revisit on slide 7. Do not claim the script paused itself.</a:t>
            </a:r>
          </a:p>
          <a:p/>
          <a:p>
            <a:r>
              <a:t>POINT: Actual negotiated version; tools/list; locate_inventory inputSchema; tools/call</a:t>
            </a:r>
          </a:p>
          <a:p>
            <a:r>
              <a:t>arguments; structuredContent. Seven server tools are discovered, but the agent wrappers</a:t>
            </a:r>
          </a:p>
          <a:p>
            <a:r>
              <a:t>expose only three read tools. Discovery is not permission.</a:t>
            </a:r>
          </a:p>
          <a:p/>
          <a:p>
            <a:r>
              <a:t>CHECK: The valid read reports total_units 2196 and locations 4. Inspect positions as well.</a:t>
            </a:r>
          </a:p>
          <a:p>
            <a:r>
              <a:t>Say "Here are the returned facts" only after seeing them. The output schema is generic;</a:t>
            </a:r>
          </a:p>
          <a:p>
            <a:r>
              <a:t>the client checks the inventory facts. A typed result would strengthen the contract.</a:t>
            </a:r>
          </a:p>
          <a:p/>
          <a:p>
            <a:r>
              <a:t>SAY: "No model produced these rows. That's valuable: we can prove the tool contract</a:t>
            </a:r>
          </a:p>
          <a:p>
            <a:r>
              <a:t>independently, then ask whether the agent uses its evidence faithfully."</a:t>
            </a:r>
          </a:p>
          <a:p/>
          <a:p>
            <a:r>
              <a:t>FALLBACK: Show the tool handler and expected fixture, labelled as source evidence. Don't</a:t>
            </a:r>
          </a:p>
          <a:p>
            <a:r>
              <a:t>describe a failed inspection as a passing call. Stop this segment at 5:00.</a:t>
            </a:r>
          </a:p>
          <a:p>
            <a:r>
              <a:t>LESSON: Narrow input, structured output, and explicit checks make integrations testable.</a:t>
            </a:r>
          </a:p>
          <a:p>
            <a:r>
              <a:t>TRANSITION: "Now Asha needs more than stock. How should we coordinate the other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5:00-6:30. Decision comparison; only sequential collaboration is implemented.</a:t>
            </a:r>
          </a:p>
          <a:p/>
          <a:p>
            <a:r>
              <a:t>SAY: "For a full recall brief, this example uses a fixed sequence of specialists. Each</a:t>
            </a:r>
          </a:p>
          <a:p>
            <a:r>
              <a:t>handoff gives us somewhere to inspect what the next step receives.</a:t>
            </a:r>
          </a:p>
          <a:p/>
          <a:p>
            <a:r>
              <a:t>Change the request to 'just check the supplier', and a routing design might choose one</a:t>
            </a:r>
          </a:p>
          <a:p>
            <a:r>
              <a:t>specialist instead. But a router needs bounded choices and a stopping rule. A supervisor</a:t>
            </a:r>
          </a:p>
          <a:p>
            <a:r>
              <a:t>that chooses the next worker is different from one that only writes the final summary.</a:t>
            </a:r>
          </a:p>
          <a:p/>
          <a:p>
            <a:r>
              <a:t>If stock and supplier evidence are independent once we know the batch, parallel reads</a:t>
            </a:r>
          </a:p>
          <a:p>
            <a:r>
              <a:t>may reduce waiting. Then we need to decide what happens when only one source responds.</a:t>
            </a:r>
          </a:p>
          <a:p/>
          <a:p>
            <a:r>
              <a:t>Those are alternatives, not three names for the same thing. Our live example is sequential.</a:t>
            </a:r>
          </a:p>
          <a:p>
            <a:r>
              <a:t>The final agent is a synthesiser, not a dynamic router. More agents aren't automatically better."</a:t>
            </a:r>
          </a:p>
          <a:p/>
          <a:p>
            <a:r>
              <a:t>ASK: "If the only question is the stock count, would you run the entire four-agent sequence?"</a:t>
            </a:r>
          </a:p>
          <a:p>
            <a:r>
              <a:t>Take one response. A direct tool call or smaller workflow may be sufficient.</a:t>
            </a:r>
          </a:p>
          <a:p>
            <a:r>
              <a:t>LESSON: Choose by evidence dependencies, request variation, and failure policy.</a:t>
            </a:r>
          </a:p>
          <a:p>
            <a:r>
              <a:t>TRANSITION: "Let's see what the implemented sequence adds to the raw tool facts."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BREAK 02: Produce the brief.</a:t>
            </a:r>
          </a:p>
          <a:p/>
          <a:p>
            <a:r>
              <a:t>ACTION: Switch to the prepared Hosted Control Tower.</a:t>
            </a:r>
          </a:p>
          <a:p>
            <a:r>
              <a:t>PURPOSE: Run the read-only agent workflow and retain its response evidence.</a:t>
            </a:r>
          </a:p>
          <a:p>
            <a:r>
              <a:t>Do not advance until the demonstration surface is ready. Use the scripted fallback if live evidence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6:30-9:00. Hosted demonstration; hard limit two and a half minutes.</a:t>
            </a:r>
          </a:p>
          <a:p/>
          <a:p>
            <a:r>
              <a:t>SAY: "Triage establishes the batch. Inventory measures exposure. Compliance preserves</a:t>
            </a:r>
          </a:p>
          <a:p>
            <a:r>
              <a:t>supplier constraints and unknowns. The supervisor synthesises the brief without tools.</a:t>
            </a:r>
          </a:p>
          <a:p/>
          <a:p>
            <a:r>
              <a:t>The Control Tower now calls the actual Foundry-hosted agent. Its response is advice,</a:t>
            </a:r>
          </a:p>
          <a:p>
            <a:r>
              <a:t>not authority. We will keep this same session open for the human decision and its outcome."</a:t>
            </a:r>
          </a:p>
          <a:p/>
          <a:p>
            <a:r>
              <a:t>ACTION: Have the hosted Control Tower authenticated before the session. Confirm HOSTED</a:t>
            </a:r>
          </a:p>
          <a:p>
            <a:r>
              <a:t>and FOUNDRY HOSTED AGENT. Reset only your own synthetic scenario before beginning.</a:t>
            </a:r>
          </a:p>
          <a:p>
            <a:r>
              <a:t>Show the deployed agent version and workload identity in the prepared Foundry view, then</a:t>
            </a:r>
          </a:p>
          <a:p>
            <a:r>
              <a:t>select Run analysis in the Control Tower. It sends the fixed B-2408-AX7 assessment request.</a:t>
            </a:r>
          </a:p>
          <a:p>
            <a:r>
              <a:t>Use a pre-started request if rehearsed latency requires it; disclose that it started earlier.</a:t>
            </a:r>
          </a:p>
          <a:p>
            <a:r>
              <a:t>Keep the response ID and request ID visible. A configured model label is not routing evidence.</a:t>
            </a:r>
          </a:p>
          <a:p/>
          <a:p>
            <a:r>
              <a:t>CHECK: Actual response preserves 2196 units and four locations, supplier uncertainty, and</a:t>
            </a:r>
          </a:p>
          <a:p>
            <a:r>
              <a:t>required human action. Compare one real tool result with the final brief. Identify a matching</a:t>
            </a:r>
          </a:p>
          <a:p>
            <a:r>
              <a:t>trace only if available. Don't invent trace spans or a successful final answer.</a:t>
            </a:r>
          </a:p>
          <a:p/>
          <a:p>
            <a:r>
              <a:t>SAY: "The value here isn't four agents talking. It's a brief grounded in separate evidence,</a:t>
            </a:r>
          </a:p>
          <a:p>
            <a:r>
              <a:t>with the uncertainty still visible when Asha makes her decision."</a:t>
            </a:r>
          </a:p>
          <a:p/>
          <a:p>
            <a:r>
              <a:t>FALLBACK: After 30 seconds without useful output, show genuine saved evidence with date</a:t>
            </a:r>
          </a:p>
          <a:p>
            <a:r>
              <a:t>and version, or build_agents and build_workflow as an explicitly labelled source walkthrough.</a:t>
            </a:r>
          </a:p>
          <a:p>
            <a:r>
              <a:t>No successful hosted execution claim in a source-only fallback. End at 9:00 regardless.</a:t>
            </a:r>
          </a:p>
          <a:p>
            <a:r>
              <a:t>LESSON: Evaluate evidence preservation, not just fluent prose.</a:t>
            </a:r>
          </a:p>
          <a:p>
            <a:r>
              <a:t>TRANSITION: "What happens when the evidence doesn't arrive cleanly?"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BREAK 03: Investigate a failure.</a:t>
            </a:r>
          </a:p>
          <a:p/>
          <a:p>
            <a:r>
              <a:t>ACTION: Switch to the prepared MCP terminal.</a:t>
            </a:r>
          </a:p>
          <a:p>
            <a:r>
              <a:t>PURPOSE: Separate invalid input from denied authority, then inspect unchanged state.</a:t>
            </a:r>
          </a:p>
          <a:p>
            <a:r>
              <a:t>Do not advance until the demonstration surface is ready. Use the scripted fallback if live evidence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9:00-13:00. Demonstration and audience prediction. Use observed terminal failures.</a:t>
            </a:r>
          </a:p>
          <a:p/>
          <a:p>
            <a:r>
              <a:t>SAY: "Asha can't act on an unexplained failure. But retrying everything isn't a recovery</a:t>
            </a:r>
          </a:p>
          <a:p>
            <a:r>
              <a:t>strategy. We need to know which layer rejected the request and whether anything changed."</a:t>
            </a:r>
          </a:p>
          <a:p/>
          <a:p>
            <a:r>
              <a:t>ACTION: Return to the inspection output from slide 4. Locate its malformed batch request.</a:t>
            </a:r>
          </a:p>
          <a:p>
            <a:r>
              <a:t>Show the actual argument and isError result, not just a screenshot of an error banner.</a:t>
            </a:r>
          </a:p>
          <a:p/>
          <a:p>
            <a:r>
              <a:t>ASK: "Would changing the prompt fix this input?"</a:t>
            </a:r>
          </a:p>
          <a:p>
            <a:r>
              <a:t>SAY: "The tool was called with an invalid identifier. Correct the argument and validate</a:t>
            </a:r>
          </a:p>
          <a:p>
            <a:r>
              <a:t>the corrected read. This isn't evidence that the model needs a more forceful instruction."</a:t>
            </a:r>
          </a:p>
          <a:p/>
          <a:p>
            <a:r>
              <a:t>ACTION: Contrast the malformed request with the earlier valid read. If repeating the script,</a:t>
            </a:r>
          </a:p>
          <a:p>
            <a:r>
              <a:t>state that it creates a new isolated server; it is not continuing the previous process state.</a:t>
            </a:r>
          </a:p>
          <a:p/>
          <a:p>
            <a:r>
              <a:t>ACTION: Show the schema-valid quarantine request with an invalid approval credential.</a:t>
            </a:r>
          </a:p>
          <a:p>
            <a:r>
              <a:t>ASK: "The credential has the right shape. Should the action succeed?"</a:t>
            </a:r>
          </a:p>
          <a:p>
            <a:r>
              <a:t>Pause, then reveal the policy denial and the follow-up read proving unchanged inventory</a:t>
            </a:r>
          </a:p>
          <a:p>
            <a:r>
              <a:t>within that inspection run. No usable approval credential is created by this test.</a:t>
            </a:r>
          </a:p>
          <a:p/>
          <a:p>
            <a:r>
              <a:t>SAY: "That is a different failure. The input shape is acceptable, but the operation lacks</a:t>
            </a:r>
          </a:p>
          <a:p>
            <a:r>
              <a:t>authority. A retry with the same invalid approval should not turn into a successful write.</a:t>
            </a:r>
          </a:p>
          <a:p/>
          <a:p>
            <a:r>
              <a:t>Now suppose the inventory result is correct but the final brief is wrong. That's a</a:t>
            </a:r>
          </a:p>
          <a:p>
            <a:r>
              <a:t>diagnostic comparison, not an incident we're pretending happened today. Check the handoff</a:t>
            </a:r>
          </a:p>
          <a:p>
            <a:r>
              <a:t>and synthesis after checking the tool. Start with the first divergence."</a:t>
            </a:r>
          </a:p>
          <a:p/>
          <a:p>
            <a:r>
              <a:t>POINT: If slide 6 produced a real matching trace, compare one input, result and final claim.</a:t>
            </a:r>
          </a:p>
          <a:p>
            <a:r>
              <a:t>Otherwise stay with observed terminal evidence and explain the debugging order. Timeouts,</a:t>
            </a:r>
          </a:p>
          <a:p>
            <a:r>
              <a:t>lost responses and cross-replica recovery are production test requirements, not shown here.</a:t>
            </a:r>
          </a:p>
          <a:p/>
          <a:p>
            <a:r>
              <a:t>CHECK: Distinguish MCP isError from a browser API HTTP status and an SDK exception.</a:t>
            </a:r>
          </a:p>
          <a:p>
            <a:r>
              <a:t>Log names, sanitised arguments, outcomes and duration; never reusable approval credentials.</a:t>
            </a:r>
          </a:p>
          <a:p>
            <a:r>
              <a:t>FALLBACK: Use script source and test assertions, labelled "expected behaviour, not a live pass".</a:t>
            </a:r>
          </a:p>
          <a:p>
            <a:r>
              <a:t>LESSON: Classify the failure, fix the owning layer, and inspect the state afterwards.</a:t>
            </a:r>
          </a:p>
          <a:p>
            <a:r>
              <a:t>TRANSITION: "The brief is a recommendation. Asha still owns the decision to 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BREAK 04: Give authority to the person.</a:t>
            </a:r>
          </a:p>
          <a:p/>
          <a:p>
            <a:r>
              <a:t>ACTION: Switch to the prepared Hosted Control Tower.</a:t>
            </a:r>
          </a:p>
          <a:p>
            <a:r>
              <a:t>PURPOSE: Move from recommendation to an authenticated, application-controlled action.</a:t>
            </a:r>
          </a:p>
          <a:p>
            <a:r>
              <a:t>Do not advance until the demonstration surface is ready. Use the scripted fallback if live evidence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13:00-16:00. Authenticated controls following the live hosted assessment.</a:t>
            </a:r>
          </a:p>
          <a:p/>
          <a:p>
            <a:r>
              <a:t>SAY: "We return to the same hosted Control Tower session and the brief we just received.</a:t>
            </a:r>
          </a:p>
          <a:p>
            <a:r>
              <a:t>Now we're testing authority and state, not asking the model to approve its own advice.</a:t>
            </a:r>
          </a:p>
          <a:p/>
          <a:p>
            <a:r>
              <a:t>The model-facing tools are read-only. Asha's approval belongs to the application policy,</a:t>
            </a:r>
          </a:p>
          <a:p>
            <a:r>
              <a:t>not to another model vote. A disabled button alone would not enforce that policy."</a:t>
            </a:r>
          </a:p>
          <a:p/>
          <a:p>
            <a:r>
              <a:t>ACTION: Return to the same hosted tab, without resetting or starting another assessment.</a:t>
            </a:r>
          </a:p>
          <a:p>
            <a:r>
              <a:t>Verify the real response ID and available inventory. Select Approve quarantine. Inspect</a:t>
            </a:r>
          </a:p>
          <a:p>
            <a:r>
              <a:t>the read-only Authenticated approver field: this is the signed-in presenter, not fictional Asha.</a:t>
            </a:r>
          </a:p>
          <a:p>
            <a:r>
              <a:t>Submission approves and quarantines; there is no second action button. Keep credentials</a:t>
            </a:r>
          </a:p>
          <a:p>
            <a:r>
              <a:t>off-screen. The terminal denial on slide 7 proves its own policy path, not deployed EasyAuth.</a:t>
            </a:r>
          </a:p>
          <a:p/>
          <a:p>
            <a:r>
              <a:t>CHECK: Under Quarantine evidence, First authorised call reports four positions changed</a:t>
            </a:r>
          </a:p>
          <a:p>
            <a:r>
              <a:t>and 2196 units processed. Latest replay is Not recorded until observed. Inspect the audit.</a:t>
            </a:r>
          </a:p>
          <a:p>
            <a:r>
              <a:t>If the counts differ, diagnose or use the fallback; don't narrate expected success.</a:t>
            </a:r>
          </a:p>
          <a:p/>
          <a:p>
            <a:r>
              <a:t>SAY: "The important transition is from recommendation to an authorised operation.</a:t>
            </a:r>
          </a:p>
          <a:p>
            <a:r>
              <a:t>The application checks permission even when a caller bypasses the normal interface."</a:t>
            </a:r>
          </a:p>
          <a:p/>
          <a:p>
            <a:r>
              <a:t>FALLBACK: Use the saved view only as illustration, with the expected transition stated</a:t>
            </a:r>
          </a:p>
          <a:p>
            <a:r>
              <a:t>explicitly. Do not claim today's operation passed. End by 16:00.</a:t>
            </a:r>
          </a:p>
          <a:p>
            <a:r>
              <a:t>LESSON: Approval is an enforceable action policy, not a persuasive sentence.</a:t>
            </a:r>
          </a:p>
          <a:p>
            <a:r>
              <a:t>TRANSITION: "But what if Asha presses again, or the first response never reaches 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BREAK 05: Prove the outcome.</a:t>
            </a:r>
          </a:p>
          <a:p/>
          <a:p>
            <a:r>
              <a:t>ACTION: Switch to the prepared Hosted Control Tower.</a:t>
            </a:r>
          </a:p>
          <a:p>
            <a:r>
              <a:t>PURPOSE: Replay the operation and compare the state change with the audit evidence.</a:t>
            </a:r>
          </a:p>
          <a:p>
            <a:r>
              <a:t>Do not advance until the demonstration surface is ready. Use the scripted fallback if live evidence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16:00-17:00. Evidence: replay and audit.</a:t>
            </a:r>
          </a:p>
          <a:p/>
          <a:p>
            <a:r>
              <a:t>ACTION: Keep the same hosted browser tab open. Select Replay</a:t>
            </a:r>
          </a:p>
          <a:p>
            <a:r>
              <a:t>quarantine after a successful first operation. Compare First authorised call with Latest</a:t>
            </a:r>
          </a:p>
          <a:p>
            <a:r>
              <a:t>replay in Quarantine evidence. The latter must report zero positions changed. Both may</a:t>
            </a:r>
          </a:p>
          <a:p>
            <a:r>
              <a:t>report 2196 units processed: this count covers the batch, not additional changes. Don't</a:t>
            </a:r>
          </a:p>
          <a:p>
            <a:r>
              <a:t>infer success from a badge. Refresh and check the same brief and response ID alongside both</a:t>
            </a:r>
          </a:p>
          <a:p>
            <a:r>
              <a:t>results. Hosted evidence is stored in the actor's Blob session; comparison clears on reset,</a:t>
            </a:r>
          </a:p>
          <a:p>
            <a:r>
              <a:t>while earlier audit records remain. This rehearsal does not test replica failover.</a:t>
            </a:r>
          </a:p>
          <a:p/>
          <a:p>
            <a:r>
              <a:t>SAY: "Asha needs to know what happened, not merely that the screen looks finished.</a:t>
            </a:r>
          </a:p>
          <a:p>
            <a:r>
              <a:t>The first operation changed the positions. The repeated call should change no additional</a:t>
            </a:r>
          </a:p>
          <a:p>
            <a:r>
              <a:t>positions. That's the business effect we check.</a:t>
            </a:r>
          </a:p>
          <a:p/>
          <a:p>
            <a:r>
              <a:t>Different response counts can be correct: they describe new changes. This demonstrates</a:t>
            </a:r>
          </a:p>
          <a:p>
            <a:r>
              <a:t>replay and refresh for this hosted session, not every restart or cross-replica failure mode."</a:t>
            </a:r>
          </a:p>
          <a:p/>
          <a:p>
            <a:r>
              <a:t>CHECK: First mutation, zero additional mutation, audit without a reusable token.</a:t>
            </a:r>
          </a:p>
          <a:p>
            <a:r>
              <a:t>FALLBACK: If the first action failed, don't attempt to present a replay as proof. Explain</a:t>
            </a:r>
          </a:p>
          <a:p>
            <a:r>
              <a:t>the acceptance criterion using the slide's explicitly labelled expected results.</a:t>
            </a:r>
          </a:p>
          <a:p>
            <a:r>
              <a:t>LESSON: Check state transitions and replay effects independently of generated prose.</a:t>
            </a:r>
          </a:p>
          <a:p>
            <a:r>
              <a:t>TRANSITION: "Let's add the conditions a real operation would face."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17:00-20:00. Three design decisions, each tied to Asha's incident.</a:t>
            </a:r>
          </a:p>
          <a:p/>
          <a:p>
            <a:r>
              <a:t>SAY: "First, who is Asha? Our hosted demo uses the presenter's authenticated identity.</a:t>
            </a:r>
          </a:p>
          <a:p>
            <a:r>
              <a:t>Production needs appropriate permission for each batch and action, not just a demo allowlist.</a:t>
            </a:r>
          </a:p>
          <a:p>
            <a:r>
              <a:t>The workload also needs least-privilege</a:t>
            </a:r>
          </a:p>
          <a:p>
            <a:r>
              <a:t>access. The person who deployed the service isn't necessarily its runtime identity.</a:t>
            </a:r>
          </a:p>
          <a:p/>
          <a:p>
            <a:r>
              <a:t>Second, what survives a retry? Suppose the stock change commits but the response is lost.</a:t>
            </a:r>
          </a:p>
          <a:p>
            <a:r>
              <a:t>Another replica receives the retry. The mutation and the idempotency record must be</a:t>
            </a:r>
          </a:p>
          <a:p>
            <a:r>
              <a:t>coordinated atomically. Approval scope, expiry, retention and invalidation need explicit rules.</a:t>
            </a:r>
          </a:p>
          <a:p/>
          <a:p>
            <a:r>
              <a:t>Third, what supports release? We need a versioned evidence set: tool tests, policy tests,</a:t>
            </a:r>
          </a:p>
          <a:p>
            <a:r>
              <a:t>model evaluations, observed failures, and an available rollback. Hosting the process doesn't</a:t>
            </a:r>
          </a:p>
          <a:p>
            <a:r>
              <a:t>establish those guarantees for us."</a:t>
            </a:r>
          </a:p>
          <a:p/>
          <a:p>
            <a:r>
              <a:t>ASK: "Which test would catch the lost-response problem: a prompt evaluation or a state-and-retry test?"</a:t>
            </a:r>
          </a:p>
          <a:p>
            <a:r>
              <a:t>Pause and connect the answer to the right ownership boundary.</a:t>
            </a:r>
          </a:p>
          <a:p/>
          <a:p>
            <a:r>
              <a:t>SAY: "The implementation lessons are practical. Incompatible runtime dependencies required</a:t>
            </a:r>
          </a:p>
          <a:p>
            <a:r>
              <a:t>an isolated bridge. Child processes need bounded concurrency, timeouts and cleanup.</a:t>
            </a:r>
          </a:p>
          <a:p>
            <a:r>
              <a:t>Requests need isolated workflow state. A fluent brief still needs factual evaluation.</a:t>
            </a:r>
          </a:p>
          <a:p/>
          <a:p>
            <a:r>
              <a:t>Those mechanisms can be inspected in source. Calling them production-ready requires</a:t>
            </a:r>
          </a:p>
          <a:p>
            <a:r>
              <a:t>failure and integration evidence, not just their presence in code.</a:t>
            </a:r>
          </a:p>
          <a:p/>
          <a:p>
            <a:r>
              <a:t>Governance is equally concrete. If someone changes a tool from read-only to destructive,</a:t>
            </a:r>
          </a:p>
          <a:p>
            <a:r>
              <a:t>who reviews its permissions and tests? If external tool text contains instructions, which</a:t>
            </a:r>
          </a:p>
          <a:p>
            <a:r>
              <a:t>boundary keeps it from becoming authority? If an evaluation regresses, who stops release?"</a:t>
            </a:r>
          </a:p>
          <a:p/>
          <a:p>
            <a:r>
              <a:t>POINT: This is a production gate checklist, not a claim of current deployed authentication,</a:t>
            </a:r>
          </a:p>
          <a:p>
            <a:r>
              <a:t>durable transaction safety, passing hosted evaluation, or observed replica recovery.</a:t>
            </a:r>
          </a:p>
          <a:p>
            <a:r>
              <a:t>Keep detailed bridge, identity and transport explanation in the hidden appendices.</a:t>
            </a:r>
          </a:p>
          <a:p>
            <a:r>
              <a:t>LESSON: Treat security, observability and governance as testable engineering decisions.</a:t>
            </a:r>
          </a:p>
          <a:p>
            <a:r>
              <a:t>TRANSITION: "Now translate those decisions from Asha's workload to yours."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20:00-21:00. Reusable lessons, not a tour of the repository.</a:t>
            </a:r>
          </a:p>
          <a:p/>
          <a:p>
            <a:r>
              <a:t>SAY: "For your next workflow, start with five questions. What outcome must be correct?</a:t>
            </a:r>
          </a:p>
          <a:p>
            <a:r>
              <a:t>What is the smallest workflow that can produce it? Which narrow tools expose the evidence?</a:t>
            </a:r>
          </a:p>
          <a:p>
            <a:r>
              <a:t>Where will you look when the result diverges? And which policy controls the action?</a:t>
            </a:r>
          </a:p>
          <a:p/>
          <a:p>
            <a:r>
              <a:t>We used a recall, but a refund follows the same logic. Find the order, gather eligibility</a:t>
            </a:r>
          </a:p>
          <a:p>
            <a:r>
              <a:t>evidence, prepare the recommendation, authorise the refund, and prove a retry won't pay twice.</a:t>
            </a:r>
          </a:p>
          <a:p/>
          <a:p>
            <a:r>
              <a:t>MCP supplies a common tool contract. It doesn't remove those engineering decisions.</a:t>
            </a:r>
          </a:p>
          <a:p>
            <a:r>
              <a:t>What it gives us is a clearer place to make and test them."</a:t>
            </a:r>
          </a:p>
          <a:p/>
          <a:p>
            <a:r>
              <a:t>ACTION: Stop any unfinished demonstration at 21:00. No ecosystem detour; that is appendix 17.</a:t>
            </a:r>
          </a:p>
          <a:p>
            <a:r>
              <a:t>LESSON: Transfer the decisions, not just the sample's component names.</a:t>
            </a:r>
          </a:p>
          <a:p>
            <a:r>
              <a:t>TRANSITION: "Let's return to the question Asha started with."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21:00-22:00 closing; 22:00-25:00 audience questions. Protect the question slot.</a:t>
            </a:r>
          </a:p>
          <a:p/>
          <a:p>
            <a:r>
              <a:t>SAY: "Asha needs facts she can inspect, authority she can exercise, and an outcome she</a:t>
            </a:r>
          </a:p>
          <a:p>
            <a:r>
              <a:t>can verify. Our job is to preserve that chain when tools fail, models omit evidence, and</a:t>
            </a:r>
          </a:p>
          <a:p>
            <a:r>
              <a:t>requests get retried.</a:t>
            </a:r>
          </a:p>
          <a:p/>
          <a:p>
            <a:r>
              <a:t>You should now be able to choose a workflow, design its tools, investigate a failure,</a:t>
            </a:r>
          </a:p>
          <a:p>
            <a:r>
              <a:t>and control its actions. Not because one framework makes everything safe, but because</a:t>
            </a:r>
          </a:p>
          <a:p>
            <a:r>
              <a:t>we've made the responsibilities explicit.</a:t>
            </a:r>
          </a:p>
          <a:p/>
          <a:p>
            <a:r>
              <a:t>The model makes the system capable. Engineering makes it accountable.</a:t>
            </a:r>
          </a:p>
          <a:p/>
          <a:p>
            <a:r>
              <a:t>What part of that chain is hardest in the system you're building?"</a:t>
            </a:r>
          </a:p>
          <a:p/>
          <a:p>
            <a:r>
              <a:t>ACTION: Take actual audience questions. Do not read prepared questions as an audience transcript.</a:t>
            </a:r>
          </a:p>
          <a:p>
            <a:r>
              <a:t>If asked why four agents: a teaching/design choice; compare simpler alternatives empirically.</a:t>
            </a:r>
          </a:p>
          <a:p>
            <a:r>
              <a:t>If asked about routing: the implemented graph is fixed; routing was a comparison.</a:t>
            </a:r>
          </a:p>
          <a:p>
            <a:r>
              <a:t>If asked about integration: local controls and hosted reasoning are separate execution paths.</a:t>
            </a:r>
          </a:p>
          <a:p>
            <a:r>
              <a:t>If asked about distributed safety: identify the tests and durable policy required; no live proof claimed.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EDITION APPENDIX: outside the timed show.</a:t>
            </a:r>
          </a:p>
          <a:p>
            <a:r>
              <a:t>Original-edition timing and navigation cues below do not apply.</a:t>
            </a:r>
          </a:p>
          <a:p/>
          <a:p>
            <a:r>
              <a:t>TIME: 1:30-3:00. This diagram is the anchor for the rest of the session.</a:t>
            </a:r>
          </a:p>
          <a:p/>
          <a:p>
            <a:r>
              <a:t>SAY: "There are two separate paths here. At the top, the browser calls the local</a:t>
            </a:r>
          </a:p>
          <a:p>
            <a:r>
              <a:t>FastAPI application. That application makes real in-memory MCP calls to the server.</a:t>
            </a:r>
          </a:p>
          <a:p>
            <a:r>
              <a:t>The domain layer owns approval validation, inventory changes, replay behavior and</a:t>
            </a:r>
          </a:p>
          <a:p>
            <a:r>
              <a:t>audit. This path demonstrates controls deterministically; it does not invoke an LLM."</a:t>
            </a:r>
          </a:p>
          <a:p/>
          <a:p>
            <a:r>
              <a:t>POINT: Trace the top lane left to right. The human approval arrives through the</a:t>
            </a:r>
          </a:p>
          <a:p>
            <a:r>
              <a:t>application. The application retains the usable approval token and exposes a local</a:t>
            </a:r>
          </a:p>
          <a:p>
            <a:r>
              <a:t>handle to the UI. A typed approver name is demonstration input, not authenticated identity.</a:t>
            </a:r>
          </a:p>
          <a:p/>
          <a:p>
            <a:r>
              <a:t>SAY: "Below is the actual agent path. A separate request reaches a Responses host</a:t>
            </a:r>
          </a:p>
          <a:p>
            <a:r>
              <a:t>in Microsoft Foundry. Microsoft Agent Framework runs four agents with a model client.</a:t>
            </a:r>
          </a:p>
          <a:p>
            <a:r>
              <a:t>Their tools call a read-only bridge, which uses an isolated MCP interpreter. The</a:t>
            </a:r>
          </a:p>
          <a:p>
            <a:r>
              <a:t>agents can inspect recall evidence, but they cannot approve or quarantine stock."</a:t>
            </a:r>
          </a:p>
          <a:p/>
          <a:p>
            <a:r>
              <a:t>OPTIONAL DEPTH: These paths reuse domain code and synthetic fixtures, not a shared</a:t>
            </a:r>
          </a:p>
          <a:p>
            <a:r>
              <a:t>live database. The current Control Tower does not call the hosted workflow. A</a:t>
            </a:r>
          </a:p>
          <a:p>
            <a:r>
              <a:t>deployment of the same code is not evidence that local mutation state appears in</a:t>
            </a:r>
          </a:p>
          <a:p>
            <a:r>
              <a:t>the hosted agent. Wiring a production UI, identity boundary and durable store would</a:t>
            </a:r>
          </a:p>
          <a:p>
            <a:r>
              <a:t>be additional work. The diagram describes logical components, not network segmentation.</a:t>
            </a:r>
          </a:p>
          <a:p/>
          <a:p>
            <a:r>
              <a:t>HOST, CLIENT, SERVER: An MCP host is the application that owns user interaction and</a:t>
            </a:r>
          </a:p>
          <a:p>
            <a:r>
              <a:t>tool-use policy. A client is its protocol connection/session; a server exposes capabilities.</a:t>
            </a:r>
          </a:p>
          <a:p>
            <a:r>
              <a:t>The model is not the MCP client. In this local path FastAPI owns Client(mcp). The hosted</a:t>
            </a:r>
          </a:p>
          <a:p>
            <a:r>
              <a:t>agent gets explicitly registered Python wrappers, not dynamically discovered MCP tools.</a:t>
            </a:r>
          </a:p>
          <a:p>
            <a:r>
              <a:t>main.py starts mcp_v2_bridge.py with a tool name and JSON argument on the command line;</a:t>
            </a:r>
          </a:p>
          <a:p>
            <a:r>
              <a:t>that child opens Client(mcp) in process and prints JSON back. This outer CLI/JSON adapter</a:t>
            </a:r>
          </a:p>
          <a:p>
            <a:r>
              <a:t>is custom application code, not an MCP transport. The new inspect_mcp.py demonstration</a:t>
            </a:r>
          </a:p>
          <a:p>
            <a:r>
              <a:t>instead launches caldova_mcp.py using StdioServerParameters and genuinely exercises</a:t>
            </a:r>
          </a:p>
          <a:p>
            <a:r>
              <a:t>MCP stdio. Distinguish the three paths when pointing at the diagram.</a:t>
            </a:r>
          </a:p>
          <a:p/>
          <a:p>
            <a:r>
              <a:t>CAUTION: Do not draw an imaginary UI-to-Foundry integration while narrating. Hosting,</a:t>
            </a:r>
          </a:p>
          <a:p>
            <a:r>
              <a:t>model access, MCP calls and business authorization are separate responsibilities.</a:t>
            </a:r>
          </a:p>
          <a:p>
            <a:r>
              <a:t>Source anchors: control_tower_api.py run_analysis/invoke; main.py build_workflow;</a:t>
            </a:r>
          </a:p>
          <a:p>
            <a:r>
              <a:t>mcp_v2_bridge.py read-tool boundary.</a:t>
            </a:r>
          </a:p>
          <a:p/>
          <a:p>
            <a:r>
              <a:t>TRANSITION: "MCP is the contract inside both paths. Here is what a well-designed tool exposes."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EDITION APPENDIX: outside the timed show.</a:t>
            </a:r>
          </a:p>
          <a:p>
            <a:r>
              <a:t>Original-edition timing and navigation cues below do not apply.</a:t>
            </a:r>
          </a:p>
          <a:p/>
          <a:p>
            <a:r>
              <a:t>TECHNICAL APPENDIX: Use after the timed talk, or answer a roles question in 60 seconds.</a:t>
            </a:r>
          </a:p>
          <a:p/>
          <a:p>
            <a:r>
              <a:t>SAY: "The host is the application that controls the experience and tool-use policy.</a:t>
            </a:r>
          </a:p>
          <a:p>
            <a:r>
              <a:t>It creates a client session to a server. The server exposes capabilities. A model can</a:t>
            </a:r>
          </a:p>
          <a:p>
            <a:r>
              <a:t>propose a tool name and arguments, but application code mediates execution. A scripted</a:t>
            </a:r>
          </a:p>
          <a:p>
            <a:r>
              <a:t>client can use the same server without any model; our terminal demonstration did exactly that."</a:t>
            </a:r>
          </a:p>
          <a:p/>
          <a:p>
            <a:r>
              <a:t>WALKTHROUGH: Tools are callable operations such as locate_inventory. Resources are</a:t>
            </a:r>
          </a:p>
          <a:p>
            <a:r>
              <a:t>addressable context, typically identified by a URI. Prompts are reusable templates</a:t>
            </a:r>
          </a:p>
          <a:p>
            <a:r>
              <a:t>that a client can retrieve. The recall-document resource and assessment prompt on this</a:t>
            </a:r>
          </a:p>
          <a:p>
            <a:r>
              <a:t>slide are possible extensions, not implemented endpoints. This server demonstrates tools</a:t>
            </a:r>
          </a:p>
          <a:p>
            <a:r>
              <a:t>only. Do not call every returned JSON object an MCP resource or every system instruction</a:t>
            </a:r>
          </a:p>
          <a:p>
            <a:r>
              <a:t>an MCP prompt. Those words also name specific protocol primitives.</a:t>
            </a:r>
          </a:p>
          <a:p/>
          <a:p>
            <a:r>
              <a:t>WHY MCP INSTEAD OF JUST REST? The value is a common client-facing discovery and invocation</a:t>
            </a:r>
          </a:p>
          <a:p>
            <a:r>
              <a:t>contract, not replacing every business API. A tool handler could call an existing REST</a:t>
            </a:r>
          </a:p>
          <a:p>
            <a:r>
              <a:t>service, SQL query, or domain function. That integration code still exists. MCP may reduce</a:t>
            </a:r>
          </a:p>
          <a:p>
            <a:r>
              <a:t>repeated adapters across compatible clients, but interoperability must be tested, including</a:t>
            </a:r>
          </a:p>
          <a:p>
            <a:r>
              <a:t>capability support, authentication and error behavior. A single application may still be</a:t>
            </a:r>
          </a:p>
          <a:p>
            <a:r>
              <a:t>well served by a direct function call; do not add a server without a reuse or boundary need.</a:t>
            </a:r>
          </a:p>
          <a:p/>
          <a:p>
            <a:r>
              <a:t>TRANSPORT: Stdio uses a launched process's input/output streams; keep ordinary logs off</a:t>
            </a:r>
          </a:p>
          <a:p>
            <a:r>
              <a:t>protocol stdout. Streamable HTTP is a remote transport with additional authentication and</a:t>
            </a:r>
          </a:p>
          <a:p>
            <a:r>
              <a:t>network considerations. This sample's custom CLI/JSON bridge is neither a generic remote</a:t>
            </a:r>
          </a:p>
          <a:p>
            <a:r>
              <a:t>MCP service nor an MCP stdio connection. Its MCP session runs in process inside the child.</a:t>
            </a:r>
          </a:p>
          <a:p/>
          <a:p>
            <a:r>
              <a:t>CHECK UNDERSTANDING: Can the same MCP server serve a deterministic test client? Yes.</a:t>
            </a:r>
          </a:p>
          <a:p>
            <a:r>
              <a:t>Does publishing a tool authorize its use? No. Does this sample expose resources or prompts?</a:t>
            </a:r>
          </a:p>
          <a:p>
            <a:r>
              <a:t>No. These distinctions are more useful than memorizing a framework-specific class name.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EDITION APPENDIX: outside the timed show.</a:t>
            </a:r>
          </a:p>
          <a:p>
            <a:r>
              <a:t>Original-edition timing and navigation cues below do not apply.</a:t>
            </a:r>
          </a:p>
          <a:p/>
          <a:p>
            <a:r>
              <a:t>TECHNICAL APPENDIX: A line-by-line walkthrough for engineers. Excerpts are shortened</a:t>
            </a:r>
          </a:p>
          <a:p>
            <a:r>
              <a:t>for legibility; use the repository files for runnable code. This SDK syntax matches</a:t>
            </a:r>
          </a:p>
          <a:p>
            <a:r>
              <a:t>the installed MCP v2 environment, not all older examples found online.</a:t>
            </a:r>
          </a:p>
          <a:p/>
          <a:p>
            <a:r>
              <a:t>SERVER: MCPServer registers capabilities. The decorator exposes one operation and its</a:t>
            </a:r>
          </a:p>
          <a:p>
            <a:r>
              <a:t>metadata. ToolAnnotations reports hints, not enforced permissions. BatchId is an</a:t>
            </a:r>
          </a:p>
          <a:p>
            <a:r>
              <a:t>Annotated string with Pydantic Field constraints: required input, length bounds and a</a:t>
            </a:r>
          </a:p>
          <a:p>
            <a:r>
              <a:t>restricted pattern. The handler delegates to STORE, keeping protocol adaptation separate</a:t>
            </a:r>
          </a:p>
          <a:p>
            <a:r>
              <a:t>from the business computation. That separation lets domain tests run without MCP and</a:t>
            </a:r>
          </a:p>
          <a:p>
            <a:r>
              <a:t>protocol tests exercise the same logic through MCP.</a:t>
            </a:r>
          </a:p>
          <a:p/>
          <a:p>
            <a:r>
              <a:t>OUTPUT: dict[str, Any] produces a generic object outputSchema in this environment. The</a:t>
            </a:r>
          </a:p>
          <a:p>
            <a:r>
              <a:t>named fields seen in structured_content are actual data, not a strongly enforced DTO.</a:t>
            </a:r>
          </a:p>
          <a:p>
            <a:r>
              <a:t>A production improvement would define a typed inventory result and validate invariants,</a:t>
            </a:r>
          </a:p>
          <a:p>
            <a:r>
              <a:t>such as total_units matching the sum of positions. Do not present that improvement as</a:t>
            </a:r>
          </a:p>
          <a:p>
            <a:r>
              <a:t>already implemented. The output should also be bounded so a large inventory cannot</a:t>
            </a:r>
          </a:p>
          <a:p>
            <a:r>
              <a:t>consume an unbounded model context or response budget.</a:t>
            </a:r>
          </a:p>
          <a:p/>
          <a:p>
            <a:r>
              <a:t>CLIENT: In inspect_mcp.py, server is StdioServerParameters pointing at caldova_mcp.py</a:t>
            </a:r>
          </a:p>
          <a:p>
            <a:r>
              <a:t>using the current interpreter. Entering the client context starts the session and manages</a:t>
            </a:r>
          </a:p>
          <a:p>
            <a:r>
              <a:t>initialization. list_tools returns metadata; call_tool invokes the named operation with</a:t>
            </a:r>
          </a:p>
          <a:p>
            <a:r>
              <a:t>arguments. structured_content is the Python SDK spelling of wire-level structuredContent.</a:t>
            </a:r>
          </a:p>
          <a:p>
            <a:r>
              <a:t>Leaving the context closes the session. The script adds a 30-second overall bound.</a:t>
            </a:r>
          </a:p>
          <a:p/>
          <a:p>
            <a:r>
              <a:t>BUILD UP THE EXAMPLE: Start with discovery only. Add one valid inventory call. Finally</a:t>
            </a:r>
          </a:p>
          <a:p>
            <a:r>
              <a:t>add invalid input, a schema-valid denied write, and a read to verify unchanged state.</a:t>
            </a:r>
          </a:p>
          <a:p>
            <a:r>
              <a:t>That progression makes a protocol test explainable without a model. If the downstream</a:t>
            </a:r>
          </a:p>
          <a:p>
            <a:r>
              <a:t>agent answer is wrong after these checks pass, inspect the handoff and synthesis next.</a:t>
            </a:r>
          </a:p>
          <a:p/>
          <a:p>
            <a:r>
              <a:t>REPRODUCE FROM REPOSITORY ROOT:</a:t>
            </a:r>
          </a:p>
          <a:p>
            <a:r>
              <a:t>./caldova-recall-control/.venv/Scripts/python.exe caldova-recall-control/scripts/inspect_mcp.py</a:t>
            </a:r>
          </a:p>
          <a:p>
            <a:r>
              <a:t>Use .venv/bin/python instead on macOS/Linux. Install requirements-ui.txt first; do not</a:t>
            </a:r>
          </a:p>
          <a:p>
            <a:r>
              <a:t>mix the Foundry hosting dependencies into this MCP v2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EDITION APPENDIX: outside the timed show.</a:t>
            </a:r>
          </a:p>
          <a:p>
            <a:r>
              <a:t>Original-edition timing and navigation cues below do not apply.</a:t>
            </a:r>
          </a:p>
          <a:p/>
          <a:p>
            <a:r>
              <a:t>TECHNICAL APPENDIX: Use to make the demo's evidence precise and to discuss testing.</a:t>
            </a:r>
          </a:p>
          <a:p/>
          <a:p>
            <a:r>
              <a:t>ROW 1: inspect_mcp.py sends 'bad batch!', which violates BatchId constraints. In the</a:t>
            </a:r>
          </a:p>
          <a:p>
            <a:r>
              <a:t>installed SDK this returns a tool result with is_error true. The server has understood</a:t>
            </a:r>
          </a:p>
          <a:p>
            <a:r>
              <a:t>the MCP request, but the tool cannot execute with these arguments. Correcting input is</a:t>
            </a:r>
          </a:p>
          <a:p>
            <a:r>
              <a:t>different from retrying a transient outage. We display the observed error flag rather</a:t>
            </a:r>
          </a:p>
          <a:p>
            <a:r>
              <a:t>than depending on an SDK-specific validation message in the live narration.</a:t>
            </a:r>
          </a:p>
          <a:p/>
          <a:p>
            <a:r>
              <a:t>ROW 2: The script sends a synthetic 16-character hexadecimal credential. It passes the</a:t>
            </a:r>
          </a:p>
          <a:p>
            <a:r>
              <a:t>input shape but has no matching approval in the domain store. The response is isError</a:t>
            </a:r>
          </a:p>
          <a:p>
            <a:r>
              <a:t>true and sanitized text, 'Error executing tool quarantine_batch'. No usable credential</a:t>
            </a:r>
          </a:p>
          <a:p>
            <a:r>
              <a:t>is created or printed. A second read verifies that the failed call left inventory</a:t>
            </a:r>
          </a:p>
          <a:p>
            <a:r>
              <a:t>unchanged. This demonstrates policy enforcement, not verified human authentication.</a:t>
            </a:r>
          </a:p>
          <a:p/>
          <a:p>
            <a:r>
              <a:t>ROW 3: The optional direct browser-API request supplies an invalid approval handle.</a:t>
            </a:r>
          </a:p>
          <a:p>
            <a:r>
              <a:t>FastAPI rejects it with HTTP 403 before granting access to a valid approval credential.</a:t>
            </a:r>
          </a:p>
          <a:p>
            <a:r>
              <a:t>That status is an application HTTP response, not an MCP JSON-RPC error. Separately,</a:t>
            </a:r>
          </a:p>
          <a:p>
            <a:r>
              <a:t>unknown tools or protocol-level failures may use JSON-RPC error responses. Distinguish</a:t>
            </a:r>
          </a:p>
          <a:p>
            <a:r>
              <a:t>the protocol's two error channels from the HTTP layer and from SDK exception settings.</a:t>
            </a:r>
          </a:p>
          <a:p/>
          <a:p>
            <a:r>
              <a:t>ROW 4: A valid, factual tool response can still become an incomplete or misleading</a:t>
            </a:r>
          </a:p>
          <a:p>
            <a:r>
              <a:t>brief. Domain tests cannot prove model quality. Evaluate factual coverage, uncertainty,</a:t>
            </a:r>
          </a:p>
          <a:p>
            <a:r>
              <a:t>refusal to claim mutation, and focused-answer behavior against the actual tool evidence.</a:t>
            </a:r>
          </a:p>
          <a:p/>
          <a:p>
            <a:r>
              <a:t>TEST LADDER: Run domain policy tests, then schema/annotation and in-process MCP tests,</a:t>
            </a:r>
          </a:p>
          <a:p>
            <a:r>
              <a:t>then the stdio test, then API approval/replay tests, and finally hosted integration and</a:t>
            </a:r>
          </a:p>
          <a:p>
            <a:r>
              <a:t>evaluation. A passing local suite is not proof that a cloud model, identity, trace, or</a:t>
            </a:r>
          </a:p>
          <a:p>
            <a:r>
              <a:t>deployment is healthy. The tests live under caldova-recall-control/tests; the relevant</a:t>
            </a:r>
          </a:p>
          <a:p>
            <a:r>
              <a:t>protocol file is test_caldova_mcp.py and the UI contract is test_control_tower_api.py.</a:t>
            </a:r>
          </a:p>
          <a:p/>
          <a:p>
            <a:r>
              <a:t>REMAINING WORK: Exercise timeout and cancellation cleanup, tool-output prompt injection,</a:t>
            </a:r>
          </a:p>
          <a:p>
            <a:r>
              <a:t>lost-response retries, restarts and replicas. These are follow-up tests or production</a:t>
            </a:r>
          </a:p>
          <a:p>
            <a:r>
              <a:t>requirements, not guarantees demonstrated by this five-minute local sequence.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EDITION APPENDIX: outside the timed show.</a:t>
            </a:r>
          </a:p>
          <a:p>
            <a:r>
              <a:t>Original-edition timing and navigation cues below do not apply.</a:t>
            </a:r>
          </a:p>
          <a:p/>
          <a:p>
            <a:r>
              <a:t>TIME: 18:30-19:30. One-minute outlook, not a second product tour.</a:t>
            </a:r>
          </a:p>
          <a:p/>
          <a:p>
            <a:r>
              <a:t>SAY: "MCP Live highlights where the ecosystem is expanding. We can turn those topics</a:t>
            </a:r>
          </a:p>
          <a:p>
            <a:r>
              <a:t>into design questions for this workload. As tool access grows, how do we curate what</a:t>
            </a:r>
          </a:p>
          <a:p>
            <a:r>
              <a:t>each workload discovers? For a remote server, which caller is allowed to act? Could</a:t>
            </a:r>
          </a:p>
          <a:p>
            <a:r>
              <a:t>an embedded interface make evidence review clearer? Could a recall event start the</a:t>
            </a:r>
          </a:p>
          <a:p>
            <a:r>
              <a:t>analysis without also authorizing a mutation?"</a:t>
            </a:r>
          </a:p>
          <a:p/>
          <a:p>
            <a:r>
              <a:t>POINT: Read the questions, not the timestamps. Toolboxes connects to governed tool</a:t>
            </a:r>
          </a:p>
          <a:p>
            <a:r>
              <a:t>access. Authentication connects to caller identity. MCP Apps connects to interactive</a:t>
            </a:r>
          </a:p>
          <a:p>
            <a:r>
              <a:t>evidence review. Event-driven agents connects to initiating work when the business</a:t>
            </a:r>
          </a:p>
          <a:p>
            <a:r>
              <a:t>changes rather than waiting for a chat message. The design principle stays constant:</a:t>
            </a:r>
          </a:p>
          <a:p>
            <a:r>
              <a:t>an improved interface or trigger does not replace server-side authority.</a:t>
            </a:r>
          </a:p>
          <a:p/>
          <a:p>
            <a:r>
              <a:t>OPTIONAL DEPTH: These are extension ideas, not features of Caldova. An event-triggered</a:t>
            </a:r>
          </a:p>
          <a:p>
            <a:r>
              <a:t>analysis could be useful, but it would still need deduplication, bounded retries,</a:t>
            </a:r>
          </a:p>
          <a:p>
            <a:r>
              <a:t>failure visibility and a human approval boundary. A Teams tab is not an MCP App.</a:t>
            </a:r>
          </a:p>
          <a:p>
            <a:r>
              <a:t>Do not turn this slide into unverified setup guidance or a claim of interoperability.</a:t>
            </a:r>
          </a:p>
          <a:p/>
          <a:p>
            <a:r>
              <a:t>ATTRIBUTION: Topics are from the published video description, not a full transcript</a:t>
            </a:r>
          </a:p>
          <a:p>
            <a:r>
              <a:t>review. The questions are our engineering interpretation, not speaker quotations.</a:t>
            </a:r>
          </a:p>
          <a:p>
            <a:r>
              <a:t>Toolboxes: Viswajeeet Balaji (Microsoft), https://www.youtube.com/watch?v=uydwDk91Y9Y&amp;t=4823s</a:t>
            </a:r>
          </a:p>
          <a:p>
            <a:r>
              <a:t>Evolution of MCP auth: Den Delimarsky (Anthropic), https://www.youtube.com/watch?v=uydwDk91Y9Y&amp;t=9149s</a:t>
            </a:r>
          </a:p>
          <a:p>
            <a:r>
              <a:t>MCP Apps: Jeremiah Lowin (Prefect), https://www.youtube.com/watch?v=uydwDk91Y9Y&amp;t=12065s</a:t>
            </a:r>
          </a:p>
          <a:p>
            <a:r>
              <a:t>Event-driven agents: Clare Liguori (Amazon), https://www.youtube.com/watch?v=uydwDk91Y9Y&amp;t=13508s</a:t>
            </a:r>
          </a:p>
          <a:p/>
          <a:p>
            <a:r>
              <a:t>TRANSITION: "Before adding those capabilities, remove the shortcuts that already</a:t>
            </a:r>
          </a:p>
          <a:p>
            <a:r>
              <a:t>prevent a prototype from being reliable."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EDITION APPENDIX: outside the timed show.</a:t>
            </a:r>
          </a:p>
          <a:p>
            <a:r>
              <a:t>Original-edition timing and navigation cues below do not apply.</a:t>
            </a:r>
          </a:p>
          <a:p/>
          <a:p>
            <a:r>
              <a:t>APPENDIX: Hidden from the timed show. Use for follow-up and distribution.</a:t>
            </a:r>
          </a:p>
          <a:p/>
          <a:p>
            <a:r>
              <a:t>PURPOSE: Give attendees the original material without turning a 25-minute session</a:t>
            </a:r>
          </a:p>
          <a:p>
            <a:r>
              <a:t>into a reading list. Every resource label on this slide is clickable in PowerPoint.</a:t>
            </a:r>
          </a:p>
          <a:p>
            <a:r>
              <a:t>The video links jump to the relevant published chapter starts. Encourage people to</a:t>
            </a:r>
          </a:p>
          <a:p>
            <a:r>
              <a:t>watch the source sessions for implementation detail rather than treating our design</a:t>
            </a:r>
          </a:p>
          <a:p>
            <a:r>
              <a:t>questions as a substitute for the original talks.</a:t>
            </a:r>
          </a:p>
          <a:p/>
          <a:p>
            <a:r>
              <a:t>ATTRIBUTION: The event title, date and artwork are from the Global AI Community</a:t>
            </a:r>
          </a:p>
          <a:p>
            <a:r>
              <a:t>event page. MCP Live topic selection is based on its published chapter list, not</a:t>
            </a:r>
          </a:p>
          <a:p>
            <a:r>
              <a:t>a complete transcript review. The slide questions are original interpretations and</a:t>
            </a:r>
          </a:p>
          <a:p>
            <a:r>
              <a:t>not quotations or endorsements by the speakers. The Agent Framework orchestration</a:t>
            </a:r>
          </a:p>
          <a:p>
            <a:r>
              <a:t>reference was checked against current documentation during this deck revision.</a:t>
            </a:r>
          </a:p>
          <a:p/>
          <a:p>
            <a:r>
              <a:t>CAUTION: Documentation evolves. Verify API versions, hosting capabilities and</a:t>
            </a:r>
          </a:p>
          <a:p>
            <a:r>
              <a:t>authentication requirements when building, rather than copying a conference diagram</a:t>
            </a:r>
          </a:p>
          <a:p>
            <a:r>
              <a:t>as deployment instructions. The diagram deliberately separates local deterministic</a:t>
            </a:r>
          </a:p>
          <a:p>
            <a:r>
              <a:t>controls from hosted model execution. Neither the links nor the slide design imply</a:t>
            </a:r>
          </a:p>
          <a:p>
            <a:r>
              <a:t>that unimplemented routing, parallel execution or enterprise controls were demonstrated.</a:t>
            </a:r>
          </a:p>
          <a:p/>
          <a:p>
            <a:r>
              <a:t>PRESENTER ACTION: Keep this slide hidden during the main story. Navigate here manually</a:t>
            </a:r>
          </a:p>
          <a:p>
            <a:r>
              <a:t>only if a question needs a source. For the live session use the notes and runbook;</a:t>
            </a:r>
          </a:p>
          <a:p>
            <a:r>
              <a:t>for later study attendees can follow the links below. Sources accessed 14 September 2026.</a:t>
            </a:r>
          </a:p>
          <a:p/>
          <a:p>
            <a:r>
              <a:t>MCP Community Connect Bengaluru | event and session: https://globalai.community/e/bd1o37ln</a:t>
            </a:r>
          </a:p>
          <a:p>
            <a:r>
              <a:t>MCP architecture | clients, servers and tools: https://modelcontextprotocol.io/docs/learn/architecture</a:t>
            </a:r>
          </a:p>
          <a:p>
            <a:r>
              <a:t>MCP tools | schemas, results and errors: https://modelcontextprotocol.io/specification/2025-11-25/server/tools</a:t>
            </a:r>
          </a:p>
          <a:p>
            <a:r>
              <a:t>MCP lifecycle | initialization and capabilities: https://modelcontextprotocol.io/specification/2025-11-25/basic/lifecycle</a:t>
            </a:r>
          </a:p>
          <a:p>
            <a:r>
              <a:t>Agent Framework | orchestration patterns: https://github.com/microsoft/agent-framework/tree/main/python/packages/orchestrations</a:t>
            </a:r>
          </a:p>
          <a:p>
            <a:r>
              <a:t>MCP Live! | Toolboxes in Microsoft Foundry | 1:20:23: https://www.youtube.com/watch?v=uydwDk91Y9Y&amp;t=4823s</a:t>
            </a:r>
          </a:p>
          <a:p>
            <a:r>
              <a:t>MCP Live! | Evolution of MCP auth | 2:32:29: https://www.youtube.com/watch?v=uydwDk91Y9Y&amp;t=9149s</a:t>
            </a:r>
          </a:p>
          <a:p>
            <a:r>
              <a:t>MCP Live! | Building MCP Apps | 3:21:05: https://www.youtube.com/watch?v=uydwDk91Y9Y&amp;t=12065s</a:t>
            </a:r>
          </a:p>
          <a:p>
            <a:r>
              <a:t>MCP Live! | Event-driven agents | 3:45:08: https://www.youtube.com/watch?v=uydwDk91Y9Y&amp;t=13508s</a:t>
            </a:r>
          </a:p>
          <a:p>
            <a:r>
              <a:t>MCP Live! | official resource collection: https://aka.ms/MCPLiveResources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navigation slide, outside the 25-minute schedule. Select a title to return to its main slide. Browser links do not start servers. Switch to prepared terminal/hosted windows manually; no executable links. Use only genuine saved evidence or explicitly labelled source fallbacks.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slide" Target="slide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lobalai.community/e/bd1o37ln" TargetMode="External"/><Relationship Id="rId3" Type="http://schemas.openxmlformats.org/officeDocument/2006/relationships/hyperlink" Target="https://modelcontextprotocol.io/docs/learn/architecture" TargetMode="External"/><Relationship Id="rId4" Type="http://schemas.openxmlformats.org/officeDocument/2006/relationships/hyperlink" Target="https://modelcontextprotocol.io/specification/2025-11-25/server/tools" TargetMode="External"/><Relationship Id="rId5" Type="http://schemas.openxmlformats.org/officeDocument/2006/relationships/hyperlink" Target="https://modelcontextprotocol.io/specification/2025-11-25/basic/lifecycle" TargetMode="External"/><Relationship Id="rId6" Type="http://schemas.openxmlformats.org/officeDocument/2006/relationships/hyperlink" Target="https://github.com/microsoft/agent-framework/tree/main/python/packages/orchestrations" TargetMode="External"/><Relationship Id="rId7" Type="http://schemas.openxmlformats.org/officeDocument/2006/relationships/hyperlink" Target="https://www.youtube.com/watch?v=uydwDk91Y9Y&amp;t=4823s" TargetMode="External"/><Relationship Id="rId8" Type="http://schemas.openxmlformats.org/officeDocument/2006/relationships/hyperlink" Target="https://www.youtube.com/watch?v=uydwDk91Y9Y&amp;t=9149s" TargetMode="External"/><Relationship Id="rId9" Type="http://schemas.openxmlformats.org/officeDocument/2006/relationships/hyperlink" Target="https://www.youtube.com/watch?v=uydwDk91Y9Y&amp;t=12065s" TargetMode="External"/><Relationship Id="rId10" Type="http://schemas.openxmlformats.org/officeDocument/2006/relationships/hyperlink" Target="https://www.youtube.com/watch?v=uydwDk91Y9Y&amp;t=13508s" TargetMode="External"/><Relationship Id="rId11" Type="http://schemas.openxmlformats.org/officeDocument/2006/relationships/hyperlink" Target="https://aka.ms/MCPLiveResources" TargetMode="Externa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01</a:t>
            </a:r>
          </a:p>
        </p:txBody>
      </p:sp>
      <p:sp>
        <p:nvSpPr>
          <p:cNvPr id="7" name="TextBox 6"/>
          <p:cNvSpPr txBox="1"/>
          <p:nvPr/>
        </p:nvSpPr>
        <p:spPr>
          <a:xfrm>
            <a:off x="594360" y="502920"/>
            <a:ext cx="8595360" cy="548640"/>
          </a:xfrm>
          <a:prstGeom prst="rect">
            <a:avLst/>
          </a:prstGeom>
          <a:noFill/>
        </p:spPr>
        <p:txBody>
          <a:bodyPr wrap="square" lIns="0" rIns="0" tIns="0" bIns="0" anchor="t">
            <a:spAutoFit/>
          </a:bodyPr>
          <a:lstStyle/>
          <a:p>
            <a:pPr algn="l">
              <a:defRPr sz="2800" b="1">
                <a:solidFill>
                  <a:srgbClr val="006F78"/>
                </a:solidFill>
                <a:latin typeface="Bahnschrift"/>
              </a:defRPr>
            </a:pPr>
            <a:r>
              <a:t>MCP Community Connect</a:t>
            </a:r>
          </a:p>
        </p:txBody>
      </p:sp>
      <p:pic>
        <p:nvPicPr>
          <p:cNvPr id="8" name="Picture 7" descr="mcp-community-connect-bengaluru.png"/>
          <p:cNvPicPr>
            <a:picLocks noChangeAspect="1"/>
          </p:cNvPicPr>
          <p:nvPr/>
        </p:nvPicPr>
        <p:blipFill>
          <a:blip r:embed="rId2"/>
          <a:stretch>
            <a:fillRect/>
          </a:stretch>
        </p:blipFill>
        <p:spPr>
          <a:xfrm>
            <a:off x="9784080" y="310896"/>
            <a:ext cx="1645920" cy="1645920"/>
          </a:xfrm>
          <a:prstGeom prst="rect">
            <a:avLst/>
          </a:prstGeom>
        </p:spPr>
      </p:pic>
      <p:sp>
        <p:nvSpPr>
          <p:cNvPr id="9" name="TextBox 8"/>
          <p:cNvSpPr txBox="1"/>
          <p:nvPr/>
        </p:nvSpPr>
        <p:spPr>
          <a:xfrm>
            <a:off x="548640" y="1783080"/>
            <a:ext cx="10972800" cy="914400"/>
          </a:xfrm>
          <a:prstGeom prst="rect">
            <a:avLst/>
          </a:prstGeom>
          <a:noFill/>
        </p:spPr>
        <p:txBody>
          <a:bodyPr wrap="square" lIns="0" rIns="0" tIns="0" bIns="0" anchor="t">
            <a:spAutoFit/>
          </a:bodyPr>
          <a:lstStyle/>
          <a:p>
            <a:pPr algn="l">
              <a:defRPr sz="5800" b="1">
                <a:solidFill>
                  <a:srgbClr val="20252A"/>
                </a:solidFill>
                <a:latin typeface="Bahnschrift"/>
              </a:defRPr>
            </a:pPr>
            <a:r>
              <a:t>From Prototype</a:t>
            </a:r>
          </a:p>
        </p:txBody>
      </p:sp>
      <p:sp>
        <p:nvSpPr>
          <p:cNvPr id="10" name="TextBox 9"/>
          <p:cNvSpPr txBox="1"/>
          <p:nvPr/>
        </p:nvSpPr>
        <p:spPr>
          <a:xfrm>
            <a:off x="548640" y="2743200"/>
            <a:ext cx="10972800" cy="914400"/>
          </a:xfrm>
          <a:prstGeom prst="rect">
            <a:avLst/>
          </a:prstGeom>
          <a:noFill/>
        </p:spPr>
        <p:txBody>
          <a:bodyPr wrap="square" lIns="0" rIns="0" tIns="0" bIns="0" anchor="t">
            <a:spAutoFit/>
          </a:bodyPr>
          <a:lstStyle/>
          <a:p>
            <a:pPr algn="l">
              <a:defRPr sz="5800" b="1">
                <a:solidFill>
                  <a:srgbClr val="006F78"/>
                </a:solidFill>
                <a:latin typeface="Bahnschrift"/>
              </a:defRPr>
            </a:pPr>
            <a:r>
              <a:t>to Production</a:t>
            </a:r>
          </a:p>
        </p:txBody>
      </p:sp>
      <p:sp>
        <p:nvSpPr>
          <p:cNvPr id="11" name="TextBox 10"/>
          <p:cNvSpPr txBox="1"/>
          <p:nvPr/>
        </p:nvSpPr>
        <p:spPr>
          <a:xfrm>
            <a:off x="594360" y="3977639"/>
            <a:ext cx="10332720" cy="868680"/>
          </a:xfrm>
          <a:prstGeom prst="rect">
            <a:avLst/>
          </a:prstGeom>
          <a:noFill/>
        </p:spPr>
        <p:txBody>
          <a:bodyPr wrap="square" lIns="0" rIns="0" tIns="0" bIns="0" anchor="t">
            <a:spAutoFit/>
          </a:bodyPr>
          <a:lstStyle/>
          <a:p>
            <a:pPr algn="l">
              <a:defRPr sz="2500" b="0">
                <a:solidFill>
                  <a:srgbClr val="20252A"/>
                </a:solidFill>
                <a:latin typeface="Calibri"/>
              </a:defRPr>
            </a:pPr>
            <a:r>
              <a:t>Engineering Agent Systems with MCP,</a:t>
            </a:r>
            <a:br/>
            <a:r>
              <a:t>Multi-Agent Patterns and Real Work</a:t>
            </a:r>
          </a:p>
        </p:txBody>
      </p:sp>
      <p:cxnSp>
        <p:nvCxnSpPr>
          <p:cNvPr id="12" name="Connector 11"/>
          <p:cNvCxnSpPr/>
          <p:nvPr/>
        </p:nvCxnSpPr>
        <p:spPr>
          <a:xfrm>
            <a:off x="594360" y="5157216"/>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5468112"/>
            <a:ext cx="3657600" cy="384048"/>
          </a:xfrm>
          <a:prstGeom prst="rect">
            <a:avLst/>
          </a:prstGeom>
          <a:noFill/>
        </p:spPr>
        <p:txBody>
          <a:bodyPr wrap="square" lIns="0" rIns="0" tIns="0" bIns="0" anchor="t">
            <a:spAutoFit/>
          </a:bodyPr>
          <a:lstStyle/>
          <a:p>
            <a:pPr algn="l">
              <a:defRPr sz="2200" b="1">
                <a:solidFill>
                  <a:srgbClr val="20252A"/>
                </a:solidFill>
                <a:latin typeface="Bahnschrift"/>
              </a:defRPr>
            </a:pPr>
            <a:r>
              <a:t>Lee Stott</a:t>
            </a:r>
          </a:p>
        </p:txBody>
      </p:sp>
      <p:sp>
        <p:nvSpPr>
          <p:cNvPr id="14" name="TextBox 13"/>
          <p:cNvSpPr txBox="1"/>
          <p:nvPr/>
        </p:nvSpPr>
        <p:spPr>
          <a:xfrm>
            <a:off x="594360" y="5897880"/>
            <a:ext cx="7680960" cy="256032"/>
          </a:xfrm>
          <a:prstGeom prst="rect">
            <a:avLst/>
          </a:prstGeom>
          <a:noFill/>
        </p:spPr>
        <p:txBody>
          <a:bodyPr wrap="square" lIns="0" rIns="0" tIns="0" bIns="0" anchor="t">
            <a:spAutoFit/>
          </a:bodyPr>
          <a:lstStyle/>
          <a:p>
            <a:pPr algn="l">
              <a:defRPr sz="1400" b="0">
                <a:solidFill>
                  <a:srgbClr val="58656D"/>
                </a:solidFill>
                <a:latin typeface="Calibri"/>
              </a:defRPr>
            </a:pPr>
            <a:r>
              <a:t>Principal Cloud Advocate Manager, Microsoft</a:t>
            </a:r>
          </a:p>
        </p:txBody>
      </p:sp>
      <p:sp>
        <p:nvSpPr>
          <p:cNvPr id="15" name="TextBox 14"/>
          <p:cNvSpPr txBox="1"/>
          <p:nvPr/>
        </p:nvSpPr>
        <p:spPr>
          <a:xfrm>
            <a:off x="8321040" y="5559552"/>
            <a:ext cx="3200400" cy="365760"/>
          </a:xfrm>
          <a:prstGeom prst="rect">
            <a:avLst/>
          </a:prstGeom>
          <a:noFill/>
        </p:spPr>
        <p:txBody>
          <a:bodyPr wrap="square" lIns="0" rIns="0" tIns="0" bIns="0" anchor="t">
            <a:spAutoFit/>
          </a:bodyPr>
          <a:lstStyle/>
          <a:p>
            <a:pPr algn="r">
              <a:defRPr sz="2000" b="0">
                <a:solidFill>
                  <a:srgbClr val="006F78"/>
                </a:solidFill>
                <a:latin typeface="Calibri"/>
              </a:defRPr>
            </a:pPr>
            <a:r>
              <a:t>11:00-11:25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02</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PROBLEM | 0:45-2:00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One alert. Four locations. A person accountable.</a:t>
            </a:r>
          </a:p>
        </p:txBody>
      </p:sp>
      <p:sp>
        <p:nvSpPr>
          <p:cNvPr id="9" name="TextBox 8"/>
          <p:cNvSpPr txBox="1"/>
          <p:nvPr/>
        </p:nvSpPr>
        <p:spPr>
          <a:xfrm>
            <a:off x="594360" y="1828800"/>
            <a:ext cx="3291840" cy="548640"/>
          </a:xfrm>
          <a:prstGeom prst="rect">
            <a:avLst/>
          </a:prstGeom>
          <a:noFill/>
        </p:spPr>
        <p:txBody>
          <a:bodyPr wrap="square" lIns="0" rIns="0" tIns="0" bIns="0" anchor="t">
            <a:spAutoFit/>
          </a:bodyPr>
          <a:lstStyle/>
          <a:p>
            <a:pPr algn="l">
              <a:defRPr sz="3400" b="1">
                <a:solidFill>
                  <a:srgbClr val="B73935"/>
                </a:solidFill>
                <a:latin typeface="Calibri"/>
              </a:defRPr>
            </a:pPr>
            <a:r>
              <a:t>2,196</a:t>
            </a:r>
          </a:p>
        </p:txBody>
      </p:sp>
      <p:sp>
        <p:nvSpPr>
          <p:cNvPr id="10" name="TextBox 9"/>
          <p:cNvSpPr txBox="1"/>
          <p:nvPr/>
        </p:nvSpPr>
        <p:spPr>
          <a:xfrm>
            <a:off x="594360" y="2423160"/>
            <a:ext cx="3291840" cy="594360"/>
          </a:xfrm>
          <a:prstGeom prst="rect">
            <a:avLst/>
          </a:prstGeom>
          <a:noFill/>
        </p:spPr>
        <p:txBody>
          <a:bodyPr wrap="square" lIns="0" rIns="0" tIns="0" bIns="0" anchor="t">
            <a:spAutoFit/>
          </a:bodyPr>
          <a:lstStyle/>
          <a:p>
            <a:pPr algn="l">
              <a:defRPr sz="1700" b="0">
                <a:solidFill>
                  <a:srgbClr val="20252A"/>
                </a:solidFill>
                <a:latin typeface="Calibri"/>
              </a:defRPr>
            </a:pPr>
            <a:r>
              <a:t>synthetic units affected</a:t>
            </a:r>
          </a:p>
        </p:txBody>
      </p:sp>
      <p:sp>
        <p:nvSpPr>
          <p:cNvPr id="11" name="TextBox 10"/>
          <p:cNvSpPr txBox="1"/>
          <p:nvPr/>
        </p:nvSpPr>
        <p:spPr>
          <a:xfrm>
            <a:off x="594360" y="3063240"/>
            <a:ext cx="3291840" cy="548640"/>
          </a:xfrm>
          <a:prstGeom prst="rect">
            <a:avLst/>
          </a:prstGeom>
          <a:noFill/>
        </p:spPr>
        <p:txBody>
          <a:bodyPr wrap="square" lIns="0" rIns="0" tIns="0" bIns="0" anchor="t">
            <a:spAutoFit/>
          </a:bodyPr>
          <a:lstStyle/>
          <a:p>
            <a:pPr algn="l">
              <a:defRPr sz="3400" b="1">
                <a:solidFill>
                  <a:srgbClr val="006F78"/>
                </a:solidFill>
                <a:latin typeface="Calibri"/>
              </a:defRPr>
            </a:pPr>
            <a:r>
              <a:t>4 locations</a:t>
            </a:r>
          </a:p>
        </p:txBody>
      </p:sp>
      <p:sp>
        <p:nvSpPr>
          <p:cNvPr id="12" name="TextBox 11"/>
          <p:cNvSpPr txBox="1"/>
          <p:nvPr/>
        </p:nvSpPr>
        <p:spPr>
          <a:xfrm>
            <a:off x="594360" y="3657600"/>
            <a:ext cx="3291840" cy="594360"/>
          </a:xfrm>
          <a:prstGeom prst="rect">
            <a:avLst/>
          </a:prstGeom>
          <a:noFill/>
        </p:spPr>
        <p:txBody>
          <a:bodyPr wrap="square" lIns="0" rIns="0" tIns="0" bIns="0" anchor="t">
            <a:spAutoFit/>
          </a:bodyPr>
          <a:lstStyle/>
          <a:p>
            <a:pPr algn="l">
              <a:defRPr sz="1700" b="0">
                <a:solidFill>
                  <a:srgbClr val="20252A"/>
                </a:solidFill>
                <a:latin typeface="Calibri"/>
              </a:defRPr>
            </a:pPr>
            <a:r>
              <a:t>one batch to assess</a:t>
            </a:r>
          </a:p>
        </p:txBody>
      </p:sp>
      <p:sp>
        <p:nvSpPr>
          <p:cNvPr id="13" name="TextBox 12"/>
          <p:cNvSpPr txBox="1"/>
          <p:nvPr/>
        </p:nvSpPr>
        <p:spPr>
          <a:xfrm>
            <a:off x="594360" y="4297680"/>
            <a:ext cx="3291840" cy="548640"/>
          </a:xfrm>
          <a:prstGeom prst="rect">
            <a:avLst/>
          </a:prstGeom>
          <a:noFill/>
        </p:spPr>
        <p:txBody>
          <a:bodyPr wrap="square" lIns="0" rIns="0" tIns="0" bIns="0" anchor="t">
            <a:spAutoFit/>
          </a:bodyPr>
          <a:lstStyle/>
          <a:p>
            <a:pPr algn="l">
              <a:defRPr sz="3400" b="1">
                <a:solidFill>
                  <a:srgbClr val="006F78"/>
                </a:solidFill>
                <a:latin typeface="Calibri"/>
              </a:defRPr>
            </a:pPr>
            <a:r>
              <a:t>Asha Rao</a:t>
            </a:r>
          </a:p>
        </p:txBody>
      </p:sp>
      <p:sp>
        <p:nvSpPr>
          <p:cNvPr id="14" name="TextBox 13"/>
          <p:cNvSpPr txBox="1"/>
          <p:nvPr/>
        </p:nvSpPr>
        <p:spPr>
          <a:xfrm>
            <a:off x="594360" y="4892040"/>
            <a:ext cx="3291840" cy="594360"/>
          </a:xfrm>
          <a:prstGeom prst="rect">
            <a:avLst/>
          </a:prstGeom>
          <a:noFill/>
        </p:spPr>
        <p:txBody>
          <a:bodyPr wrap="square" lIns="0" rIns="0" tIns="0" bIns="0" anchor="t">
            <a:spAutoFit/>
          </a:bodyPr>
          <a:lstStyle/>
          <a:p>
            <a:pPr algn="l">
              <a:defRPr sz="1700" b="0">
                <a:solidFill>
                  <a:srgbClr val="20252A"/>
                </a:solidFill>
                <a:latin typeface="Calibri"/>
              </a:defRPr>
            </a:pPr>
            <a:r>
              <a:t>must decide whether to approve</a:t>
            </a:r>
          </a:p>
        </p:txBody>
      </p:sp>
      <p:pic>
        <p:nvPicPr>
          <p:cNvPr id="15" name="Picture 14" descr="control-tower-initial.png"/>
          <p:cNvPicPr>
            <a:picLocks noChangeAspect="1"/>
          </p:cNvPicPr>
          <p:nvPr/>
        </p:nvPicPr>
        <p:blipFill>
          <a:blip r:embed="rId2"/>
          <a:stretch>
            <a:fillRect/>
          </a:stretch>
        </p:blipFill>
        <p:spPr>
          <a:xfrm>
            <a:off x="4251960" y="1828800"/>
            <a:ext cx="5773921" cy="3749039"/>
          </a:xfrm>
          <a:prstGeom prst="rect">
            <a:avLst/>
          </a:prstGeom>
        </p:spPr>
      </p:pic>
      <p:sp>
        <p:nvSpPr>
          <p:cNvPr id="16" name="TextBox 15"/>
          <p:cNvSpPr txBox="1"/>
          <p:nvPr/>
        </p:nvSpPr>
        <p:spPr>
          <a:xfrm>
            <a:off x="4251960" y="5532120"/>
            <a:ext cx="7315200" cy="365760"/>
          </a:xfrm>
          <a:prstGeom prst="rect">
            <a:avLst/>
          </a:prstGeom>
          <a:noFill/>
        </p:spPr>
        <p:txBody>
          <a:bodyPr wrap="square" lIns="0" rIns="0" tIns="0" bIns="0" anchor="t">
            <a:spAutoFit/>
          </a:bodyPr>
          <a:lstStyle/>
          <a:p>
            <a:pPr algn="l">
              <a:defRPr sz="1200" b="0">
                <a:solidFill>
                  <a:srgbClr val="58656D"/>
                </a:solidFill>
                <a:latin typeface="Calibri"/>
              </a:defRPr>
            </a:pPr>
            <a:r>
              <a:t>Saved local UI | synthetic data | live results must be checked</a:t>
            </a:r>
          </a:p>
        </p:txBody>
      </p:sp>
      <p:sp>
        <p:nvSpPr>
          <p:cNvPr id="17" name="TextBox 16"/>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Define success before choosing an agent.</a:t>
            </a:r>
          </a:p>
        </p:txBody>
      </p:sp>
      <p:sp>
        <p:nvSpPr>
          <p:cNvPr id="18" name="TextBox 17">
            <a:hlinkClick action="ppaction://hlinksldjump" r:id="rId4"/>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03</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DECISION | 2:00-3:00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Give the application a common tool contract.</a:t>
            </a:r>
          </a:p>
        </p:txBody>
      </p:sp>
      <p:sp>
        <p:nvSpPr>
          <p:cNvPr id="9" name="TextBox 8"/>
          <p:cNvSpPr txBox="1"/>
          <p:nvPr/>
        </p:nvSpPr>
        <p:spPr>
          <a:xfrm>
            <a:off x="594360" y="2423160"/>
            <a:ext cx="3444240" cy="457200"/>
          </a:xfrm>
          <a:prstGeom prst="rect">
            <a:avLst/>
          </a:prstGeom>
          <a:noFill/>
        </p:spPr>
        <p:txBody>
          <a:bodyPr wrap="square" lIns="0" rIns="0" tIns="0" bIns="0" anchor="t">
            <a:spAutoFit/>
          </a:bodyPr>
          <a:lstStyle/>
          <a:p>
            <a:pPr algn="l">
              <a:defRPr sz="2100" b="1">
                <a:solidFill>
                  <a:srgbClr val="006F78"/>
                </a:solidFill>
                <a:latin typeface="Calibri"/>
              </a:defRPr>
            </a:pPr>
            <a:r>
              <a:t>HOST + CLIENT</a:t>
            </a:r>
          </a:p>
        </p:txBody>
      </p:sp>
      <p:cxnSp>
        <p:nvCxnSpPr>
          <p:cNvPr id="10" name="Connector 9"/>
          <p:cNvCxnSpPr/>
          <p:nvPr/>
        </p:nvCxnSpPr>
        <p:spPr>
          <a:xfrm>
            <a:off x="594360" y="3063240"/>
            <a:ext cx="3444240" cy="0"/>
          </a:xfrm>
          <a:prstGeom prst="line">
            <a:avLst/>
          </a:prstGeom>
          <a:ln w="38100">
            <a:solidFill>
              <a:srgbClr val="006F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 y="3383280"/>
            <a:ext cx="3444240" cy="1005840"/>
          </a:xfrm>
          <a:prstGeom prst="rect">
            <a:avLst/>
          </a:prstGeom>
          <a:noFill/>
        </p:spPr>
        <p:txBody>
          <a:bodyPr wrap="square" lIns="0" rIns="0" tIns="0" bIns="0" anchor="t">
            <a:spAutoFit/>
          </a:bodyPr>
          <a:lstStyle/>
          <a:p>
            <a:pPr algn="l">
              <a:defRPr sz="2100" b="0">
                <a:solidFill>
                  <a:srgbClr val="20252A"/>
                </a:solidFill>
                <a:latin typeface="Calibri"/>
              </a:defRPr>
            </a:pPr>
            <a:r>
              <a:t>Own the session and tool-use policy</a:t>
            </a:r>
          </a:p>
        </p:txBody>
      </p:sp>
      <p:cxnSp>
        <p:nvCxnSpPr>
          <p:cNvPr id="12" name="Connector 11"/>
          <p:cNvCxnSpPr/>
          <p:nvPr/>
        </p:nvCxnSpPr>
        <p:spPr>
          <a:xfrm>
            <a:off x="4075176" y="3063240"/>
            <a:ext cx="228600"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212336" y="2990088"/>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212336" y="306324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58640" y="2423160"/>
            <a:ext cx="3444240" cy="457200"/>
          </a:xfrm>
          <a:prstGeom prst="rect">
            <a:avLst/>
          </a:prstGeom>
          <a:noFill/>
        </p:spPr>
        <p:txBody>
          <a:bodyPr wrap="square" lIns="0" rIns="0" tIns="0" bIns="0" anchor="t">
            <a:spAutoFit/>
          </a:bodyPr>
          <a:lstStyle/>
          <a:p>
            <a:pPr algn="l">
              <a:defRPr sz="2100" b="1">
                <a:solidFill>
                  <a:srgbClr val="006F78"/>
                </a:solidFill>
                <a:latin typeface="Calibri"/>
              </a:defRPr>
            </a:pPr>
            <a:r>
              <a:t>MCP SERVER</a:t>
            </a:r>
          </a:p>
        </p:txBody>
      </p:sp>
      <p:cxnSp>
        <p:nvCxnSpPr>
          <p:cNvPr id="16" name="Connector 15"/>
          <p:cNvCxnSpPr/>
          <p:nvPr/>
        </p:nvCxnSpPr>
        <p:spPr>
          <a:xfrm>
            <a:off x="4358640" y="3063240"/>
            <a:ext cx="3444240" cy="0"/>
          </a:xfrm>
          <a:prstGeom prst="line">
            <a:avLst/>
          </a:prstGeom>
          <a:ln w="38100">
            <a:solidFill>
              <a:srgbClr val="006F7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58640" y="3383280"/>
            <a:ext cx="3444240" cy="1005840"/>
          </a:xfrm>
          <a:prstGeom prst="rect">
            <a:avLst/>
          </a:prstGeom>
          <a:noFill/>
        </p:spPr>
        <p:txBody>
          <a:bodyPr wrap="square" lIns="0" rIns="0" tIns="0" bIns="0" anchor="t">
            <a:spAutoFit/>
          </a:bodyPr>
          <a:lstStyle/>
          <a:p>
            <a:pPr algn="l">
              <a:defRPr sz="2100" b="0">
                <a:solidFill>
                  <a:srgbClr val="20252A"/>
                </a:solidFill>
                <a:latin typeface="Calibri"/>
              </a:defRPr>
            </a:pPr>
            <a:r>
              <a:t>Discover tools; validate calls; return evidence</a:t>
            </a:r>
          </a:p>
        </p:txBody>
      </p:sp>
      <p:cxnSp>
        <p:nvCxnSpPr>
          <p:cNvPr id="18" name="Connector 17"/>
          <p:cNvCxnSpPr/>
          <p:nvPr/>
        </p:nvCxnSpPr>
        <p:spPr>
          <a:xfrm>
            <a:off x="7839456" y="3063240"/>
            <a:ext cx="228600"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976616" y="2990088"/>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976616" y="306324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122920" y="2423160"/>
            <a:ext cx="3444240" cy="457200"/>
          </a:xfrm>
          <a:prstGeom prst="rect">
            <a:avLst/>
          </a:prstGeom>
          <a:noFill/>
        </p:spPr>
        <p:txBody>
          <a:bodyPr wrap="square" lIns="0" rIns="0" tIns="0" bIns="0" anchor="t">
            <a:spAutoFit/>
          </a:bodyPr>
          <a:lstStyle/>
          <a:p>
            <a:pPr algn="l">
              <a:defRPr sz="2100" b="1">
                <a:solidFill>
                  <a:srgbClr val="006F78"/>
                </a:solidFill>
                <a:latin typeface="Calibri"/>
              </a:defRPr>
            </a:pPr>
            <a:r>
              <a:t>DOMAIN / APIs</a:t>
            </a:r>
          </a:p>
        </p:txBody>
      </p:sp>
      <p:cxnSp>
        <p:nvCxnSpPr>
          <p:cNvPr id="22" name="Connector 21"/>
          <p:cNvCxnSpPr/>
          <p:nvPr/>
        </p:nvCxnSpPr>
        <p:spPr>
          <a:xfrm>
            <a:off x="8122920" y="3063240"/>
            <a:ext cx="3444240" cy="0"/>
          </a:xfrm>
          <a:prstGeom prst="line">
            <a:avLst/>
          </a:prstGeom>
          <a:ln w="38100">
            <a:solidFill>
              <a:srgbClr val="006F7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122920" y="3383280"/>
            <a:ext cx="3444240" cy="1005840"/>
          </a:xfrm>
          <a:prstGeom prst="rect">
            <a:avLst/>
          </a:prstGeom>
          <a:noFill/>
        </p:spPr>
        <p:txBody>
          <a:bodyPr wrap="square" lIns="0" rIns="0" tIns="0" bIns="0" anchor="t">
            <a:spAutoFit/>
          </a:bodyPr>
          <a:lstStyle/>
          <a:p>
            <a:pPr algn="l">
              <a:defRPr sz="2100" b="0">
                <a:solidFill>
                  <a:srgbClr val="20252A"/>
                </a:solidFill>
                <a:latin typeface="Calibri"/>
              </a:defRPr>
            </a:pPr>
            <a:r>
              <a:t>Inventory facts and business rules</a:t>
            </a:r>
          </a:p>
        </p:txBody>
      </p:sp>
      <p:sp>
        <p:nvSpPr>
          <p:cNvPr id="24" name="TextBox 23"/>
          <p:cNvSpPr txBox="1"/>
          <p:nvPr/>
        </p:nvSpPr>
        <p:spPr>
          <a:xfrm>
            <a:off x="594360" y="5074920"/>
            <a:ext cx="10972800" cy="594360"/>
          </a:xfrm>
          <a:prstGeom prst="rect">
            <a:avLst/>
          </a:prstGeom>
          <a:noFill/>
        </p:spPr>
        <p:txBody>
          <a:bodyPr wrap="square" lIns="0" rIns="0" tIns="0" bIns="0" anchor="t">
            <a:spAutoFit/>
          </a:bodyPr>
          <a:lstStyle/>
          <a:p>
            <a:pPr algn="l">
              <a:defRPr sz="2000" b="0">
                <a:solidFill>
                  <a:srgbClr val="58656D"/>
                </a:solidFill>
                <a:latin typeface="Calibri"/>
              </a:defRPr>
            </a:pPr>
            <a:r>
              <a:t>Discover -&gt; call -&gt; structured result | no model required for this check</a:t>
            </a:r>
          </a:p>
        </p:txBody>
      </p:sp>
      <p:sp>
        <p:nvSpPr>
          <p:cNvPr id="25" name="TextBox 24"/>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MCP standardises tool access. Your application still owns policy.</a:t>
            </a:r>
          </a:p>
        </p:txBody>
      </p:sp>
      <p:sp>
        <p:nvSpPr>
          <p:cNvPr id="26" name="TextBox 25">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04</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APPLICATION ARCHITECTURE | BEFORE THE DEMONSTRATIONS</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One application. Separate reasoning and authority paths.</a:t>
            </a:r>
          </a:p>
        </p:txBody>
      </p:sp>
      <p:sp>
        <p:nvSpPr>
          <p:cNvPr id="9" name="TextBox 8"/>
          <p:cNvSpPr txBox="1"/>
          <p:nvPr/>
        </p:nvSpPr>
        <p:spPr>
          <a:xfrm>
            <a:off x="594360" y="1572768"/>
            <a:ext cx="5303520" cy="274320"/>
          </a:xfrm>
          <a:prstGeom prst="rect">
            <a:avLst/>
          </a:prstGeom>
          <a:noFill/>
        </p:spPr>
        <p:txBody>
          <a:bodyPr wrap="square" lIns="0" rIns="0" tIns="0" bIns="0" anchor="t">
            <a:spAutoFit/>
          </a:bodyPr>
          <a:lstStyle/>
          <a:p>
            <a:pPr algn="l">
              <a:defRPr sz="1300" b="1">
                <a:solidFill>
                  <a:srgbClr val="006F78"/>
                </a:solidFill>
                <a:latin typeface="Calibri"/>
              </a:defRPr>
            </a:pPr>
            <a:r>
              <a:t>READ-ONLY ASSESSMENT</a:t>
            </a:r>
          </a:p>
        </p:txBody>
      </p:sp>
      <p:sp>
        <p:nvSpPr>
          <p:cNvPr id="10" name="Rectangle 9"/>
          <p:cNvSpPr/>
          <p:nvPr/>
        </p:nvSpPr>
        <p:spPr>
          <a:xfrm>
            <a:off x="594360" y="1965960"/>
            <a:ext cx="2331720"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1965960"/>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084831"/>
            <a:ext cx="2057400" cy="310896"/>
          </a:xfrm>
          <a:prstGeom prst="rect">
            <a:avLst/>
          </a:prstGeom>
          <a:noFill/>
        </p:spPr>
        <p:txBody>
          <a:bodyPr wrap="square" lIns="0" rIns="0" tIns="0" bIns="0" anchor="t">
            <a:spAutoFit/>
          </a:bodyPr>
          <a:lstStyle/>
          <a:p>
            <a:pPr algn="l">
              <a:defRPr sz="1800" b="1">
                <a:solidFill>
                  <a:srgbClr val="20252A"/>
                </a:solidFill>
                <a:latin typeface="Bahnschrift"/>
              </a:defRPr>
            </a:pPr>
            <a:r>
              <a:t>Control Tower</a:t>
            </a:r>
          </a:p>
        </p:txBody>
      </p:sp>
      <p:sp>
        <p:nvSpPr>
          <p:cNvPr id="13" name="TextBox 12"/>
          <p:cNvSpPr txBox="1"/>
          <p:nvPr/>
        </p:nvSpPr>
        <p:spPr>
          <a:xfrm>
            <a:off x="740664" y="2496312"/>
            <a:ext cx="2057400" cy="274320"/>
          </a:xfrm>
          <a:prstGeom prst="rect">
            <a:avLst/>
          </a:prstGeom>
          <a:noFill/>
        </p:spPr>
        <p:txBody>
          <a:bodyPr wrap="square" lIns="0" rIns="0" tIns="0" bIns="0" anchor="t">
            <a:spAutoFit/>
          </a:bodyPr>
          <a:lstStyle/>
          <a:p>
            <a:pPr algn="l">
              <a:defRPr sz="1200" b="0">
                <a:solidFill>
                  <a:srgbClr val="58656D"/>
                </a:solidFill>
                <a:latin typeface="Calibri"/>
              </a:defRPr>
            </a:pPr>
            <a:r>
              <a:t>Browser</a:t>
            </a:r>
          </a:p>
        </p:txBody>
      </p:sp>
      <p:sp>
        <p:nvSpPr>
          <p:cNvPr id="14" name="Rectangle 13"/>
          <p:cNvSpPr/>
          <p:nvPr/>
        </p:nvSpPr>
        <p:spPr>
          <a:xfrm>
            <a:off x="3383280" y="1965960"/>
            <a:ext cx="2331720"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965960"/>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9584" y="2084831"/>
            <a:ext cx="2057400" cy="310896"/>
          </a:xfrm>
          <a:prstGeom prst="rect">
            <a:avLst/>
          </a:prstGeom>
          <a:noFill/>
        </p:spPr>
        <p:txBody>
          <a:bodyPr wrap="square" lIns="0" rIns="0" tIns="0" bIns="0" anchor="t">
            <a:spAutoFit/>
          </a:bodyPr>
          <a:lstStyle/>
          <a:p>
            <a:pPr algn="l">
              <a:defRPr sz="1800" b="1">
                <a:solidFill>
                  <a:srgbClr val="20252A"/>
                </a:solidFill>
                <a:latin typeface="Bahnschrift"/>
              </a:defRPr>
            </a:pPr>
            <a:r>
              <a:t>FastAPI host</a:t>
            </a:r>
          </a:p>
        </p:txBody>
      </p:sp>
      <p:sp>
        <p:nvSpPr>
          <p:cNvPr id="17" name="TextBox 16"/>
          <p:cNvSpPr txBox="1"/>
          <p:nvPr/>
        </p:nvSpPr>
        <p:spPr>
          <a:xfrm>
            <a:off x="3529584" y="2496312"/>
            <a:ext cx="2057400" cy="274320"/>
          </a:xfrm>
          <a:prstGeom prst="rect">
            <a:avLst/>
          </a:prstGeom>
          <a:noFill/>
        </p:spPr>
        <p:txBody>
          <a:bodyPr wrap="square" lIns="0" rIns="0" tIns="0" bIns="0" anchor="t">
            <a:spAutoFit/>
          </a:bodyPr>
          <a:lstStyle/>
          <a:p>
            <a:pPr algn="l">
              <a:defRPr sz="1200" b="0">
                <a:solidFill>
                  <a:srgbClr val="58656D"/>
                </a:solidFill>
                <a:latin typeface="Calibri"/>
              </a:defRPr>
            </a:pPr>
            <a:r>
              <a:t>Hosted analysis</a:t>
            </a:r>
          </a:p>
        </p:txBody>
      </p:sp>
      <p:sp>
        <p:nvSpPr>
          <p:cNvPr id="18" name="Rectangle 17"/>
          <p:cNvSpPr/>
          <p:nvPr/>
        </p:nvSpPr>
        <p:spPr>
          <a:xfrm>
            <a:off x="6172200" y="1965960"/>
            <a:ext cx="2331720"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965960"/>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8504" y="2084831"/>
            <a:ext cx="2057400" cy="310896"/>
          </a:xfrm>
          <a:prstGeom prst="rect">
            <a:avLst/>
          </a:prstGeom>
          <a:noFill/>
        </p:spPr>
        <p:txBody>
          <a:bodyPr wrap="square" lIns="0" rIns="0" tIns="0" bIns="0" anchor="t">
            <a:spAutoFit/>
          </a:bodyPr>
          <a:lstStyle/>
          <a:p>
            <a:pPr algn="l">
              <a:defRPr sz="1800" b="1">
                <a:solidFill>
                  <a:srgbClr val="20252A"/>
                </a:solidFill>
                <a:latin typeface="Bahnschrift"/>
              </a:defRPr>
            </a:pPr>
            <a:r>
              <a:t>Foundry agent</a:t>
            </a:r>
          </a:p>
        </p:txBody>
      </p:sp>
      <p:sp>
        <p:nvSpPr>
          <p:cNvPr id="21" name="TextBox 20"/>
          <p:cNvSpPr txBox="1"/>
          <p:nvPr/>
        </p:nvSpPr>
        <p:spPr>
          <a:xfrm>
            <a:off x="6318504" y="2496312"/>
            <a:ext cx="2057400" cy="274320"/>
          </a:xfrm>
          <a:prstGeom prst="rect">
            <a:avLst/>
          </a:prstGeom>
          <a:noFill/>
        </p:spPr>
        <p:txBody>
          <a:bodyPr wrap="square" lIns="0" rIns="0" tIns="0" bIns="0" anchor="t">
            <a:spAutoFit/>
          </a:bodyPr>
          <a:lstStyle/>
          <a:p>
            <a:pPr algn="l">
              <a:defRPr sz="1200" b="0">
                <a:solidFill>
                  <a:srgbClr val="58656D"/>
                </a:solidFill>
                <a:latin typeface="Calibri"/>
              </a:defRPr>
            </a:pPr>
            <a:r>
              <a:t>Agent Framework</a:t>
            </a:r>
          </a:p>
        </p:txBody>
      </p:sp>
      <p:sp>
        <p:nvSpPr>
          <p:cNvPr id="22" name="Rectangle 21"/>
          <p:cNvSpPr/>
          <p:nvPr/>
        </p:nvSpPr>
        <p:spPr>
          <a:xfrm>
            <a:off x="8961120" y="1965960"/>
            <a:ext cx="2331720"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61120" y="1965960"/>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424" y="2084831"/>
            <a:ext cx="2057400" cy="310896"/>
          </a:xfrm>
          <a:prstGeom prst="rect">
            <a:avLst/>
          </a:prstGeom>
          <a:noFill/>
        </p:spPr>
        <p:txBody>
          <a:bodyPr wrap="square" lIns="0" rIns="0" tIns="0" bIns="0" anchor="t">
            <a:spAutoFit/>
          </a:bodyPr>
          <a:lstStyle/>
          <a:p>
            <a:pPr algn="l">
              <a:defRPr sz="1800" b="1">
                <a:solidFill>
                  <a:srgbClr val="20252A"/>
                </a:solidFill>
                <a:latin typeface="Bahnschrift"/>
              </a:defRPr>
            </a:pPr>
            <a:r>
              <a:t>MCP read tools</a:t>
            </a:r>
          </a:p>
        </p:txBody>
      </p:sp>
      <p:sp>
        <p:nvSpPr>
          <p:cNvPr id="25" name="TextBox 24"/>
          <p:cNvSpPr txBox="1"/>
          <p:nvPr/>
        </p:nvSpPr>
        <p:spPr>
          <a:xfrm>
            <a:off x="9107424" y="2496312"/>
            <a:ext cx="2057400" cy="274320"/>
          </a:xfrm>
          <a:prstGeom prst="rect">
            <a:avLst/>
          </a:prstGeom>
          <a:noFill/>
        </p:spPr>
        <p:txBody>
          <a:bodyPr wrap="square" lIns="0" rIns="0" tIns="0" bIns="0" anchor="t">
            <a:spAutoFit/>
          </a:bodyPr>
          <a:lstStyle/>
          <a:p>
            <a:pPr algn="l">
              <a:defRPr sz="1200" b="0">
                <a:solidFill>
                  <a:srgbClr val="58656D"/>
                </a:solidFill>
                <a:latin typeface="Calibri"/>
              </a:defRPr>
            </a:pPr>
            <a:r>
              <a:t>Synthetic fixtures</a:t>
            </a:r>
          </a:p>
        </p:txBody>
      </p:sp>
      <p:cxnSp>
        <p:nvCxnSpPr>
          <p:cNvPr id="26" name="Connector 25"/>
          <p:cNvCxnSpPr/>
          <p:nvPr/>
        </p:nvCxnSpPr>
        <p:spPr>
          <a:xfrm>
            <a:off x="2971800" y="2450592"/>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191256" y="237744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191256" y="245059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760720" y="2450592"/>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980176" y="237744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980176" y="245059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49640" y="2450592"/>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769096" y="237744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769096" y="245059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3310128"/>
            <a:ext cx="5303520" cy="274320"/>
          </a:xfrm>
          <a:prstGeom prst="rect">
            <a:avLst/>
          </a:prstGeom>
          <a:noFill/>
        </p:spPr>
        <p:txBody>
          <a:bodyPr wrap="square" lIns="0" rIns="0" tIns="0" bIns="0" anchor="t">
            <a:spAutoFit/>
          </a:bodyPr>
          <a:lstStyle/>
          <a:p>
            <a:pPr algn="l">
              <a:defRPr sz="1300" b="1">
                <a:solidFill>
                  <a:srgbClr val="B73935"/>
                </a:solidFill>
                <a:latin typeface="Calibri"/>
              </a:defRPr>
            </a:pPr>
            <a:r>
              <a:t>AUTHORISED ACTION</a:t>
            </a:r>
          </a:p>
        </p:txBody>
      </p:sp>
      <p:sp>
        <p:nvSpPr>
          <p:cNvPr id="36" name="Rectangle 35"/>
          <p:cNvSpPr/>
          <p:nvPr/>
        </p:nvSpPr>
        <p:spPr>
          <a:xfrm>
            <a:off x="594360" y="3703320"/>
            <a:ext cx="2331720"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 y="3703320"/>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3822191"/>
            <a:ext cx="2057400" cy="310896"/>
          </a:xfrm>
          <a:prstGeom prst="rect">
            <a:avLst/>
          </a:prstGeom>
          <a:noFill/>
        </p:spPr>
        <p:txBody>
          <a:bodyPr wrap="square" lIns="0" rIns="0" tIns="0" bIns="0" anchor="t">
            <a:spAutoFit/>
          </a:bodyPr>
          <a:lstStyle/>
          <a:p>
            <a:pPr algn="l">
              <a:defRPr sz="1800" b="1">
                <a:solidFill>
                  <a:srgbClr val="20252A"/>
                </a:solidFill>
                <a:latin typeface="Bahnschrift"/>
              </a:defRPr>
            </a:pPr>
            <a:r>
              <a:t>EasyAuth identity</a:t>
            </a:r>
          </a:p>
        </p:txBody>
      </p:sp>
      <p:sp>
        <p:nvSpPr>
          <p:cNvPr id="39" name="TextBox 38"/>
          <p:cNvSpPr txBox="1"/>
          <p:nvPr/>
        </p:nvSpPr>
        <p:spPr>
          <a:xfrm>
            <a:off x="740664" y="4233672"/>
            <a:ext cx="2057400" cy="274320"/>
          </a:xfrm>
          <a:prstGeom prst="rect">
            <a:avLst/>
          </a:prstGeom>
          <a:noFill/>
        </p:spPr>
        <p:txBody>
          <a:bodyPr wrap="square" lIns="0" rIns="0" tIns="0" bIns="0" anchor="t">
            <a:spAutoFit/>
          </a:bodyPr>
          <a:lstStyle/>
          <a:p>
            <a:pPr algn="l">
              <a:defRPr sz="1200" b="0">
                <a:solidFill>
                  <a:srgbClr val="58656D"/>
                </a:solidFill>
                <a:latin typeface="Calibri"/>
              </a:defRPr>
            </a:pPr>
            <a:r>
              <a:t>Verified caller</a:t>
            </a:r>
          </a:p>
        </p:txBody>
      </p:sp>
      <p:sp>
        <p:nvSpPr>
          <p:cNvPr id="40" name="Rectangle 39"/>
          <p:cNvSpPr/>
          <p:nvPr/>
        </p:nvSpPr>
        <p:spPr>
          <a:xfrm>
            <a:off x="3383280" y="3703320"/>
            <a:ext cx="2331720"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383280" y="3703320"/>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29584" y="3822191"/>
            <a:ext cx="2057400" cy="310896"/>
          </a:xfrm>
          <a:prstGeom prst="rect">
            <a:avLst/>
          </a:prstGeom>
          <a:noFill/>
        </p:spPr>
        <p:txBody>
          <a:bodyPr wrap="square" lIns="0" rIns="0" tIns="0" bIns="0" anchor="t">
            <a:spAutoFit/>
          </a:bodyPr>
          <a:lstStyle/>
          <a:p>
            <a:pPr algn="l">
              <a:defRPr sz="1800" b="1">
                <a:solidFill>
                  <a:srgbClr val="20252A"/>
                </a:solidFill>
                <a:latin typeface="Bahnschrift"/>
              </a:defRPr>
            </a:pPr>
            <a:r>
              <a:t>Application policy</a:t>
            </a:r>
          </a:p>
        </p:txBody>
      </p:sp>
      <p:sp>
        <p:nvSpPr>
          <p:cNvPr id="43" name="TextBox 42"/>
          <p:cNvSpPr txBox="1"/>
          <p:nvPr/>
        </p:nvSpPr>
        <p:spPr>
          <a:xfrm>
            <a:off x="3529584" y="4233672"/>
            <a:ext cx="2057400" cy="274320"/>
          </a:xfrm>
          <a:prstGeom prst="rect">
            <a:avLst/>
          </a:prstGeom>
          <a:noFill/>
        </p:spPr>
        <p:txBody>
          <a:bodyPr wrap="square" lIns="0" rIns="0" tIns="0" bIns="0" anchor="t">
            <a:spAutoFit/>
          </a:bodyPr>
          <a:lstStyle/>
          <a:p>
            <a:pPr algn="l">
              <a:defRPr sz="1200" b="0">
                <a:solidFill>
                  <a:srgbClr val="58656D"/>
                </a:solidFill>
                <a:latin typeface="Calibri"/>
              </a:defRPr>
            </a:pPr>
            <a:r>
              <a:t>Bound approval</a:t>
            </a:r>
          </a:p>
        </p:txBody>
      </p:sp>
      <p:sp>
        <p:nvSpPr>
          <p:cNvPr id="44" name="Rectangle 43"/>
          <p:cNvSpPr/>
          <p:nvPr/>
        </p:nvSpPr>
        <p:spPr>
          <a:xfrm>
            <a:off x="6172200" y="3703320"/>
            <a:ext cx="2331720"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72200" y="3703320"/>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18504" y="3822191"/>
            <a:ext cx="2057400" cy="310896"/>
          </a:xfrm>
          <a:prstGeom prst="rect">
            <a:avLst/>
          </a:prstGeom>
          <a:noFill/>
        </p:spPr>
        <p:txBody>
          <a:bodyPr wrap="square" lIns="0" rIns="0" tIns="0" bIns="0" anchor="t">
            <a:spAutoFit/>
          </a:bodyPr>
          <a:lstStyle/>
          <a:p>
            <a:pPr algn="l">
              <a:defRPr sz="1800" b="1">
                <a:solidFill>
                  <a:srgbClr val="20252A"/>
                </a:solidFill>
                <a:latin typeface="Bahnschrift"/>
              </a:defRPr>
            </a:pPr>
            <a:r>
              <a:t>Domain action</a:t>
            </a:r>
          </a:p>
        </p:txBody>
      </p:sp>
      <p:sp>
        <p:nvSpPr>
          <p:cNvPr id="47" name="TextBox 46"/>
          <p:cNvSpPr txBox="1"/>
          <p:nvPr/>
        </p:nvSpPr>
        <p:spPr>
          <a:xfrm>
            <a:off x="6318504" y="4233672"/>
            <a:ext cx="2057400" cy="274320"/>
          </a:xfrm>
          <a:prstGeom prst="rect">
            <a:avLst/>
          </a:prstGeom>
          <a:noFill/>
        </p:spPr>
        <p:txBody>
          <a:bodyPr wrap="square" lIns="0" rIns="0" tIns="0" bIns="0" anchor="t">
            <a:spAutoFit/>
          </a:bodyPr>
          <a:lstStyle/>
          <a:p>
            <a:pPr algn="l">
              <a:defRPr sz="1200" b="0">
                <a:solidFill>
                  <a:srgbClr val="58656D"/>
                </a:solidFill>
                <a:latin typeface="Calibri"/>
              </a:defRPr>
            </a:pPr>
            <a:r>
              <a:t>Quarantine + audit</a:t>
            </a:r>
          </a:p>
        </p:txBody>
      </p:sp>
      <p:sp>
        <p:nvSpPr>
          <p:cNvPr id="48" name="Rectangle 47"/>
          <p:cNvSpPr/>
          <p:nvPr/>
        </p:nvSpPr>
        <p:spPr>
          <a:xfrm>
            <a:off x="8961120" y="3703320"/>
            <a:ext cx="2331720"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61120" y="3703320"/>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07424" y="3822191"/>
            <a:ext cx="2057400" cy="310896"/>
          </a:xfrm>
          <a:prstGeom prst="rect">
            <a:avLst/>
          </a:prstGeom>
          <a:noFill/>
        </p:spPr>
        <p:txBody>
          <a:bodyPr wrap="square" lIns="0" rIns="0" tIns="0" bIns="0" anchor="t">
            <a:spAutoFit/>
          </a:bodyPr>
          <a:lstStyle/>
          <a:p>
            <a:pPr algn="l">
              <a:defRPr sz="1800" b="1">
                <a:solidFill>
                  <a:srgbClr val="20252A"/>
                </a:solidFill>
                <a:latin typeface="Bahnschrift"/>
              </a:defRPr>
            </a:pPr>
            <a:r>
              <a:t>Blob session</a:t>
            </a:r>
          </a:p>
        </p:txBody>
      </p:sp>
      <p:sp>
        <p:nvSpPr>
          <p:cNvPr id="51" name="TextBox 50"/>
          <p:cNvSpPr txBox="1"/>
          <p:nvPr/>
        </p:nvSpPr>
        <p:spPr>
          <a:xfrm>
            <a:off x="9107424" y="4233672"/>
            <a:ext cx="2057400" cy="274320"/>
          </a:xfrm>
          <a:prstGeom prst="rect">
            <a:avLst/>
          </a:prstGeom>
          <a:noFill/>
        </p:spPr>
        <p:txBody>
          <a:bodyPr wrap="square" lIns="0" rIns="0" tIns="0" bIns="0" anchor="t">
            <a:spAutoFit/>
          </a:bodyPr>
          <a:lstStyle/>
          <a:p>
            <a:pPr algn="l">
              <a:defRPr sz="1200" b="0">
                <a:solidFill>
                  <a:srgbClr val="58656D"/>
                </a:solidFill>
                <a:latin typeface="Calibri"/>
              </a:defRPr>
            </a:pPr>
            <a:r>
              <a:t>ETag + replay state</a:t>
            </a:r>
          </a:p>
        </p:txBody>
      </p:sp>
      <p:cxnSp>
        <p:nvCxnSpPr>
          <p:cNvPr id="52" name="Connector 51"/>
          <p:cNvCxnSpPr/>
          <p:nvPr/>
        </p:nvCxnSpPr>
        <p:spPr>
          <a:xfrm>
            <a:off x="2971800" y="4187952"/>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191256" y="411480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191256" y="418795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760720" y="4187952"/>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80176" y="411480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980176" y="418795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549640" y="4187952"/>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769096" y="411480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769096" y="418795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94360" y="5093208"/>
            <a:ext cx="2743200" cy="256032"/>
          </a:xfrm>
          <a:prstGeom prst="rect">
            <a:avLst/>
          </a:prstGeom>
          <a:noFill/>
        </p:spPr>
        <p:txBody>
          <a:bodyPr wrap="square" lIns="0" rIns="0" tIns="0" bIns="0" anchor="t">
            <a:spAutoFit/>
          </a:bodyPr>
          <a:lstStyle/>
          <a:p>
            <a:pPr algn="l">
              <a:defRPr sz="1200" b="1">
                <a:solidFill>
                  <a:srgbClr val="006F78"/>
                </a:solidFill>
                <a:latin typeface="Calibri"/>
              </a:defRPr>
            </a:pPr>
            <a:r>
              <a:t>SEPARATE MCP TERMINAL DEMO</a:t>
            </a:r>
          </a:p>
        </p:txBody>
      </p:sp>
      <p:sp>
        <p:nvSpPr>
          <p:cNvPr id="62" name="TextBox 61"/>
          <p:cNvSpPr txBox="1"/>
          <p:nvPr/>
        </p:nvSpPr>
        <p:spPr>
          <a:xfrm>
            <a:off x="3337560" y="5065776"/>
            <a:ext cx="7955279" cy="320040"/>
          </a:xfrm>
          <a:prstGeom prst="rect">
            <a:avLst/>
          </a:prstGeom>
          <a:noFill/>
        </p:spPr>
        <p:txBody>
          <a:bodyPr wrap="square" lIns="0" rIns="0" tIns="0" bIns="0" anchor="t">
            <a:spAutoFit/>
          </a:bodyPr>
          <a:lstStyle/>
          <a:p>
            <a:pPr algn="l">
              <a:defRPr sz="1800" b="0">
                <a:solidFill>
                  <a:srgbClr val="20252A"/>
                </a:solidFill>
                <a:latin typeface="Calibri"/>
              </a:defRPr>
            </a:pPr>
            <a:r>
              <a:t>Inspector -&gt; MCP stdio server -&gt; isolated synthetic state</a:t>
            </a:r>
          </a:p>
        </p:txBody>
      </p:sp>
      <p:sp>
        <p:nvSpPr>
          <p:cNvPr id="63" name="TextBox 62"/>
          <p:cNvSpPr txBox="1"/>
          <p:nvPr/>
        </p:nvSpPr>
        <p:spPr>
          <a:xfrm>
            <a:off x="594360" y="5833872"/>
            <a:ext cx="10972800" cy="384048"/>
          </a:xfrm>
          <a:prstGeom prst="rect">
            <a:avLst/>
          </a:prstGeom>
          <a:noFill/>
        </p:spPr>
        <p:txBody>
          <a:bodyPr wrap="square" lIns="0" rIns="0" tIns="0" bIns="0" anchor="t">
            <a:spAutoFit/>
          </a:bodyPr>
          <a:lstStyle/>
          <a:p>
            <a:pPr algn="l">
              <a:defRPr sz="1700" b="1">
                <a:solidFill>
                  <a:srgbClr val="B73935"/>
                </a:solidFill>
                <a:latin typeface="Calibri"/>
              </a:defRPr>
            </a:pPr>
            <a:r>
              <a:t>The hosted agent can recommend. Only application policy can authorise and mutate.</a:t>
            </a:r>
          </a:p>
        </p:txBody>
      </p:sp>
      <p:sp>
        <p:nvSpPr>
          <p:cNvPr id="64" name="TextBox 63">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05</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DEMO 01 | SWITCH TO MCP TERMINAL</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Find the stock</a:t>
            </a:r>
          </a:p>
        </p:txBody>
      </p:sp>
      <p:sp>
        <p:nvSpPr>
          <p:cNvPr id="9" name="Rectangle 8"/>
          <p:cNvSpPr/>
          <p:nvPr/>
        </p:nvSpPr>
        <p:spPr>
          <a:xfrm>
            <a:off x="594360" y="2011680"/>
            <a:ext cx="1965960" cy="196596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23160"/>
            <a:ext cx="1965960" cy="320040"/>
          </a:xfrm>
          <a:prstGeom prst="rect">
            <a:avLst/>
          </a:prstGeom>
          <a:noFill/>
        </p:spPr>
        <p:txBody>
          <a:bodyPr wrap="square" lIns="0" rIns="0" tIns="0" bIns="0" anchor="t">
            <a:spAutoFit/>
          </a:bodyPr>
          <a:lstStyle/>
          <a:p>
            <a:pPr algn="ctr">
              <a:defRPr sz="2000" b="1">
                <a:solidFill>
                  <a:srgbClr val="FFFFFF"/>
                </a:solidFill>
                <a:latin typeface="Calibri"/>
              </a:defRPr>
            </a:pPr>
            <a:r>
              <a:t>DEMO</a:t>
            </a:r>
          </a:p>
        </p:txBody>
      </p:sp>
      <p:sp>
        <p:nvSpPr>
          <p:cNvPr id="11" name="TextBox 10"/>
          <p:cNvSpPr txBox="1"/>
          <p:nvPr/>
        </p:nvSpPr>
        <p:spPr>
          <a:xfrm>
            <a:off x="594360" y="2788920"/>
            <a:ext cx="1965960" cy="594360"/>
          </a:xfrm>
          <a:prstGeom prst="rect">
            <a:avLst/>
          </a:prstGeom>
          <a:noFill/>
        </p:spPr>
        <p:txBody>
          <a:bodyPr wrap="square" lIns="0" rIns="0" tIns="0" bIns="0" anchor="t">
            <a:spAutoFit/>
          </a:bodyPr>
          <a:lstStyle/>
          <a:p>
            <a:pPr algn="ctr">
              <a:defRPr sz="4200" b="1">
                <a:solidFill>
                  <a:srgbClr val="FFFFFF"/>
                </a:solidFill>
                <a:latin typeface="Calibri"/>
              </a:defRPr>
            </a:pPr>
            <a:r>
              <a:t>01</a:t>
            </a:r>
          </a:p>
        </p:txBody>
      </p:sp>
      <p:sp>
        <p:nvSpPr>
          <p:cNvPr id="12" name="TextBox 11"/>
          <p:cNvSpPr txBox="1"/>
          <p:nvPr/>
        </p:nvSpPr>
        <p:spPr>
          <a:xfrm>
            <a:off x="3063240" y="2212848"/>
            <a:ext cx="8046720" cy="1143000"/>
          </a:xfrm>
          <a:prstGeom prst="rect">
            <a:avLst/>
          </a:prstGeom>
          <a:noFill/>
        </p:spPr>
        <p:txBody>
          <a:bodyPr wrap="square" lIns="0" rIns="0" tIns="0" bIns="0" anchor="t">
            <a:spAutoFit/>
          </a:bodyPr>
          <a:lstStyle/>
          <a:p>
            <a:pPr algn="l">
              <a:defRPr sz="2800" b="0">
                <a:solidFill>
                  <a:srgbClr val="20252A"/>
                </a:solidFill>
                <a:latin typeface="Calibri"/>
              </a:defRPr>
            </a:pPr>
            <a:r>
              <a:t>Discover the tool, inspect its contract, and verify the inventory facts.</a:t>
            </a:r>
          </a:p>
        </p:txBody>
      </p:sp>
      <p:sp>
        <p:nvSpPr>
          <p:cNvPr id="13" name="TextBox 12"/>
          <p:cNvSpPr txBox="1"/>
          <p:nvPr/>
        </p:nvSpPr>
        <p:spPr>
          <a:xfrm>
            <a:off x="3063240" y="3657600"/>
            <a:ext cx="8046720" cy="365760"/>
          </a:xfrm>
          <a:prstGeom prst="rect">
            <a:avLst/>
          </a:prstGeom>
          <a:noFill/>
        </p:spPr>
        <p:txBody>
          <a:bodyPr wrap="square" lIns="0" rIns="0" tIns="0" bIns="0" anchor="t">
            <a:spAutoFit/>
          </a:bodyPr>
          <a:lstStyle/>
          <a:p>
            <a:pPr algn="l">
              <a:defRPr sz="1600" b="1">
                <a:solidFill>
                  <a:srgbClr val="006F78"/>
                </a:solidFill>
                <a:latin typeface="Calibri"/>
              </a:defRPr>
            </a:pPr>
            <a:r>
              <a:t>NEXT: MCP terminal</a:t>
            </a:r>
          </a:p>
        </p:txBody>
      </p:sp>
      <p:sp>
        <p:nvSpPr>
          <p:cNvPr id="14" name="TextBox 13">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06</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DEMONSTRATION | 3:00-5:00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Find the stock before asking for a decision.</a:t>
            </a:r>
          </a:p>
        </p:txBody>
      </p:sp>
      <p:sp>
        <p:nvSpPr>
          <p:cNvPr id="9" name="TextBox 8"/>
          <p:cNvSpPr txBox="1"/>
          <p:nvPr/>
        </p:nvSpPr>
        <p:spPr>
          <a:xfrm>
            <a:off x="594360" y="1920240"/>
            <a:ext cx="1828800" cy="457200"/>
          </a:xfrm>
          <a:prstGeom prst="rect">
            <a:avLst/>
          </a:prstGeom>
          <a:noFill/>
        </p:spPr>
        <p:txBody>
          <a:bodyPr wrap="square" lIns="0" rIns="0" tIns="0" bIns="0" anchor="t">
            <a:spAutoFit/>
          </a:bodyPr>
          <a:lstStyle/>
          <a:p>
            <a:pPr algn="l">
              <a:defRPr sz="2200" b="1">
                <a:solidFill>
                  <a:srgbClr val="006F78"/>
                </a:solidFill>
                <a:latin typeface="Calibri"/>
              </a:defRPr>
            </a:pPr>
            <a:r>
              <a:t>DISCOVER</a:t>
            </a:r>
          </a:p>
        </p:txBody>
      </p:sp>
      <p:sp>
        <p:nvSpPr>
          <p:cNvPr id="10" name="TextBox 9"/>
          <p:cNvSpPr txBox="1"/>
          <p:nvPr/>
        </p:nvSpPr>
        <p:spPr>
          <a:xfrm>
            <a:off x="2560320" y="1920240"/>
            <a:ext cx="8686800" cy="640080"/>
          </a:xfrm>
          <a:prstGeom prst="rect">
            <a:avLst/>
          </a:prstGeom>
          <a:noFill/>
        </p:spPr>
        <p:txBody>
          <a:bodyPr wrap="square" lIns="0" rIns="0" tIns="0" bIns="0" anchor="t">
            <a:spAutoFit/>
          </a:bodyPr>
          <a:lstStyle/>
          <a:p>
            <a:pPr algn="l">
              <a:defRPr sz="2400" b="0">
                <a:solidFill>
                  <a:srgbClr val="20252A"/>
                </a:solidFill>
                <a:latin typeface="Calibri"/>
              </a:defRPr>
            </a:pPr>
            <a:r>
              <a:t>tools/list: inspect locate_inventory</a:t>
            </a:r>
          </a:p>
        </p:txBody>
      </p:sp>
      <p:sp>
        <p:nvSpPr>
          <p:cNvPr id="11" name="TextBox 10"/>
          <p:cNvSpPr txBox="1"/>
          <p:nvPr/>
        </p:nvSpPr>
        <p:spPr>
          <a:xfrm>
            <a:off x="594360" y="3063240"/>
            <a:ext cx="1828800" cy="457200"/>
          </a:xfrm>
          <a:prstGeom prst="rect">
            <a:avLst/>
          </a:prstGeom>
          <a:noFill/>
        </p:spPr>
        <p:txBody>
          <a:bodyPr wrap="square" lIns="0" rIns="0" tIns="0" bIns="0" anchor="t">
            <a:spAutoFit/>
          </a:bodyPr>
          <a:lstStyle/>
          <a:p>
            <a:pPr algn="l">
              <a:defRPr sz="2200" b="1">
                <a:solidFill>
                  <a:srgbClr val="006F78"/>
                </a:solidFill>
                <a:latin typeface="Calibri"/>
              </a:defRPr>
            </a:pPr>
            <a:r>
              <a:t>CALL</a:t>
            </a:r>
          </a:p>
        </p:txBody>
      </p:sp>
      <p:sp>
        <p:nvSpPr>
          <p:cNvPr id="12" name="TextBox 11"/>
          <p:cNvSpPr txBox="1"/>
          <p:nvPr/>
        </p:nvSpPr>
        <p:spPr>
          <a:xfrm>
            <a:off x="2560320" y="3063240"/>
            <a:ext cx="8686800" cy="640080"/>
          </a:xfrm>
          <a:prstGeom prst="rect">
            <a:avLst/>
          </a:prstGeom>
          <a:noFill/>
        </p:spPr>
        <p:txBody>
          <a:bodyPr wrap="square" lIns="0" rIns="0" tIns="0" bIns="0" anchor="t">
            <a:spAutoFit/>
          </a:bodyPr>
          <a:lstStyle/>
          <a:p>
            <a:pPr algn="l">
              <a:defRPr sz="2400" b="0">
                <a:solidFill>
                  <a:srgbClr val="20252A"/>
                </a:solidFill>
                <a:latin typeface="Calibri"/>
              </a:defRPr>
            </a:pPr>
            <a:r>
              <a:t>tools/call: supply the known batch_id</a:t>
            </a:r>
          </a:p>
        </p:txBody>
      </p:sp>
      <p:sp>
        <p:nvSpPr>
          <p:cNvPr id="13" name="TextBox 12"/>
          <p:cNvSpPr txBox="1"/>
          <p:nvPr/>
        </p:nvSpPr>
        <p:spPr>
          <a:xfrm>
            <a:off x="594360" y="4206240"/>
            <a:ext cx="1828800" cy="457200"/>
          </a:xfrm>
          <a:prstGeom prst="rect">
            <a:avLst/>
          </a:prstGeom>
          <a:noFill/>
        </p:spPr>
        <p:txBody>
          <a:bodyPr wrap="square" lIns="0" rIns="0" tIns="0" bIns="0" anchor="t">
            <a:spAutoFit/>
          </a:bodyPr>
          <a:lstStyle/>
          <a:p>
            <a:pPr algn="l">
              <a:defRPr sz="2200" b="1">
                <a:solidFill>
                  <a:srgbClr val="006F78"/>
                </a:solidFill>
                <a:latin typeface="Calibri"/>
              </a:defRPr>
            </a:pPr>
            <a:r>
              <a:t>CHECK</a:t>
            </a:r>
          </a:p>
        </p:txBody>
      </p:sp>
      <p:sp>
        <p:nvSpPr>
          <p:cNvPr id="14" name="TextBox 13"/>
          <p:cNvSpPr txBox="1"/>
          <p:nvPr/>
        </p:nvSpPr>
        <p:spPr>
          <a:xfrm>
            <a:off x="2560320" y="4206240"/>
            <a:ext cx="8686800" cy="640080"/>
          </a:xfrm>
          <a:prstGeom prst="rect">
            <a:avLst/>
          </a:prstGeom>
          <a:noFill/>
        </p:spPr>
        <p:txBody>
          <a:bodyPr wrap="square" lIns="0" rIns="0" tIns="0" bIns="0" anchor="t">
            <a:spAutoFit/>
          </a:bodyPr>
          <a:lstStyle/>
          <a:p>
            <a:pPr algn="l">
              <a:defRPr sz="2400" b="0">
                <a:solidFill>
                  <a:srgbClr val="20252A"/>
                </a:solidFill>
                <a:latin typeface="Calibri"/>
              </a:defRPr>
            </a:pPr>
            <a:r>
              <a:t>Expected: 2,196 units across 4 positions</a:t>
            </a:r>
          </a:p>
        </p:txBody>
      </p:sp>
      <p:sp>
        <p:nvSpPr>
          <p:cNvPr id="15" name="TextBox 14"/>
          <p:cNvSpPr txBox="1"/>
          <p:nvPr/>
        </p:nvSpPr>
        <p:spPr>
          <a:xfrm>
            <a:off x="594360" y="5440680"/>
            <a:ext cx="10972800" cy="411480"/>
          </a:xfrm>
          <a:prstGeom prst="rect">
            <a:avLst/>
          </a:prstGeom>
          <a:noFill/>
        </p:spPr>
        <p:txBody>
          <a:bodyPr wrap="square" lIns="0" rIns="0" tIns="0" bIns="0" anchor="t">
            <a:spAutoFit/>
          </a:bodyPr>
          <a:lstStyle/>
          <a:p>
            <a:pPr algn="l">
              <a:defRPr sz="1700" b="0">
                <a:solidFill>
                  <a:srgbClr val="58656D"/>
                </a:solidFill>
                <a:latin typeface="Calibri"/>
              </a:defRPr>
            </a:pPr>
            <a:r>
              <a:t>Required batch_id | 1-64 characters | uppercase letters, digits, hyphens</a:t>
            </a:r>
          </a:p>
        </p:txBody>
      </p:sp>
      <p:sp>
        <p:nvSpPr>
          <p:cNvPr id="16" name="TextBox 15"/>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A narrow tool turns a vague request into checkable evidence.</a:t>
            </a:r>
          </a:p>
        </p:txBody>
      </p:sp>
      <p:sp>
        <p:nvSpPr>
          <p:cNvPr id="17" name="TextBox 16">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07</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DECISION | 5:00-6:30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Which workflow serves Asha's question?</a:t>
            </a:r>
          </a:p>
        </p:txBody>
      </p:sp>
      <p:sp>
        <p:nvSpPr>
          <p:cNvPr id="9" name="TextBox 8"/>
          <p:cNvSpPr txBox="1"/>
          <p:nvPr/>
        </p:nvSpPr>
        <p:spPr>
          <a:xfrm>
            <a:off x="594360" y="187451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SEQUENTIAL | demonstrated</a:t>
            </a:r>
          </a:p>
        </p:txBody>
      </p:sp>
      <p:sp>
        <p:nvSpPr>
          <p:cNvPr id="10" name="TextBox 9"/>
          <p:cNvSpPr txBox="1"/>
          <p:nvPr/>
        </p:nvSpPr>
        <p:spPr>
          <a:xfrm>
            <a:off x="594360" y="2359152"/>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Build a brief through explicit specialist handoffs.</a:t>
            </a:r>
          </a:p>
        </p:txBody>
      </p:sp>
      <p:cxnSp>
        <p:nvCxnSpPr>
          <p:cNvPr id="11" name="Connector 10"/>
          <p:cNvCxnSpPr/>
          <p:nvPr/>
        </p:nvCxnSpPr>
        <p:spPr>
          <a:xfrm>
            <a:off x="594360" y="297180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315467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SUPERVISOR ROUTING | comparison</a:t>
            </a:r>
          </a:p>
        </p:txBody>
      </p:sp>
      <p:sp>
        <p:nvSpPr>
          <p:cNvPr id="13" name="TextBox 12"/>
          <p:cNvSpPr txBox="1"/>
          <p:nvPr/>
        </p:nvSpPr>
        <p:spPr>
          <a:xfrm>
            <a:off x="594360" y="3639311"/>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Choose a specialist for a variable request; bound loops.</a:t>
            </a:r>
          </a:p>
        </p:txBody>
      </p:sp>
      <p:cxnSp>
        <p:nvCxnSpPr>
          <p:cNvPr id="14" name="Connector 13"/>
          <p:cNvCxnSpPr/>
          <p:nvPr/>
        </p:nvCxnSpPr>
        <p:spPr>
          <a:xfrm>
            <a:off x="594360" y="4251959"/>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4434840"/>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PARALLEL | comparison</a:t>
            </a:r>
          </a:p>
        </p:txBody>
      </p:sp>
      <p:sp>
        <p:nvSpPr>
          <p:cNvPr id="16" name="TextBox 15"/>
          <p:cNvSpPr txBox="1"/>
          <p:nvPr/>
        </p:nvSpPr>
        <p:spPr>
          <a:xfrm>
            <a:off x="594360" y="4919472"/>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Fetch independent evidence; define partial-failure policy.</a:t>
            </a:r>
          </a:p>
        </p:txBody>
      </p:sp>
      <p:cxnSp>
        <p:nvCxnSpPr>
          <p:cNvPr id="17" name="Connector 16"/>
          <p:cNvCxnSpPr/>
          <p:nvPr/>
        </p:nvCxnSpPr>
        <p:spPr>
          <a:xfrm>
            <a:off x="594360" y="553212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Choose by dependencies and uncertainty, not by agent count.</a:t>
            </a:r>
          </a:p>
        </p:txBody>
      </p:sp>
      <p:sp>
        <p:nvSpPr>
          <p:cNvPr id="19" name="TextBox 18">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08</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DEMO 02 | SWITCH TO HOSTED CONTROL TOWER</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Produce the brief</a:t>
            </a:r>
          </a:p>
        </p:txBody>
      </p:sp>
      <p:sp>
        <p:nvSpPr>
          <p:cNvPr id="9" name="Rectangle 8"/>
          <p:cNvSpPr/>
          <p:nvPr/>
        </p:nvSpPr>
        <p:spPr>
          <a:xfrm>
            <a:off x="594360" y="2011680"/>
            <a:ext cx="1965960" cy="196596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23160"/>
            <a:ext cx="1965960" cy="320040"/>
          </a:xfrm>
          <a:prstGeom prst="rect">
            <a:avLst/>
          </a:prstGeom>
          <a:noFill/>
        </p:spPr>
        <p:txBody>
          <a:bodyPr wrap="square" lIns="0" rIns="0" tIns="0" bIns="0" anchor="t">
            <a:spAutoFit/>
          </a:bodyPr>
          <a:lstStyle/>
          <a:p>
            <a:pPr algn="ctr">
              <a:defRPr sz="2000" b="1">
                <a:solidFill>
                  <a:srgbClr val="FFFFFF"/>
                </a:solidFill>
                <a:latin typeface="Calibri"/>
              </a:defRPr>
            </a:pPr>
            <a:r>
              <a:t>DEMO</a:t>
            </a:r>
          </a:p>
        </p:txBody>
      </p:sp>
      <p:sp>
        <p:nvSpPr>
          <p:cNvPr id="11" name="TextBox 10"/>
          <p:cNvSpPr txBox="1"/>
          <p:nvPr/>
        </p:nvSpPr>
        <p:spPr>
          <a:xfrm>
            <a:off x="594360" y="2788920"/>
            <a:ext cx="1965960" cy="594360"/>
          </a:xfrm>
          <a:prstGeom prst="rect">
            <a:avLst/>
          </a:prstGeom>
          <a:noFill/>
        </p:spPr>
        <p:txBody>
          <a:bodyPr wrap="square" lIns="0" rIns="0" tIns="0" bIns="0" anchor="t">
            <a:spAutoFit/>
          </a:bodyPr>
          <a:lstStyle/>
          <a:p>
            <a:pPr algn="ctr">
              <a:defRPr sz="4200" b="1">
                <a:solidFill>
                  <a:srgbClr val="FFFFFF"/>
                </a:solidFill>
                <a:latin typeface="Calibri"/>
              </a:defRPr>
            </a:pPr>
            <a:r>
              <a:t>02</a:t>
            </a:r>
          </a:p>
        </p:txBody>
      </p:sp>
      <p:sp>
        <p:nvSpPr>
          <p:cNvPr id="12" name="TextBox 11"/>
          <p:cNvSpPr txBox="1"/>
          <p:nvPr/>
        </p:nvSpPr>
        <p:spPr>
          <a:xfrm>
            <a:off x="3063240" y="2212848"/>
            <a:ext cx="8046720" cy="1143000"/>
          </a:xfrm>
          <a:prstGeom prst="rect">
            <a:avLst/>
          </a:prstGeom>
          <a:noFill/>
        </p:spPr>
        <p:txBody>
          <a:bodyPr wrap="square" lIns="0" rIns="0" tIns="0" bIns="0" anchor="t">
            <a:spAutoFit/>
          </a:bodyPr>
          <a:lstStyle/>
          <a:p>
            <a:pPr algn="l">
              <a:defRPr sz="2800" b="0">
                <a:solidFill>
                  <a:srgbClr val="20252A"/>
                </a:solidFill>
                <a:latin typeface="Calibri"/>
              </a:defRPr>
            </a:pPr>
            <a:r>
              <a:t>Run the read-only agent workflow and retain its response evidence.</a:t>
            </a:r>
          </a:p>
        </p:txBody>
      </p:sp>
      <p:sp>
        <p:nvSpPr>
          <p:cNvPr id="13" name="TextBox 12"/>
          <p:cNvSpPr txBox="1"/>
          <p:nvPr/>
        </p:nvSpPr>
        <p:spPr>
          <a:xfrm>
            <a:off x="3063240" y="3657600"/>
            <a:ext cx="8046720" cy="365760"/>
          </a:xfrm>
          <a:prstGeom prst="rect">
            <a:avLst/>
          </a:prstGeom>
          <a:noFill/>
        </p:spPr>
        <p:txBody>
          <a:bodyPr wrap="square" lIns="0" rIns="0" tIns="0" bIns="0" anchor="t">
            <a:spAutoFit/>
          </a:bodyPr>
          <a:lstStyle/>
          <a:p>
            <a:pPr algn="l">
              <a:defRPr sz="1600" b="1">
                <a:solidFill>
                  <a:srgbClr val="006F78"/>
                </a:solidFill>
                <a:latin typeface="Calibri"/>
              </a:defRPr>
            </a:pPr>
            <a:r>
              <a:t>NEXT: Hosted Control Tower</a:t>
            </a:r>
          </a:p>
        </p:txBody>
      </p:sp>
      <p:sp>
        <p:nvSpPr>
          <p:cNvPr id="14" name="TextBox 13">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09</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DEMONSTRATION | 6:30-9:00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Turn tool evidence into a decision brief.</a:t>
            </a:r>
          </a:p>
        </p:txBody>
      </p:sp>
      <p:sp>
        <p:nvSpPr>
          <p:cNvPr id="9" name="TextBox 8"/>
          <p:cNvSpPr txBox="1"/>
          <p:nvPr/>
        </p:nvSpPr>
        <p:spPr>
          <a:xfrm>
            <a:off x="594360" y="2423160"/>
            <a:ext cx="2503170" cy="457200"/>
          </a:xfrm>
          <a:prstGeom prst="rect">
            <a:avLst/>
          </a:prstGeom>
          <a:noFill/>
        </p:spPr>
        <p:txBody>
          <a:bodyPr wrap="square" lIns="0" rIns="0" tIns="0" bIns="0" anchor="t">
            <a:spAutoFit/>
          </a:bodyPr>
          <a:lstStyle/>
          <a:p>
            <a:pPr algn="l">
              <a:defRPr sz="2100" b="1">
                <a:solidFill>
                  <a:srgbClr val="006F78"/>
                </a:solidFill>
                <a:latin typeface="Calibri"/>
              </a:defRPr>
            </a:pPr>
            <a:r>
              <a:t>TRIAGE</a:t>
            </a:r>
          </a:p>
        </p:txBody>
      </p:sp>
      <p:cxnSp>
        <p:nvCxnSpPr>
          <p:cNvPr id="10" name="Connector 9"/>
          <p:cNvCxnSpPr/>
          <p:nvPr/>
        </p:nvCxnSpPr>
        <p:spPr>
          <a:xfrm>
            <a:off x="594360" y="3063240"/>
            <a:ext cx="2503169" cy="0"/>
          </a:xfrm>
          <a:prstGeom prst="line">
            <a:avLst/>
          </a:prstGeom>
          <a:ln w="38100">
            <a:solidFill>
              <a:srgbClr val="006F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 y="3383280"/>
            <a:ext cx="2503170" cy="1005840"/>
          </a:xfrm>
          <a:prstGeom prst="rect">
            <a:avLst/>
          </a:prstGeom>
          <a:noFill/>
        </p:spPr>
        <p:txBody>
          <a:bodyPr wrap="square" lIns="0" rIns="0" tIns="0" bIns="0" anchor="t">
            <a:spAutoFit/>
          </a:bodyPr>
          <a:lstStyle/>
          <a:p>
            <a:pPr algn="l">
              <a:defRPr sz="2100" b="0">
                <a:solidFill>
                  <a:srgbClr val="20252A"/>
                </a:solidFill>
                <a:latin typeface="Calibri"/>
              </a:defRPr>
            </a:pPr>
            <a:r>
              <a:t>Establish the batch</a:t>
            </a:r>
          </a:p>
        </p:txBody>
      </p:sp>
      <p:cxnSp>
        <p:nvCxnSpPr>
          <p:cNvPr id="12" name="Connector 11"/>
          <p:cNvCxnSpPr/>
          <p:nvPr/>
        </p:nvCxnSpPr>
        <p:spPr>
          <a:xfrm>
            <a:off x="3134106" y="3063240"/>
            <a:ext cx="228600"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271265" y="2990088"/>
            <a:ext cx="91441"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271265" y="3063240"/>
            <a:ext cx="91441"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17570" y="2423160"/>
            <a:ext cx="2503170" cy="457200"/>
          </a:xfrm>
          <a:prstGeom prst="rect">
            <a:avLst/>
          </a:prstGeom>
          <a:noFill/>
        </p:spPr>
        <p:txBody>
          <a:bodyPr wrap="square" lIns="0" rIns="0" tIns="0" bIns="0" anchor="t">
            <a:spAutoFit/>
          </a:bodyPr>
          <a:lstStyle/>
          <a:p>
            <a:pPr algn="l">
              <a:defRPr sz="2100" b="1">
                <a:solidFill>
                  <a:srgbClr val="006F78"/>
                </a:solidFill>
                <a:latin typeface="Calibri"/>
              </a:defRPr>
            </a:pPr>
            <a:r>
              <a:t>INVENTORY</a:t>
            </a:r>
          </a:p>
        </p:txBody>
      </p:sp>
      <p:cxnSp>
        <p:nvCxnSpPr>
          <p:cNvPr id="16" name="Connector 15"/>
          <p:cNvCxnSpPr/>
          <p:nvPr/>
        </p:nvCxnSpPr>
        <p:spPr>
          <a:xfrm>
            <a:off x="3417570" y="3063240"/>
            <a:ext cx="2503170" cy="0"/>
          </a:xfrm>
          <a:prstGeom prst="line">
            <a:avLst/>
          </a:prstGeom>
          <a:ln w="38100">
            <a:solidFill>
              <a:srgbClr val="006F7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417570" y="3383280"/>
            <a:ext cx="2503170" cy="1005840"/>
          </a:xfrm>
          <a:prstGeom prst="rect">
            <a:avLst/>
          </a:prstGeom>
          <a:noFill/>
        </p:spPr>
        <p:txBody>
          <a:bodyPr wrap="square" lIns="0" rIns="0" tIns="0" bIns="0" anchor="t">
            <a:spAutoFit/>
          </a:bodyPr>
          <a:lstStyle/>
          <a:p>
            <a:pPr algn="l">
              <a:defRPr sz="2100" b="0">
                <a:solidFill>
                  <a:srgbClr val="20252A"/>
                </a:solidFill>
                <a:latin typeface="Calibri"/>
              </a:defRPr>
            </a:pPr>
            <a:r>
              <a:t>Measure exposure</a:t>
            </a:r>
          </a:p>
        </p:txBody>
      </p:sp>
      <p:cxnSp>
        <p:nvCxnSpPr>
          <p:cNvPr id="18" name="Connector 17"/>
          <p:cNvCxnSpPr/>
          <p:nvPr/>
        </p:nvCxnSpPr>
        <p:spPr>
          <a:xfrm>
            <a:off x="5957316" y="3063240"/>
            <a:ext cx="228600"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94476" y="2990088"/>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094476" y="306324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40780" y="2423160"/>
            <a:ext cx="2503170" cy="457200"/>
          </a:xfrm>
          <a:prstGeom prst="rect">
            <a:avLst/>
          </a:prstGeom>
          <a:noFill/>
        </p:spPr>
        <p:txBody>
          <a:bodyPr wrap="square" lIns="0" rIns="0" tIns="0" bIns="0" anchor="t">
            <a:spAutoFit/>
          </a:bodyPr>
          <a:lstStyle/>
          <a:p>
            <a:pPr algn="l">
              <a:defRPr sz="2100" b="1">
                <a:solidFill>
                  <a:srgbClr val="006F78"/>
                </a:solidFill>
                <a:latin typeface="Calibri"/>
              </a:defRPr>
            </a:pPr>
            <a:r>
              <a:t>COMPLIANCE</a:t>
            </a:r>
          </a:p>
        </p:txBody>
      </p:sp>
      <p:cxnSp>
        <p:nvCxnSpPr>
          <p:cNvPr id="22" name="Connector 21"/>
          <p:cNvCxnSpPr/>
          <p:nvPr/>
        </p:nvCxnSpPr>
        <p:spPr>
          <a:xfrm>
            <a:off x="6240780" y="3063240"/>
            <a:ext cx="2503170" cy="0"/>
          </a:xfrm>
          <a:prstGeom prst="line">
            <a:avLst/>
          </a:prstGeom>
          <a:ln w="38100">
            <a:solidFill>
              <a:srgbClr val="006F7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40780" y="3383280"/>
            <a:ext cx="2503170" cy="1005840"/>
          </a:xfrm>
          <a:prstGeom prst="rect">
            <a:avLst/>
          </a:prstGeom>
          <a:noFill/>
        </p:spPr>
        <p:txBody>
          <a:bodyPr wrap="square" lIns="0" rIns="0" tIns="0" bIns="0" anchor="t">
            <a:spAutoFit/>
          </a:bodyPr>
          <a:lstStyle/>
          <a:p>
            <a:pPr algn="l">
              <a:defRPr sz="2100" b="0">
                <a:solidFill>
                  <a:srgbClr val="20252A"/>
                </a:solidFill>
                <a:latin typeface="Calibri"/>
              </a:defRPr>
            </a:pPr>
            <a:r>
              <a:t>Preserve uncertainty</a:t>
            </a:r>
          </a:p>
        </p:txBody>
      </p:sp>
      <p:cxnSp>
        <p:nvCxnSpPr>
          <p:cNvPr id="24" name="Connector 23"/>
          <p:cNvCxnSpPr/>
          <p:nvPr/>
        </p:nvCxnSpPr>
        <p:spPr>
          <a:xfrm>
            <a:off x="8780526" y="3063240"/>
            <a:ext cx="228600"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917686" y="2990088"/>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917686" y="306324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063990" y="2423160"/>
            <a:ext cx="2503170" cy="457200"/>
          </a:xfrm>
          <a:prstGeom prst="rect">
            <a:avLst/>
          </a:prstGeom>
          <a:noFill/>
        </p:spPr>
        <p:txBody>
          <a:bodyPr wrap="square" lIns="0" rIns="0" tIns="0" bIns="0" anchor="t">
            <a:spAutoFit/>
          </a:bodyPr>
          <a:lstStyle/>
          <a:p>
            <a:pPr algn="l">
              <a:defRPr sz="2100" b="1">
                <a:solidFill>
                  <a:srgbClr val="006F78"/>
                </a:solidFill>
                <a:latin typeface="Calibri"/>
              </a:defRPr>
            </a:pPr>
            <a:r>
              <a:t>SUPERVISOR</a:t>
            </a:r>
          </a:p>
        </p:txBody>
      </p:sp>
      <p:cxnSp>
        <p:nvCxnSpPr>
          <p:cNvPr id="28" name="Connector 27"/>
          <p:cNvCxnSpPr/>
          <p:nvPr/>
        </p:nvCxnSpPr>
        <p:spPr>
          <a:xfrm>
            <a:off x="9063990" y="3063240"/>
            <a:ext cx="2503169" cy="0"/>
          </a:xfrm>
          <a:prstGeom prst="line">
            <a:avLst/>
          </a:prstGeom>
          <a:ln w="38100">
            <a:solidFill>
              <a:srgbClr val="006F7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063990" y="3383280"/>
            <a:ext cx="2503170" cy="1005840"/>
          </a:xfrm>
          <a:prstGeom prst="rect">
            <a:avLst/>
          </a:prstGeom>
          <a:noFill/>
        </p:spPr>
        <p:txBody>
          <a:bodyPr wrap="square" lIns="0" rIns="0" tIns="0" bIns="0" anchor="t">
            <a:spAutoFit/>
          </a:bodyPr>
          <a:lstStyle/>
          <a:p>
            <a:pPr algn="l">
              <a:defRPr sz="2100" b="0">
                <a:solidFill>
                  <a:srgbClr val="20252A"/>
                </a:solidFill>
                <a:latin typeface="Calibri"/>
              </a:defRPr>
            </a:pPr>
            <a:r>
              <a:t>Synthesise; no tools</a:t>
            </a:r>
          </a:p>
        </p:txBody>
      </p:sp>
      <p:sp>
        <p:nvSpPr>
          <p:cNvPr id="30" name="TextBox 29"/>
          <p:cNvSpPr txBox="1"/>
          <p:nvPr/>
        </p:nvSpPr>
        <p:spPr>
          <a:xfrm>
            <a:off x="594360" y="5074920"/>
            <a:ext cx="10972800" cy="594360"/>
          </a:xfrm>
          <a:prstGeom prst="rect">
            <a:avLst/>
          </a:prstGeom>
          <a:noFill/>
        </p:spPr>
        <p:txBody>
          <a:bodyPr wrap="square" lIns="0" rIns="0" tIns="0" bIns="0" anchor="t">
            <a:spAutoFit/>
          </a:bodyPr>
          <a:lstStyle/>
          <a:p>
            <a:pPr algn="l">
              <a:defRPr sz="2000" b="0">
                <a:solidFill>
                  <a:srgbClr val="58656D"/>
                </a:solidFill>
                <a:latin typeface="Calibri"/>
              </a:defRPr>
            </a:pPr>
            <a:r>
              <a:t>Microsoft Agent Framework: fixed graph | Microsoft Foundry: hosted execution</a:t>
            </a:r>
          </a:p>
        </p:txBody>
      </p:sp>
      <p:sp>
        <p:nvSpPr>
          <p:cNvPr id="31" name="TextBox 30"/>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Run analysis in the hosted Control Tower; retain the response ID.</a:t>
            </a:r>
          </a:p>
        </p:txBody>
      </p:sp>
      <p:sp>
        <p:nvSpPr>
          <p:cNvPr id="32" name="TextBox 31">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10</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DEMO 03 | SWITCH TO MCP TERMINAL</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Investigate a failure</a:t>
            </a:r>
          </a:p>
        </p:txBody>
      </p:sp>
      <p:sp>
        <p:nvSpPr>
          <p:cNvPr id="9" name="Rectangle 8"/>
          <p:cNvSpPr/>
          <p:nvPr/>
        </p:nvSpPr>
        <p:spPr>
          <a:xfrm>
            <a:off x="594360" y="2011680"/>
            <a:ext cx="1965960" cy="196596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23160"/>
            <a:ext cx="1965960" cy="320040"/>
          </a:xfrm>
          <a:prstGeom prst="rect">
            <a:avLst/>
          </a:prstGeom>
          <a:noFill/>
        </p:spPr>
        <p:txBody>
          <a:bodyPr wrap="square" lIns="0" rIns="0" tIns="0" bIns="0" anchor="t">
            <a:spAutoFit/>
          </a:bodyPr>
          <a:lstStyle/>
          <a:p>
            <a:pPr algn="ctr">
              <a:defRPr sz="2000" b="1">
                <a:solidFill>
                  <a:srgbClr val="FFFFFF"/>
                </a:solidFill>
                <a:latin typeface="Calibri"/>
              </a:defRPr>
            </a:pPr>
            <a:r>
              <a:t>DEMO</a:t>
            </a:r>
          </a:p>
        </p:txBody>
      </p:sp>
      <p:sp>
        <p:nvSpPr>
          <p:cNvPr id="11" name="TextBox 10"/>
          <p:cNvSpPr txBox="1"/>
          <p:nvPr/>
        </p:nvSpPr>
        <p:spPr>
          <a:xfrm>
            <a:off x="594360" y="2788920"/>
            <a:ext cx="1965960" cy="594360"/>
          </a:xfrm>
          <a:prstGeom prst="rect">
            <a:avLst/>
          </a:prstGeom>
          <a:noFill/>
        </p:spPr>
        <p:txBody>
          <a:bodyPr wrap="square" lIns="0" rIns="0" tIns="0" bIns="0" anchor="t">
            <a:spAutoFit/>
          </a:bodyPr>
          <a:lstStyle/>
          <a:p>
            <a:pPr algn="ctr">
              <a:defRPr sz="4200" b="1">
                <a:solidFill>
                  <a:srgbClr val="FFFFFF"/>
                </a:solidFill>
                <a:latin typeface="Calibri"/>
              </a:defRPr>
            </a:pPr>
            <a:r>
              <a:t>03</a:t>
            </a:r>
          </a:p>
        </p:txBody>
      </p:sp>
      <p:sp>
        <p:nvSpPr>
          <p:cNvPr id="12" name="TextBox 11"/>
          <p:cNvSpPr txBox="1"/>
          <p:nvPr/>
        </p:nvSpPr>
        <p:spPr>
          <a:xfrm>
            <a:off x="3063240" y="2212848"/>
            <a:ext cx="8046720" cy="1143000"/>
          </a:xfrm>
          <a:prstGeom prst="rect">
            <a:avLst/>
          </a:prstGeom>
          <a:noFill/>
        </p:spPr>
        <p:txBody>
          <a:bodyPr wrap="square" lIns="0" rIns="0" tIns="0" bIns="0" anchor="t">
            <a:spAutoFit/>
          </a:bodyPr>
          <a:lstStyle/>
          <a:p>
            <a:pPr algn="l">
              <a:defRPr sz="2800" b="0">
                <a:solidFill>
                  <a:srgbClr val="20252A"/>
                </a:solidFill>
                <a:latin typeface="Calibri"/>
              </a:defRPr>
            </a:pPr>
            <a:r>
              <a:t>Separate invalid input from denied authority, then inspect unchanged state.</a:t>
            </a:r>
          </a:p>
        </p:txBody>
      </p:sp>
      <p:sp>
        <p:nvSpPr>
          <p:cNvPr id="13" name="TextBox 12"/>
          <p:cNvSpPr txBox="1"/>
          <p:nvPr/>
        </p:nvSpPr>
        <p:spPr>
          <a:xfrm>
            <a:off x="3063240" y="3657600"/>
            <a:ext cx="8046720" cy="365760"/>
          </a:xfrm>
          <a:prstGeom prst="rect">
            <a:avLst/>
          </a:prstGeom>
          <a:noFill/>
        </p:spPr>
        <p:txBody>
          <a:bodyPr wrap="square" lIns="0" rIns="0" tIns="0" bIns="0" anchor="t">
            <a:spAutoFit/>
          </a:bodyPr>
          <a:lstStyle/>
          <a:p>
            <a:pPr algn="l">
              <a:defRPr sz="1600" b="1">
                <a:solidFill>
                  <a:srgbClr val="006F78"/>
                </a:solidFill>
                <a:latin typeface="Calibri"/>
              </a:defRPr>
            </a:pPr>
            <a:r>
              <a:t>NEXT: MCP terminal</a:t>
            </a:r>
          </a:p>
        </p:txBody>
      </p:sp>
      <p:sp>
        <p:nvSpPr>
          <p:cNvPr id="14" name="TextBox 13">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11</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FAILURE LAB | 9:00-13:00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The request failed. What should happen next?</a:t>
            </a:r>
          </a:p>
        </p:txBody>
      </p:sp>
      <p:sp>
        <p:nvSpPr>
          <p:cNvPr id="9" name="TextBox 8"/>
          <p:cNvSpPr txBox="1"/>
          <p:nvPr/>
        </p:nvSpPr>
        <p:spPr>
          <a:xfrm>
            <a:off x="594360" y="187451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BAD INPUT | inspect_mcp.py</a:t>
            </a:r>
          </a:p>
        </p:txBody>
      </p:sp>
      <p:sp>
        <p:nvSpPr>
          <p:cNvPr id="10" name="TextBox 9"/>
          <p:cNvSpPr txBox="1"/>
          <p:nvPr/>
        </p:nvSpPr>
        <p:spPr>
          <a:xfrm>
            <a:off x="594360" y="2359152"/>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Observe isError; correct the argument, not the prompt.</a:t>
            </a:r>
          </a:p>
        </p:txBody>
      </p:sp>
      <p:cxnSp>
        <p:nvCxnSpPr>
          <p:cNvPr id="11" name="Connector 10"/>
          <p:cNvCxnSpPr/>
          <p:nvPr/>
        </p:nvCxnSpPr>
        <p:spPr>
          <a:xfrm>
            <a:off x="594360" y="297180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315467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NO APPROVAL | inspect_mcp.py</a:t>
            </a:r>
          </a:p>
        </p:txBody>
      </p:sp>
      <p:sp>
        <p:nvSpPr>
          <p:cNvPr id="13" name="TextBox 12"/>
          <p:cNvSpPr txBox="1"/>
          <p:nvPr/>
        </p:nvSpPr>
        <p:spPr>
          <a:xfrm>
            <a:off x="594360" y="3639311"/>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Observe denial; re-read stock to check no mutation.</a:t>
            </a:r>
          </a:p>
        </p:txBody>
      </p:sp>
      <p:cxnSp>
        <p:nvCxnSpPr>
          <p:cNvPr id="14" name="Connector 13"/>
          <p:cNvCxnSpPr/>
          <p:nvPr/>
        </p:nvCxnSpPr>
        <p:spPr>
          <a:xfrm>
            <a:off x="594360" y="4251959"/>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4434840"/>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WRONG BRIEF | diagnostic comparison</a:t>
            </a:r>
          </a:p>
        </p:txBody>
      </p:sp>
      <p:sp>
        <p:nvSpPr>
          <p:cNvPr id="16" name="TextBox 15"/>
          <p:cNvSpPr txBox="1"/>
          <p:nvPr/>
        </p:nvSpPr>
        <p:spPr>
          <a:xfrm>
            <a:off x="594360" y="4919472"/>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Compare tool result, handoff and synthesis in that order.</a:t>
            </a:r>
          </a:p>
        </p:txBody>
      </p:sp>
      <p:cxnSp>
        <p:nvCxnSpPr>
          <p:cNvPr id="17" name="Connector 16"/>
          <p:cNvCxnSpPr/>
          <p:nvPr/>
        </p:nvCxnSpPr>
        <p:spPr>
          <a:xfrm>
            <a:off x="594360" y="553212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Fix the layer that owns the failure. Verify the resulting state.</a:t>
            </a:r>
          </a:p>
        </p:txBody>
      </p:sp>
      <p:sp>
        <p:nvSpPr>
          <p:cNvPr id="19" name="TextBox 18">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12</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DEMO 04 | SWITCH TO HOSTED CONTROL TOWER</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Give authority to the person</a:t>
            </a:r>
          </a:p>
        </p:txBody>
      </p:sp>
      <p:sp>
        <p:nvSpPr>
          <p:cNvPr id="9" name="Rectangle 8"/>
          <p:cNvSpPr/>
          <p:nvPr/>
        </p:nvSpPr>
        <p:spPr>
          <a:xfrm>
            <a:off x="594360" y="2011680"/>
            <a:ext cx="1965960" cy="196596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23160"/>
            <a:ext cx="1965960" cy="320040"/>
          </a:xfrm>
          <a:prstGeom prst="rect">
            <a:avLst/>
          </a:prstGeom>
          <a:noFill/>
        </p:spPr>
        <p:txBody>
          <a:bodyPr wrap="square" lIns="0" rIns="0" tIns="0" bIns="0" anchor="t">
            <a:spAutoFit/>
          </a:bodyPr>
          <a:lstStyle/>
          <a:p>
            <a:pPr algn="ctr">
              <a:defRPr sz="2000" b="1">
                <a:solidFill>
                  <a:srgbClr val="FFFFFF"/>
                </a:solidFill>
                <a:latin typeface="Calibri"/>
              </a:defRPr>
            </a:pPr>
            <a:r>
              <a:t>DEMO</a:t>
            </a:r>
          </a:p>
        </p:txBody>
      </p:sp>
      <p:sp>
        <p:nvSpPr>
          <p:cNvPr id="11" name="TextBox 10"/>
          <p:cNvSpPr txBox="1"/>
          <p:nvPr/>
        </p:nvSpPr>
        <p:spPr>
          <a:xfrm>
            <a:off x="594360" y="2788920"/>
            <a:ext cx="1965960" cy="594360"/>
          </a:xfrm>
          <a:prstGeom prst="rect">
            <a:avLst/>
          </a:prstGeom>
          <a:noFill/>
        </p:spPr>
        <p:txBody>
          <a:bodyPr wrap="square" lIns="0" rIns="0" tIns="0" bIns="0" anchor="t">
            <a:spAutoFit/>
          </a:bodyPr>
          <a:lstStyle/>
          <a:p>
            <a:pPr algn="ctr">
              <a:defRPr sz="4200" b="1">
                <a:solidFill>
                  <a:srgbClr val="FFFFFF"/>
                </a:solidFill>
                <a:latin typeface="Calibri"/>
              </a:defRPr>
            </a:pPr>
            <a:r>
              <a:t>04</a:t>
            </a:r>
          </a:p>
        </p:txBody>
      </p:sp>
      <p:sp>
        <p:nvSpPr>
          <p:cNvPr id="12" name="TextBox 11"/>
          <p:cNvSpPr txBox="1"/>
          <p:nvPr/>
        </p:nvSpPr>
        <p:spPr>
          <a:xfrm>
            <a:off x="3063240" y="2212848"/>
            <a:ext cx="8046720" cy="1143000"/>
          </a:xfrm>
          <a:prstGeom prst="rect">
            <a:avLst/>
          </a:prstGeom>
          <a:noFill/>
        </p:spPr>
        <p:txBody>
          <a:bodyPr wrap="square" lIns="0" rIns="0" tIns="0" bIns="0" anchor="t">
            <a:spAutoFit/>
          </a:bodyPr>
          <a:lstStyle/>
          <a:p>
            <a:pPr algn="l">
              <a:defRPr sz="2800" b="0">
                <a:solidFill>
                  <a:srgbClr val="20252A"/>
                </a:solidFill>
                <a:latin typeface="Calibri"/>
              </a:defRPr>
            </a:pPr>
            <a:r>
              <a:t>Move from recommendation to an authenticated, application-controlled action.</a:t>
            </a:r>
          </a:p>
        </p:txBody>
      </p:sp>
      <p:sp>
        <p:nvSpPr>
          <p:cNvPr id="13" name="TextBox 12"/>
          <p:cNvSpPr txBox="1"/>
          <p:nvPr/>
        </p:nvSpPr>
        <p:spPr>
          <a:xfrm>
            <a:off x="3063240" y="3657600"/>
            <a:ext cx="8046720" cy="365760"/>
          </a:xfrm>
          <a:prstGeom prst="rect">
            <a:avLst/>
          </a:prstGeom>
          <a:noFill/>
        </p:spPr>
        <p:txBody>
          <a:bodyPr wrap="square" lIns="0" rIns="0" tIns="0" bIns="0" anchor="t">
            <a:spAutoFit/>
          </a:bodyPr>
          <a:lstStyle/>
          <a:p>
            <a:pPr algn="l">
              <a:defRPr sz="1600" b="1">
                <a:solidFill>
                  <a:srgbClr val="006F78"/>
                </a:solidFill>
                <a:latin typeface="Calibri"/>
              </a:defRPr>
            </a:pPr>
            <a:r>
              <a:t>NEXT: Hosted Control Tower</a:t>
            </a:r>
          </a:p>
        </p:txBody>
      </p:sp>
      <p:sp>
        <p:nvSpPr>
          <p:cNvPr id="14" name="TextBox 13">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13</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DEMONSTRATION | 13:00-16:00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Asha can approve. The model cannot.</a:t>
            </a:r>
          </a:p>
        </p:txBody>
      </p:sp>
      <p:sp>
        <p:nvSpPr>
          <p:cNvPr id="9" name="TextBox 8"/>
          <p:cNvSpPr txBox="1"/>
          <p:nvPr/>
        </p:nvSpPr>
        <p:spPr>
          <a:xfrm>
            <a:off x="594360" y="1828800"/>
            <a:ext cx="3291840" cy="548640"/>
          </a:xfrm>
          <a:prstGeom prst="rect">
            <a:avLst/>
          </a:prstGeom>
          <a:noFill/>
        </p:spPr>
        <p:txBody>
          <a:bodyPr wrap="square" lIns="0" rIns="0" tIns="0" bIns="0" anchor="t">
            <a:spAutoFit/>
          </a:bodyPr>
          <a:lstStyle/>
          <a:p>
            <a:pPr algn="l">
              <a:defRPr sz="2400" b="1">
                <a:solidFill>
                  <a:srgbClr val="B73935"/>
                </a:solidFill>
                <a:latin typeface="Calibri"/>
              </a:defRPr>
            </a:pPr>
            <a:r>
              <a:t>ASSESS</a:t>
            </a:r>
          </a:p>
        </p:txBody>
      </p:sp>
      <p:sp>
        <p:nvSpPr>
          <p:cNvPr id="10" name="TextBox 9"/>
          <p:cNvSpPr txBox="1"/>
          <p:nvPr/>
        </p:nvSpPr>
        <p:spPr>
          <a:xfrm>
            <a:off x="594360" y="2423160"/>
            <a:ext cx="3291840" cy="594360"/>
          </a:xfrm>
          <a:prstGeom prst="rect">
            <a:avLst/>
          </a:prstGeom>
          <a:noFill/>
        </p:spPr>
        <p:txBody>
          <a:bodyPr wrap="square" lIns="0" rIns="0" tIns="0" bIns="0" anchor="t">
            <a:spAutoFit/>
          </a:bodyPr>
          <a:lstStyle/>
          <a:p>
            <a:pPr algn="l">
              <a:defRPr sz="1700" b="0">
                <a:solidFill>
                  <a:srgbClr val="20252A"/>
                </a:solidFill>
                <a:latin typeface="Calibri"/>
              </a:defRPr>
            </a:pPr>
            <a:r>
              <a:t>Retained Foundry response; read-only agent</a:t>
            </a:r>
          </a:p>
        </p:txBody>
      </p:sp>
      <p:sp>
        <p:nvSpPr>
          <p:cNvPr id="11" name="TextBox 10"/>
          <p:cNvSpPr txBox="1"/>
          <p:nvPr/>
        </p:nvSpPr>
        <p:spPr>
          <a:xfrm>
            <a:off x="594360" y="3063240"/>
            <a:ext cx="3291840" cy="548640"/>
          </a:xfrm>
          <a:prstGeom prst="rect">
            <a:avLst/>
          </a:prstGeom>
          <a:noFill/>
        </p:spPr>
        <p:txBody>
          <a:bodyPr wrap="square" lIns="0" rIns="0" tIns="0" bIns="0" anchor="t">
            <a:spAutoFit/>
          </a:bodyPr>
          <a:lstStyle/>
          <a:p>
            <a:pPr algn="l">
              <a:defRPr sz="2400" b="1">
                <a:solidFill>
                  <a:srgbClr val="006F78"/>
                </a:solidFill>
                <a:latin typeface="Calibri"/>
              </a:defRPr>
            </a:pPr>
            <a:r>
              <a:t>APPROVE</a:t>
            </a:r>
          </a:p>
        </p:txBody>
      </p:sp>
      <p:sp>
        <p:nvSpPr>
          <p:cNvPr id="12" name="TextBox 11"/>
          <p:cNvSpPr txBox="1"/>
          <p:nvPr/>
        </p:nvSpPr>
        <p:spPr>
          <a:xfrm>
            <a:off x="594360" y="3657600"/>
            <a:ext cx="3291840" cy="594360"/>
          </a:xfrm>
          <a:prstGeom prst="rect">
            <a:avLst/>
          </a:prstGeom>
          <a:noFill/>
        </p:spPr>
        <p:txBody>
          <a:bodyPr wrap="square" lIns="0" rIns="0" tIns="0" bIns="0" anchor="t">
            <a:spAutoFit/>
          </a:bodyPr>
          <a:lstStyle/>
          <a:p>
            <a:pPr algn="l">
              <a:defRPr sz="1700" b="0">
                <a:solidFill>
                  <a:srgbClr val="20252A"/>
                </a:solidFill>
                <a:latin typeface="Calibri"/>
              </a:defRPr>
            </a:pPr>
            <a:r>
              <a:t>Authenticated person authorises quarantine</a:t>
            </a:r>
          </a:p>
        </p:txBody>
      </p:sp>
      <p:sp>
        <p:nvSpPr>
          <p:cNvPr id="13" name="TextBox 12"/>
          <p:cNvSpPr txBox="1"/>
          <p:nvPr/>
        </p:nvSpPr>
        <p:spPr>
          <a:xfrm>
            <a:off x="594360" y="4297680"/>
            <a:ext cx="3291840" cy="548640"/>
          </a:xfrm>
          <a:prstGeom prst="rect">
            <a:avLst/>
          </a:prstGeom>
          <a:noFill/>
        </p:spPr>
        <p:txBody>
          <a:bodyPr wrap="square" lIns="0" rIns="0" tIns="0" bIns="0" anchor="t">
            <a:spAutoFit/>
          </a:bodyPr>
          <a:lstStyle/>
          <a:p>
            <a:pPr algn="l">
              <a:defRPr sz="2400" b="1">
                <a:solidFill>
                  <a:srgbClr val="006F78"/>
                </a:solidFill>
                <a:latin typeface="Calibri"/>
              </a:defRPr>
            </a:pPr>
            <a:r>
              <a:t>INSPECT</a:t>
            </a:r>
          </a:p>
        </p:txBody>
      </p:sp>
      <p:sp>
        <p:nvSpPr>
          <p:cNvPr id="14" name="TextBox 13"/>
          <p:cNvSpPr txBox="1"/>
          <p:nvPr/>
        </p:nvSpPr>
        <p:spPr>
          <a:xfrm>
            <a:off x="594360" y="4892040"/>
            <a:ext cx="3291840" cy="594360"/>
          </a:xfrm>
          <a:prstGeom prst="rect">
            <a:avLst/>
          </a:prstGeom>
          <a:noFill/>
        </p:spPr>
        <p:txBody>
          <a:bodyPr wrap="square" lIns="0" rIns="0" tIns="0" bIns="0" anchor="t">
            <a:spAutoFit/>
          </a:bodyPr>
          <a:lstStyle/>
          <a:p>
            <a:pPr algn="l">
              <a:defRPr sz="1700" b="0">
                <a:solidFill>
                  <a:srgbClr val="20252A"/>
                </a:solidFill>
                <a:latin typeface="Calibri"/>
              </a:defRPr>
            </a:pPr>
            <a:r>
              <a:t>Check the operation result and audit</a:t>
            </a:r>
          </a:p>
        </p:txBody>
      </p:sp>
      <p:pic>
        <p:nvPicPr>
          <p:cNvPr id="15" name="Picture 14" descr="control-tower-initial.png"/>
          <p:cNvPicPr>
            <a:picLocks noChangeAspect="1"/>
          </p:cNvPicPr>
          <p:nvPr/>
        </p:nvPicPr>
        <p:blipFill>
          <a:blip r:embed="rId2"/>
          <a:stretch>
            <a:fillRect/>
          </a:stretch>
        </p:blipFill>
        <p:spPr>
          <a:xfrm>
            <a:off x="4251960" y="1828800"/>
            <a:ext cx="5773921" cy="3749039"/>
          </a:xfrm>
          <a:prstGeom prst="rect">
            <a:avLst/>
          </a:prstGeom>
        </p:spPr>
      </p:pic>
      <p:sp>
        <p:nvSpPr>
          <p:cNvPr id="16" name="TextBox 15"/>
          <p:cNvSpPr txBox="1"/>
          <p:nvPr/>
        </p:nvSpPr>
        <p:spPr>
          <a:xfrm>
            <a:off x="4251960" y="5532120"/>
            <a:ext cx="7315200" cy="365760"/>
          </a:xfrm>
          <a:prstGeom prst="rect">
            <a:avLst/>
          </a:prstGeom>
          <a:noFill/>
        </p:spPr>
        <p:txBody>
          <a:bodyPr wrap="square" lIns="0" rIns="0" tIns="0" bIns="0" anchor="t">
            <a:spAutoFit/>
          </a:bodyPr>
          <a:lstStyle/>
          <a:p>
            <a:pPr algn="l">
              <a:defRPr sz="1200" b="0">
                <a:solidFill>
                  <a:srgbClr val="58656D"/>
                </a:solidFill>
                <a:latin typeface="Calibri"/>
              </a:defRPr>
            </a:pPr>
            <a:r>
              <a:t>Saved local UI | synthetic data | live results must be checked</a:t>
            </a:r>
          </a:p>
        </p:txBody>
      </p:sp>
      <p:sp>
        <p:nvSpPr>
          <p:cNvPr id="17" name="TextBox 16"/>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Human approval is a server-enforced policy boundary.</a:t>
            </a:r>
          </a:p>
        </p:txBody>
      </p:sp>
      <p:sp>
        <p:nvSpPr>
          <p:cNvPr id="18" name="TextBox 17">
            <a:hlinkClick action="ppaction://hlinksldjump" r:id="rId4"/>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14</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DEMO 05 | SWITCH TO HOSTED CONTROL TOWER</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Prove the outcome</a:t>
            </a:r>
          </a:p>
        </p:txBody>
      </p:sp>
      <p:sp>
        <p:nvSpPr>
          <p:cNvPr id="9" name="Rectangle 8"/>
          <p:cNvSpPr/>
          <p:nvPr/>
        </p:nvSpPr>
        <p:spPr>
          <a:xfrm>
            <a:off x="594360" y="2011680"/>
            <a:ext cx="1965960" cy="196596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23160"/>
            <a:ext cx="1965960" cy="320040"/>
          </a:xfrm>
          <a:prstGeom prst="rect">
            <a:avLst/>
          </a:prstGeom>
          <a:noFill/>
        </p:spPr>
        <p:txBody>
          <a:bodyPr wrap="square" lIns="0" rIns="0" tIns="0" bIns="0" anchor="t">
            <a:spAutoFit/>
          </a:bodyPr>
          <a:lstStyle/>
          <a:p>
            <a:pPr algn="ctr">
              <a:defRPr sz="2000" b="1">
                <a:solidFill>
                  <a:srgbClr val="FFFFFF"/>
                </a:solidFill>
                <a:latin typeface="Calibri"/>
              </a:defRPr>
            </a:pPr>
            <a:r>
              <a:t>DEMO</a:t>
            </a:r>
          </a:p>
        </p:txBody>
      </p:sp>
      <p:sp>
        <p:nvSpPr>
          <p:cNvPr id="11" name="TextBox 10"/>
          <p:cNvSpPr txBox="1"/>
          <p:nvPr/>
        </p:nvSpPr>
        <p:spPr>
          <a:xfrm>
            <a:off x="594360" y="2788920"/>
            <a:ext cx="1965960" cy="594360"/>
          </a:xfrm>
          <a:prstGeom prst="rect">
            <a:avLst/>
          </a:prstGeom>
          <a:noFill/>
        </p:spPr>
        <p:txBody>
          <a:bodyPr wrap="square" lIns="0" rIns="0" tIns="0" bIns="0" anchor="t">
            <a:spAutoFit/>
          </a:bodyPr>
          <a:lstStyle/>
          <a:p>
            <a:pPr algn="ctr">
              <a:defRPr sz="4200" b="1">
                <a:solidFill>
                  <a:srgbClr val="FFFFFF"/>
                </a:solidFill>
                <a:latin typeface="Calibri"/>
              </a:defRPr>
            </a:pPr>
            <a:r>
              <a:t>05</a:t>
            </a:r>
          </a:p>
        </p:txBody>
      </p:sp>
      <p:sp>
        <p:nvSpPr>
          <p:cNvPr id="12" name="TextBox 11"/>
          <p:cNvSpPr txBox="1"/>
          <p:nvPr/>
        </p:nvSpPr>
        <p:spPr>
          <a:xfrm>
            <a:off x="3063240" y="2212848"/>
            <a:ext cx="8046720" cy="1143000"/>
          </a:xfrm>
          <a:prstGeom prst="rect">
            <a:avLst/>
          </a:prstGeom>
          <a:noFill/>
        </p:spPr>
        <p:txBody>
          <a:bodyPr wrap="square" lIns="0" rIns="0" tIns="0" bIns="0" anchor="t">
            <a:spAutoFit/>
          </a:bodyPr>
          <a:lstStyle/>
          <a:p>
            <a:pPr algn="l">
              <a:defRPr sz="2800" b="0">
                <a:solidFill>
                  <a:srgbClr val="20252A"/>
                </a:solidFill>
                <a:latin typeface="Calibri"/>
              </a:defRPr>
            </a:pPr>
            <a:r>
              <a:t>Replay the operation and compare the state change with the audit evidence.</a:t>
            </a:r>
          </a:p>
        </p:txBody>
      </p:sp>
      <p:sp>
        <p:nvSpPr>
          <p:cNvPr id="13" name="TextBox 12"/>
          <p:cNvSpPr txBox="1"/>
          <p:nvPr/>
        </p:nvSpPr>
        <p:spPr>
          <a:xfrm>
            <a:off x="3063240" y="3657600"/>
            <a:ext cx="8046720" cy="365760"/>
          </a:xfrm>
          <a:prstGeom prst="rect">
            <a:avLst/>
          </a:prstGeom>
          <a:noFill/>
        </p:spPr>
        <p:txBody>
          <a:bodyPr wrap="square" lIns="0" rIns="0" tIns="0" bIns="0" anchor="t">
            <a:spAutoFit/>
          </a:bodyPr>
          <a:lstStyle/>
          <a:p>
            <a:pPr algn="l">
              <a:defRPr sz="1600" b="1">
                <a:solidFill>
                  <a:srgbClr val="006F78"/>
                </a:solidFill>
                <a:latin typeface="Calibri"/>
              </a:defRPr>
            </a:pPr>
            <a:r>
              <a:t>NEXT: Hosted Control Tower</a:t>
            </a:r>
          </a:p>
        </p:txBody>
      </p:sp>
      <p:sp>
        <p:nvSpPr>
          <p:cNvPr id="14" name="TextBox 13">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15</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EVIDENCE | 16:00-17:00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A retry must not become a second action.</a:t>
            </a:r>
          </a:p>
        </p:txBody>
      </p:sp>
      <p:sp>
        <p:nvSpPr>
          <p:cNvPr id="9" name="TextBox 8"/>
          <p:cNvSpPr txBox="1"/>
          <p:nvPr/>
        </p:nvSpPr>
        <p:spPr>
          <a:xfrm>
            <a:off x="594360" y="187451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FIRST AUTHORISED CALL</a:t>
            </a:r>
          </a:p>
        </p:txBody>
      </p:sp>
      <p:sp>
        <p:nvSpPr>
          <p:cNvPr id="10" name="TextBox 9"/>
          <p:cNvSpPr txBox="1"/>
          <p:nvPr/>
        </p:nvSpPr>
        <p:spPr>
          <a:xfrm>
            <a:off x="594360" y="2359152"/>
            <a:ext cx="10881360" cy="594360"/>
          </a:xfrm>
          <a:prstGeom prst="rect">
            <a:avLst/>
          </a:prstGeom>
          <a:noFill/>
        </p:spPr>
        <p:txBody>
          <a:bodyPr wrap="square" lIns="0" rIns="0" tIns="0" bIns="0" anchor="t">
            <a:spAutoFit/>
          </a:bodyPr>
          <a:lstStyle/>
          <a:p>
            <a:pPr algn="l">
              <a:defRPr sz="2700" b="0">
                <a:solidFill>
                  <a:srgbClr val="20252A"/>
                </a:solidFill>
                <a:latin typeface="Calibri"/>
              </a:defRPr>
            </a:pPr>
            <a:r>
              <a:t>Expected: 4 positions changed; 2,196 units processed</a:t>
            </a:r>
          </a:p>
        </p:txBody>
      </p:sp>
      <p:cxnSp>
        <p:nvCxnSpPr>
          <p:cNvPr id="11" name="Connector 10"/>
          <p:cNvCxnSpPr/>
          <p:nvPr/>
        </p:nvCxnSpPr>
        <p:spPr>
          <a:xfrm>
            <a:off x="594360" y="297180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315467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REPLAY</a:t>
            </a:r>
          </a:p>
        </p:txBody>
      </p:sp>
      <p:sp>
        <p:nvSpPr>
          <p:cNvPr id="13" name="TextBox 12"/>
          <p:cNvSpPr txBox="1"/>
          <p:nvPr/>
        </p:nvSpPr>
        <p:spPr>
          <a:xfrm>
            <a:off x="594360" y="3639311"/>
            <a:ext cx="10881360" cy="594360"/>
          </a:xfrm>
          <a:prstGeom prst="rect">
            <a:avLst/>
          </a:prstGeom>
          <a:noFill/>
        </p:spPr>
        <p:txBody>
          <a:bodyPr wrap="square" lIns="0" rIns="0" tIns="0" bIns="0" anchor="t">
            <a:spAutoFit/>
          </a:bodyPr>
          <a:lstStyle/>
          <a:p>
            <a:pPr algn="l">
              <a:defRPr sz="2700" b="0">
                <a:solidFill>
                  <a:srgbClr val="20252A"/>
                </a:solidFill>
                <a:latin typeface="Calibri"/>
              </a:defRPr>
            </a:pPr>
            <a:r>
              <a:t>Expected: 0 additional positions changed</a:t>
            </a:r>
          </a:p>
        </p:txBody>
      </p:sp>
      <p:cxnSp>
        <p:nvCxnSpPr>
          <p:cNvPr id="14" name="Connector 13"/>
          <p:cNvCxnSpPr/>
          <p:nvPr/>
        </p:nvCxnSpPr>
        <p:spPr>
          <a:xfrm>
            <a:off x="594360" y="4251959"/>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4434840"/>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AUDIT</a:t>
            </a:r>
          </a:p>
        </p:txBody>
      </p:sp>
      <p:sp>
        <p:nvSpPr>
          <p:cNvPr id="16" name="TextBox 15"/>
          <p:cNvSpPr txBox="1"/>
          <p:nvPr/>
        </p:nvSpPr>
        <p:spPr>
          <a:xfrm>
            <a:off x="594360" y="4919472"/>
            <a:ext cx="10881360" cy="594360"/>
          </a:xfrm>
          <a:prstGeom prst="rect">
            <a:avLst/>
          </a:prstGeom>
          <a:noFill/>
        </p:spPr>
        <p:txBody>
          <a:bodyPr wrap="square" lIns="0" rIns="0" tIns="0" bIns="0" anchor="t">
            <a:spAutoFit/>
          </a:bodyPr>
          <a:lstStyle/>
          <a:p>
            <a:pPr algn="l">
              <a:defRPr sz="2700" b="0">
                <a:solidFill>
                  <a:srgbClr val="20252A"/>
                </a:solidFill>
                <a:latin typeface="Calibri"/>
              </a:defRPr>
            </a:pPr>
            <a:r>
              <a:t>Decision and outcome; no reusable approval token</a:t>
            </a:r>
          </a:p>
        </p:txBody>
      </p:sp>
      <p:cxnSp>
        <p:nvCxnSpPr>
          <p:cNvPr id="17" name="Connector 16"/>
          <p:cNvCxnSpPr/>
          <p:nvPr/>
        </p:nvCxnSpPr>
        <p:spPr>
          <a:xfrm>
            <a:off x="594360" y="553212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Measure the business effect, not the confidence of the answer.</a:t>
            </a:r>
          </a:p>
        </p:txBody>
      </p:sp>
      <p:sp>
        <p:nvSpPr>
          <p:cNvPr id="19" name="TextBox 18">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16</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PRODUCTION DECISIONS | 17:00-20:00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Now put real users and replicas around it.</a:t>
            </a:r>
          </a:p>
        </p:txBody>
      </p:sp>
      <p:sp>
        <p:nvSpPr>
          <p:cNvPr id="9" name="TextBox 8"/>
          <p:cNvSpPr txBox="1"/>
          <p:nvPr/>
        </p:nvSpPr>
        <p:spPr>
          <a:xfrm>
            <a:off x="594360" y="187451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WHO CAN ACT?</a:t>
            </a:r>
          </a:p>
        </p:txBody>
      </p:sp>
      <p:sp>
        <p:nvSpPr>
          <p:cNvPr id="10" name="TextBox 9"/>
          <p:cNvSpPr txBox="1"/>
          <p:nvPr/>
        </p:nvSpPr>
        <p:spPr>
          <a:xfrm>
            <a:off x="594360" y="2359152"/>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Verified caller; scoped approval; least-privilege workload.</a:t>
            </a:r>
          </a:p>
        </p:txBody>
      </p:sp>
      <p:cxnSp>
        <p:nvCxnSpPr>
          <p:cNvPr id="11" name="Connector 10"/>
          <p:cNvCxnSpPr/>
          <p:nvPr/>
        </p:nvCxnSpPr>
        <p:spPr>
          <a:xfrm>
            <a:off x="594360" y="297180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315467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WHAT SURVIVES A RETRY?</a:t>
            </a:r>
          </a:p>
        </p:txBody>
      </p:sp>
      <p:sp>
        <p:nvSpPr>
          <p:cNvPr id="13" name="TextBox 12"/>
          <p:cNvSpPr txBox="1"/>
          <p:nvPr/>
        </p:nvSpPr>
        <p:spPr>
          <a:xfrm>
            <a:off x="594360" y="3639311"/>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Atomic mutation + idempotency record; defined expiry.</a:t>
            </a:r>
          </a:p>
        </p:txBody>
      </p:sp>
      <p:cxnSp>
        <p:nvCxnSpPr>
          <p:cNvPr id="14" name="Connector 13"/>
          <p:cNvCxnSpPr/>
          <p:nvPr/>
        </p:nvCxnSpPr>
        <p:spPr>
          <a:xfrm>
            <a:off x="594360" y="4251959"/>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4434840"/>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WHAT SUPPORTS RELEASE?</a:t>
            </a:r>
          </a:p>
        </p:txBody>
      </p:sp>
      <p:sp>
        <p:nvSpPr>
          <p:cNvPr id="16" name="TextBox 15"/>
          <p:cNvSpPr txBox="1"/>
          <p:nvPr/>
        </p:nvSpPr>
        <p:spPr>
          <a:xfrm>
            <a:off x="594360" y="4919472"/>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Traces, evaluations, reviewed tool changes and rollback.</a:t>
            </a:r>
          </a:p>
        </p:txBody>
      </p:sp>
      <p:cxnSp>
        <p:nvCxnSpPr>
          <p:cNvPr id="17" name="Connector 16"/>
          <p:cNvCxnSpPr/>
          <p:nvPr/>
        </p:nvCxnSpPr>
        <p:spPr>
          <a:xfrm>
            <a:off x="594360" y="553212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Hosting is a step. Identity, durable state and release evidence are gates.</a:t>
            </a:r>
          </a:p>
        </p:txBody>
      </p:sp>
      <p:sp>
        <p:nvSpPr>
          <p:cNvPr id="19" name="TextBox 18">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17</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LESSON | 20:00-21:00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The same decisions apply to your workload.</a:t>
            </a:r>
          </a:p>
        </p:txBody>
      </p:sp>
      <p:sp>
        <p:nvSpPr>
          <p:cNvPr id="9" name="TextBox 8"/>
          <p:cNvSpPr txBox="1"/>
          <p:nvPr/>
        </p:nvSpPr>
        <p:spPr>
          <a:xfrm>
            <a:off x="594360" y="187451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CHOOSE + DESIGN</a:t>
            </a:r>
          </a:p>
        </p:txBody>
      </p:sp>
      <p:sp>
        <p:nvSpPr>
          <p:cNvPr id="10" name="TextBox 9"/>
          <p:cNvSpPr txBox="1"/>
          <p:nvPr/>
        </p:nvSpPr>
        <p:spPr>
          <a:xfrm>
            <a:off x="594360" y="2359152"/>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Smallest useful workflow; narrow, bounded tool contracts.</a:t>
            </a:r>
          </a:p>
        </p:txBody>
      </p:sp>
      <p:cxnSp>
        <p:nvCxnSpPr>
          <p:cNvPr id="11" name="Connector 10"/>
          <p:cNvCxnSpPr/>
          <p:nvPr/>
        </p:nvCxnSpPr>
        <p:spPr>
          <a:xfrm>
            <a:off x="594360" y="297180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315467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INVESTIGATE</a:t>
            </a:r>
          </a:p>
        </p:txBody>
      </p:sp>
      <p:sp>
        <p:nvSpPr>
          <p:cNvPr id="13" name="TextBox 12"/>
          <p:cNvSpPr txBox="1"/>
          <p:nvPr/>
        </p:nvSpPr>
        <p:spPr>
          <a:xfrm>
            <a:off x="594360" y="3639311"/>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Find the first divergence; separate tool and model quality.</a:t>
            </a:r>
          </a:p>
        </p:txBody>
      </p:sp>
      <p:cxnSp>
        <p:nvCxnSpPr>
          <p:cNvPr id="14" name="Connector 13"/>
          <p:cNvCxnSpPr/>
          <p:nvPr/>
        </p:nvCxnSpPr>
        <p:spPr>
          <a:xfrm>
            <a:off x="594360" y="4251959"/>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4434840"/>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CONTROL</a:t>
            </a:r>
          </a:p>
        </p:txBody>
      </p:sp>
      <p:sp>
        <p:nvSpPr>
          <p:cNvPr id="16" name="TextBox 15"/>
          <p:cNvSpPr txBox="1"/>
          <p:nvPr/>
        </p:nvSpPr>
        <p:spPr>
          <a:xfrm>
            <a:off x="594360" y="4919472"/>
            <a:ext cx="10881360" cy="594360"/>
          </a:xfrm>
          <a:prstGeom prst="rect">
            <a:avLst/>
          </a:prstGeom>
          <a:noFill/>
        </p:spPr>
        <p:txBody>
          <a:bodyPr wrap="square" lIns="0" rIns="0" tIns="0" bIns="0" anchor="t">
            <a:spAutoFit/>
          </a:bodyPr>
          <a:lstStyle/>
          <a:p>
            <a:pPr algn="l">
              <a:defRPr sz="2400" b="0">
                <a:solidFill>
                  <a:srgbClr val="20252A"/>
                </a:solidFill>
                <a:latin typeface="Calibri"/>
              </a:defRPr>
            </a:pPr>
            <a:r>
              <a:t>Enforce authority; test denial, retries and state changes.</a:t>
            </a:r>
          </a:p>
        </p:txBody>
      </p:sp>
      <p:cxnSp>
        <p:nvCxnSpPr>
          <p:cNvPr id="17" name="Connector 16"/>
          <p:cNvCxnSpPr/>
          <p:nvPr/>
        </p:nvCxnSpPr>
        <p:spPr>
          <a:xfrm>
            <a:off x="594360" y="553212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MCP makes tools accessible. Engineering makes actions accountable.</a:t>
            </a:r>
          </a:p>
        </p:txBody>
      </p:sp>
      <p:sp>
        <p:nvSpPr>
          <p:cNvPr id="19" name="TextBox 18">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18</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OUTCOME | 21:00-22:00 | QUESTIONS 22:00-25:00</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Would you authorise the action?</a:t>
            </a:r>
          </a:p>
        </p:txBody>
      </p:sp>
      <p:sp>
        <p:nvSpPr>
          <p:cNvPr id="9" name="TextBox 8"/>
          <p:cNvSpPr txBox="1"/>
          <p:nvPr/>
        </p:nvSpPr>
        <p:spPr>
          <a:xfrm>
            <a:off x="594360" y="187451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FACTS</a:t>
            </a:r>
          </a:p>
        </p:txBody>
      </p:sp>
      <p:sp>
        <p:nvSpPr>
          <p:cNvPr id="10" name="TextBox 9"/>
          <p:cNvSpPr txBox="1"/>
          <p:nvPr/>
        </p:nvSpPr>
        <p:spPr>
          <a:xfrm>
            <a:off x="594360" y="2359152"/>
            <a:ext cx="10881360" cy="594360"/>
          </a:xfrm>
          <a:prstGeom prst="rect">
            <a:avLst/>
          </a:prstGeom>
          <a:noFill/>
        </p:spPr>
        <p:txBody>
          <a:bodyPr wrap="square" lIns="0" rIns="0" tIns="0" bIns="0" anchor="t">
            <a:spAutoFit/>
          </a:bodyPr>
          <a:lstStyle/>
          <a:p>
            <a:pPr algn="l">
              <a:defRPr sz="2700" b="0">
                <a:solidFill>
                  <a:srgbClr val="20252A"/>
                </a:solidFill>
                <a:latin typeface="Calibri"/>
              </a:defRPr>
            </a:pPr>
            <a:r>
              <a:t>Where did the answer come from?</a:t>
            </a:r>
          </a:p>
        </p:txBody>
      </p:sp>
      <p:cxnSp>
        <p:nvCxnSpPr>
          <p:cNvPr id="11" name="Connector 10"/>
          <p:cNvCxnSpPr/>
          <p:nvPr/>
        </p:nvCxnSpPr>
        <p:spPr>
          <a:xfrm>
            <a:off x="594360" y="297180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3154679"/>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AUTHORITY</a:t>
            </a:r>
          </a:p>
        </p:txBody>
      </p:sp>
      <p:sp>
        <p:nvSpPr>
          <p:cNvPr id="13" name="TextBox 12"/>
          <p:cNvSpPr txBox="1"/>
          <p:nvPr/>
        </p:nvSpPr>
        <p:spPr>
          <a:xfrm>
            <a:off x="594360" y="3639311"/>
            <a:ext cx="10881360" cy="594360"/>
          </a:xfrm>
          <a:prstGeom prst="rect">
            <a:avLst/>
          </a:prstGeom>
          <a:noFill/>
        </p:spPr>
        <p:txBody>
          <a:bodyPr wrap="square" lIns="0" rIns="0" tIns="0" bIns="0" anchor="t">
            <a:spAutoFit/>
          </a:bodyPr>
          <a:lstStyle/>
          <a:p>
            <a:pPr algn="l">
              <a:defRPr sz="2700" b="0">
                <a:solidFill>
                  <a:srgbClr val="20252A"/>
                </a:solidFill>
                <a:latin typeface="Calibri"/>
              </a:defRPr>
            </a:pPr>
            <a:r>
              <a:t>Who is allowed to approve?</a:t>
            </a:r>
          </a:p>
        </p:txBody>
      </p:sp>
      <p:cxnSp>
        <p:nvCxnSpPr>
          <p:cNvPr id="14" name="Connector 13"/>
          <p:cNvCxnSpPr/>
          <p:nvPr/>
        </p:nvCxnSpPr>
        <p:spPr>
          <a:xfrm>
            <a:off x="594360" y="4251959"/>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4434840"/>
            <a:ext cx="10881360" cy="411480"/>
          </a:xfrm>
          <a:prstGeom prst="rect">
            <a:avLst/>
          </a:prstGeom>
          <a:noFill/>
        </p:spPr>
        <p:txBody>
          <a:bodyPr wrap="square" lIns="0" rIns="0" tIns="0" bIns="0" anchor="t">
            <a:spAutoFit/>
          </a:bodyPr>
          <a:lstStyle/>
          <a:p>
            <a:pPr algn="l">
              <a:defRPr sz="1800" b="1">
                <a:solidFill>
                  <a:srgbClr val="006F78"/>
                </a:solidFill>
                <a:latin typeface="Calibri"/>
              </a:defRPr>
            </a:pPr>
            <a:r>
              <a:t>EVIDENCE</a:t>
            </a:r>
          </a:p>
        </p:txBody>
      </p:sp>
      <p:sp>
        <p:nvSpPr>
          <p:cNvPr id="16" name="TextBox 15"/>
          <p:cNvSpPr txBox="1"/>
          <p:nvPr/>
        </p:nvSpPr>
        <p:spPr>
          <a:xfrm>
            <a:off x="594360" y="4919472"/>
            <a:ext cx="10881360" cy="594360"/>
          </a:xfrm>
          <a:prstGeom prst="rect">
            <a:avLst/>
          </a:prstGeom>
          <a:noFill/>
        </p:spPr>
        <p:txBody>
          <a:bodyPr wrap="square" lIns="0" rIns="0" tIns="0" bIns="0" anchor="t">
            <a:spAutoFit/>
          </a:bodyPr>
          <a:lstStyle/>
          <a:p>
            <a:pPr algn="l">
              <a:defRPr sz="2700" b="0">
                <a:solidFill>
                  <a:srgbClr val="20252A"/>
                </a:solidFill>
                <a:latin typeface="Calibri"/>
              </a:defRPr>
            </a:pPr>
            <a:r>
              <a:t>What changed, and what did the retry do?</a:t>
            </a:r>
          </a:p>
        </p:txBody>
      </p:sp>
      <p:cxnSp>
        <p:nvCxnSpPr>
          <p:cNvPr id="17" name="Connector 16"/>
          <p:cNvCxnSpPr/>
          <p:nvPr/>
        </p:nvCxnSpPr>
        <p:spPr>
          <a:xfrm>
            <a:off x="594360" y="5532120"/>
            <a:ext cx="1092708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5998464"/>
            <a:ext cx="10972800" cy="384048"/>
          </a:xfrm>
          <a:prstGeom prst="rect">
            <a:avLst/>
          </a:prstGeom>
          <a:noFill/>
        </p:spPr>
        <p:txBody>
          <a:bodyPr wrap="square" lIns="0" rIns="0" tIns="0" bIns="0" anchor="t">
            <a:spAutoFit/>
          </a:bodyPr>
          <a:lstStyle/>
          <a:p>
            <a:pPr algn="l">
              <a:defRPr sz="1600" b="1">
                <a:solidFill>
                  <a:srgbClr val="006F78"/>
                </a:solidFill>
                <a:latin typeface="Calibri"/>
              </a:defRPr>
            </a:pPr>
            <a:r>
              <a:t>Choose a workflow. Design its tools. Investigate failures. Control actions.</a:t>
            </a:r>
          </a:p>
        </p:txBody>
      </p:sp>
      <p:sp>
        <p:nvSpPr>
          <p:cNvPr id="19" name="TextBox 18">
            <a:hlinkClick action="ppaction://hlinksldjump" r:id="rId3"/>
          </p:cNvPr>
          <p:cNvSpPr txBox="1"/>
          <p:nvPr/>
        </p:nvSpPr>
        <p:spPr>
          <a:xfrm>
            <a:off x="10149840" y="365760"/>
            <a:ext cx="1417320" cy="274320"/>
          </a:xfrm>
          <a:prstGeom prst="rect">
            <a:avLst/>
          </a:prstGeom>
          <a:noFill/>
        </p:spPr>
        <p:txBody>
          <a:bodyPr wrap="square" lIns="0" rIns="0" tIns="0" bIns="0" anchor="t">
            <a:spAutoFit/>
          </a:bodyPr>
          <a:lstStyle/>
          <a:p>
            <a:pPr algn="l">
              <a:defRPr sz="1100" b="1">
                <a:solidFill>
                  <a:srgbClr val="006F78"/>
                </a:solidFill>
                <a:latin typeface="Calibri"/>
              </a:defRPr>
            </a:pPr>
            <a:r>
              <a:t>Demo Index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19</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SOLUTION ARCHITECTURE | TWO SEPARATE EXECUTION PATHS</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One domain. Two demos. Explicit boundaries.</a:t>
            </a:r>
          </a:p>
        </p:txBody>
      </p:sp>
      <p:sp>
        <p:nvSpPr>
          <p:cNvPr id="9" name="TextBox 8"/>
          <p:cNvSpPr txBox="1"/>
          <p:nvPr/>
        </p:nvSpPr>
        <p:spPr>
          <a:xfrm>
            <a:off x="594360" y="1764792"/>
            <a:ext cx="5943600" cy="274320"/>
          </a:xfrm>
          <a:prstGeom prst="rect">
            <a:avLst/>
          </a:prstGeom>
          <a:noFill/>
        </p:spPr>
        <p:txBody>
          <a:bodyPr wrap="square" lIns="0" rIns="0" tIns="0" bIns="0" anchor="t">
            <a:spAutoFit/>
          </a:bodyPr>
          <a:lstStyle/>
          <a:p>
            <a:pPr algn="l">
              <a:defRPr sz="1300" b="1">
                <a:solidFill>
                  <a:srgbClr val="006F78"/>
                </a:solidFill>
                <a:latin typeface="Calibri"/>
              </a:defRPr>
            </a:pPr>
            <a:r>
              <a:t>01  LOCAL CONTROL PATH</a:t>
            </a:r>
          </a:p>
        </p:txBody>
      </p:sp>
      <p:sp>
        <p:nvSpPr>
          <p:cNvPr id="10" name="Rectangle 9"/>
          <p:cNvSpPr/>
          <p:nvPr/>
        </p:nvSpPr>
        <p:spPr>
          <a:xfrm>
            <a:off x="594360" y="2231136"/>
            <a:ext cx="24505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31136"/>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350008"/>
            <a:ext cx="2176272" cy="310896"/>
          </a:xfrm>
          <a:prstGeom prst="rect">
            <a:avLst/>
          </a:prstGeom>
          <a:noFill/>
        </p:spPr>
        <p:txBody>
          <a:bodyPr wrap="square" lIns="0" rIns="0" tIns="0" bIns="0" anchor="t">
            <a:spAutoFit/>
          </a:bodyPr>
          <a:lstStyle/>
          <a:p>
            <a:pPr algn="l">
              <a:defRPr sz="1800" b="1">
                <a:solidFill>
                  <a:srgbClr val="20252A"/>
                </a:solidFill>
                <a:latin typeface="Bahnschrift"/>
              </a:defRPr>
            </a:pPr>
            <a:r>
              <a:t>Control Tower</a:t>
            </a:r>
          </a:p>
        </p:txBody>
      </p:sp>
      <p:sp>
        <p:nvSpPr>
          <p:cNvPr id="13" name="TextBox 12"/>
          <p:cNvSpPr txBox="1"/>
          <p:nvPr/>
        </p:nvSpPr>
        <p:spPr>
          <a:xfrm>
            <a:off x="740664" y="2761488"/>
            <a:ext cx="2176272" cy="274320"/>
          </a:xfrm>
          <a:prstGeom prst="rect">
            <a:avLst/>
          </a:prstGeom>
          <a:noFill/>
        </p:spPr>
        <p:txBody>
          <a:bodyPr wrap="square" lIns="0" rIns="0" tIns="0" bIns="0" anchor="t">
            <a:spAutoFit/>
          </a:bodyPr>
          <a:lstStyle/>
          <a:p>
            <a:pPr algn="l">
              <a:defRPr sz="1200" b="0">
                <a:solidFill>
                  <a:srgbClr val="58656D"/>
                </a:solidFill>
                <a:latin typeface="Calibri"/>
              </a:defRPr>
            </a:pPr>
            <a:r>
              <a:t>Browser + FastAPI</a:t>
            </a:r>
          </a:p>
        </p:txBody>
      </p:sp>
      <p:sp>
        <p:nvSpPr>
          <p:cNvPr id="14" name="Rectangle 13"/>
          <p:cNvSpPr/>
          <p:nvPr/>
        </p:nvSpPr>
        <p:spPr>
          <a:xfrm>
            <a:off x="3447288" y="2231136"/>
            <a:ext cx="24505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7288" y="2231136"/>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2350008"/>
            <a:ext cx="2176272" cy="310896"/>
          </a:xfrm>
          <a:prstGeom prst="rect">
            <a:avLst/>
          </a:prstGeom>
          <a:noFill/>
        </p:spPr>
        <p:txBody>
          <a:bodyPr wrap="square" lIns="0" rIns="0" tIns="0" bIns="0" anchor="t">
            <a:spAutoFit/>
          </a:bodyPr>
          <a:lstStyle/>
          <a:p>
            <a:pPr algn="l">
              <a:defRPr sz="1800" b="1">
                <a:solidFill>
                  <a:srgbClr val="20252A"/>
                </a:solidFill>
                <a:latin typeface="Bahnschrift"/>
              </a:defRPr>
            </a:pPr>
            <a:r>
              <a:t>MCP client</a:t>
            </a:r>
          </a:p>
        </p:txBody>
      </p:sp>
      <p:sp>
        <p:nvSpPr>
          <p:cNvPr id="17" name="TextBox 16"/>
          <p:cNvSpPr txBox="1"/>
          <p:nvPr/>
        </p:nvSpPr>
        <p:spPr>
          <a:xfrm>
            <a:off x="3593592" y="2761488"/>
            <a:ext cx="2176272" cy="274320"/>
          </a:xfrm>
          <a:prstGeom prst="rect">
            <a:avLst/>
          </a:prstGeom>
          <a:noFill/>
        </p:spPr>
        <p:txBody>
          <a:bodyPr wrap="square" lIns="0" rIns="0" tIns="0" bIns="0" anchor="t">
            <a:spAutoFit/>
          </a:bodyPr>
          <a:lstStyle/>
          <a:p>
            <a:pPr algn="l">
              <a:defRPr sz="1200" b="0">
                <a:solidFill>
                  <a:srgbClr val="58656D"/>
                </a:solidFill>
                <a:latin typeface="Calibri"/>
              </a:defRPr>
            </a:pPr>
            <a:r>
              <a:t>In-memory tool calls</a:t>
            </a:r>
          </a:p>
        </p:txBody>
      </p:sp>
      <p:sp>
        <p:nvSpPr>
          <p:cNvPr id="18" name="Rectangle 17"/>
          <p:cNvSpPr/>
          <p:nvPr/>
        </p:nvSpPr>
        <p:spPr>
          <a:xfrm>
            <a:off x="6300216" y="2231136"/>
            <a:ext cx="24505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0216" y="2231136"/>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2350008"/>
            <a:ext cx="2176272" cy="310896"/>
          </a:xfrm>
          <a:prstGeom prst="rect">
            <a:avLst/>
          </a:prstGeom>
          <a:noFill/>
        </p:spPr>
        <p:txBody>
          <a:bodyPr wrap="square" lIns="0" rIns="0" tIns="0" bIns="0" anchor="t">
            <a:spAutoFit/>
          </a:bodyPr>
          <a:lstStyle/>
          <a:p>
            <a:pPr algn="l">
              <a:defRPr sz="1800" b="1">
                <a:solidFill>
                  <a:srgbClr val="20252A"/>
                </a:solidFill>
                <a:latin typeface="Bahnschrift"/>
              </a:defRPr>
            </a:pPr>
            <a:r>
              <a:t>MCP server</a:t>
            </a:r>
          </a:p>
        </p:txBody>
      </p:sp>
      <p:sp>
        <p:nvSpPr>
          <p:cNvPr id="21" name="TextBox 20"/>
          <p:cNvSpPr txBox="1"/>
          <p:nvPr/>
        </p:nvSpPr>
        <p:spPr>
          <a:xfrm>
            <a:off x="6446520" y="2761488"/>
            <a:ext cx="2176272" cy="274320"/>
          </a:xfrm>
          <a:prstGeom prst="rect">
            <a:avLst/>
          </a:prstGeom>
          <a:noFill/>
        </p:spPr>
        <p:txBody>
          <a:bodyPr wrap="square" lIns="0" rIns="0" tIns="0" bIns="0" anchor="t">
            <a:spAutoFit/>
          </a:bodyPr>
          <a:lstStyle/>
          <a:p>
            <a:pPr algn="l">
              <a:defRPr sz="1200" b="0">
                <a:solidFill>
                  <a:srgbClr val="58656D"/>
                </a:solidFill>
                <a:latin typeface="Calibri"/>
              </a:defRPr>
            </a:pPr>
            <a:r>
              <a:t>Typed tool contract</a:t>
            </a:r>
          </a:p>
        </p:txBody>
      </p:sp>
      <p:sp>
        <p:nvSpPr>
          <p:cNvPr id="22" name="Rectangle 21"/>
          <p:cNvSpPr/>
          <p:nvPr/>
        </p:nvSpPr>
        <p:spPr>
          <a:xfrm>
            <a:off x="9153144" y="2231136"/>
            <a:ext cx="24505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3144" y="2231136"/>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99448" y="2350008"/>
            <a:ext cx="2176272" cy="310896"/>
          </a:xfrm>
          <a:prstGeom prst="rect">
            <a:avLst/>
          </a:prstGeom>
          <a:noFill/>
        </p:spPr>
        <p:txBody>
          <a:bodyPr wrap="square" lIns="0" rIns="0" tIns="0" bIns="0" anchor="t">
            <a:spAutoFit/>
          </a:bodyPr>
          <a:lstStyle/>
          <a:p>
            <a:pPr algn="l">
              <a:defRPr sz="1800" b="1">
                <a:solidFill>
                  <a:srgbClr val="20252A"/>
                </a:solidFill>
                <a:latin typeface="Bahnschrift"/>
              </a:defRPr>
            </a:pPr>
            <a:r>
              <a:t>Policy + store</a:t>
            </a:r>
          </a:p>
        </p:txBody>
      </p:sp>
      <p:sp>
        <p:nvSpPr>
          <p:cNvPr id="25" name="TextBox 24"/>
          <p:cNvSpPr txBox="1"/>
          <p:nvPr/>
        </p:nvSpPr>
        <p:spPr>
          <a:xfrm>
            <a:off x="9299448" y="2761488"/>
            <a:ext cx="2176272" cy="274320"/>
          </a:xfrm>
          <a:prstGeom prst="rect">
            <a:avLst/>
          </a:prstGeom>
          <a:noFill/>
        </p:spPr>
        <p:txBody>
          <a:bodyPr wrap="square" lIns="0" rIns="0" tIns="0" bIns="0" anchor="t">
            <a:spAutoFit/>
          </a:bodyPr>
          <a:lstStyle/>
          <a:p>
            <a:pPr algn="l">
              <a:defRPr sz="1200" b="0">
                <a:solidFill>
                  <a:srgbClr val="58656D"/>
                </a:solidFill>
                <a:latin typeface="Calibri"/>
              </a:defRPr>
            </a:pPr>
            <a:r>
              <a:t>Approval / replay / audit</a:t>
            </a:r>
          </a:p>
        </p:txBody>
      </p:sp>
      <p:cxnSp>
        <p:nvCxnSpPr>
          <p:cNvPr id="26" name="Connector 25"/>
          <p:cNvCxnSpPr/>
          <p:nvPr/>
        </p:nvCxnSpPr>
        <p:spPr>
          <a:xfrm>
            <a:off x="3054096" y="2697480"/>
            <a:ext cx="310895"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273551" y="2624328"/>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273551" y="269748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907024" y="2697480"/>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26480" y="2624328"/>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126480" y="269748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759952" y="2697480"/>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979408" y="2624328"/>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79408" y="269748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3364992"/>
            <a:ext cx="10972800" cy="338328"/>
          </a:xfrm>
          <a:prstGeom prst="rect">
            <a:avLst/>
          </a:prstGeom>
          <a:noFill/>
        </p:spPr>
        <p:txBody>
          <a:bodyPr wrap="square" lIns="0" rIns="0" tIns="0" bIns="0" anchor="t">
            <a:spAutoFit/>
          </a:bodyPr>
          <a:lstStyle/>
          <a:p>
            <a:pPr algn="l">
              <a:defRPr sz="1700" b="1">
                <a:solidFill>
                  <a:srgbClr val="B73935"/>
                </a:solidFill>
                <a:latin typeface="Calibri"/>
              </a:defRPr>
            </a:pPr>
            <a:r>
              <a:t>Human approves in the application. No LLM call in this UI path.</a:t>
            </a:r>
          </a:p>
        </p:txBody>
      </p:sp>
      <p:sp>
        <p:nvSpPr>
          <p:cNvPr id="36" name="TextBox 35"/>
          <p:cNvSpPr txBox="1"/>
          <p:nvPr/>
        </p:nvSpPr>
        <p:spPr>
          <a:xfrm>
            <a:off x="594360" y="3895344"/>
            <a:ext cx="10972800" cy="274320"/>
          </a:xfrm>
          <a:prstGeom prst="rect">
            <a:avLst/>
          </a:prstGeom>
          <a:noFill/>
        </p:spPr>
        <p:txBody>
          <a:bodyPr wrap="square" lIns="0" rIns="0" tIns="0" bIns="0" anchor="t">
            <a:spAutoFit/>
          </a:bodyPr>
          <a:lstStyle/>
          <a:p>
            <a:pPr algn="l">
              <a:defRPr sz="1300" b="1">
                <a:solidFill>
                  <a:srgbClr val="006F78"/>
                </a:solidFill>
                <a:latin typeface="Calibri"/>
              </a:defRPr>
            </a:pPr>
            <a:r>
              <a:t>02  HOSTED REASONING PATH  |  MICROSOFT FOUNDRY</a:t>
            </a:r>
          </a:p>
        </p:txBody>
      </p:sp>
      <p:sp>
        <p:nvSpPr>
          <p:cNvPr id="37" name="Rectangle 36"/>
          <p:cNvSpPr/>
          <p:nvPr/>
        </p:nvSpPr>
        <p:spPr>
          <a:xfrm>
            <a:off x="594360" y="4361688"/>
            <a:ext cx="24505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4360" y="4361688"/>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 y="4480559"/>
            <a:ext cx="2176272" cy="310896"/>
          </a:xfrm>
          <a:prstGeom prst="rect">
            <a:avLst/>
          </a:prstGeom>
          <a:noFill/>
        </p:spPr>
        <p:txBody>
          <a:bodyPr wrap="square" lIns="0" rIns="0" tIns="0" bIns="0" anchor="t">
            <a:spAutoFit/>
          </a:bodyPr>
          <a:lstStyle/>
          <a:p>
            <a:pPr algn="l">
              <a:defRPr sz="1800" b="1">
                <a:solidFill>
                  <a:srgbClr val="20252A"/>
                </a:solidFill>
                <a:latin typeface="Bahnschrift"/>
              </a:defRPr>
            </a:pPr>
            <a:r>
              <a:t>Responses host</a:t>
            </a:r>
          </a:p>
        </p:txBody>
      </p:sp>
      <p:sp>
        <p:nvSpPr>
          <p:cNvPr id="40" name="TextBox 39"/>
          <p:cNvSpPr txBox="1"/>
          <p:nvPr/>
        </p:nvSpPr>
        <p:spPr>
          <a:xfrm>
            <a:off x="740664" y="4892040"/>
            <a:ext cx="2176272" cy="274320"/>
          </a:xfrm>
          <a:prstGeom prst="rect">
            <a:avLst/>
          </a:prstGeom>
          <a:noFill/>
        </p:spPr>
        <p:txBody>
          <a:bodyPr wrap="square" lIns="0" rIns="0" tIns="0" bIns="0" anchor="t">
            <a:spAutoFit/>
          </a:bodyPr>
          <a:lstStyle/>
          <a:p>
            <a:pPr algn="l">
              <a:defRPr sz="1200" b="0">
                <a:solidFill>
                  <a:srgbClr val="58656D"/>
                </a:solidFill>
                <a:latin typeface="Calibri"/>
              </a:defRPr>
            </a:pPr>
            <a:r>
              <a:t>Separate hosted invocation</a:t>
            </a:r>
          </a:p>
        </p:txBody>
      </p:sp>
      <p:sp>
        <p:nvSpPr>
          <p:cNvPr id="41" name="Rectangle 40"/>
          <p:cNvSpPr/>
          <p:nvPr/>
        </p:nvSpPr>
        <p:spPr>
          <a:xfrm>
            <a:off x="3447288" y="4361688"/>
            <a:ext cx="24505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447288" y="4361688"/>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93592" y="4480559"/>
            <a:ext cx="2176272" cy="310896"/>
          </a:xfrm>
          <a:prstGeom prst="rect">
            <a:avLst/>
          </a:prstGeom>
          <a:noFill/>
        </p:spPr>
        <p:txBody>
          <a:bodyPr wrap="square" lIns="0" rIns="0" tIns="0" bIns="0" anchor="t">
            <a:spAutoFit/>
          </a:bodyPr>
          <a:lstStyle/>
          <a:p>
            <a:pPr algn="l">
              <a:defRPr sz="1800" b="1">
                <a:solidFill>
                  <a:srgbClr val="20252A"/>
                </a:solidFill>
                <a:latin typeface="Bahnschrift"/>
              </a:defRPr>
            </a:pPr>
            <a:r>
              <a:t>Agent Framework</a:t>
            </a:r>
          </a:p>
        </p:txBody>
      </p:sp>
      <p:sp>
        <p:nvSpPr>
          <p:cNvPr id="44" name="TextBox 43"/>
          <p:cNvSpPr txBox="1"/>
          <p:nvPr/>
        </p:nvSpPr>
        <p:spPr>
          <a:xfrm>
            <a:off x="3593592" y="4892040"/>
            <a:ext cx="2176272" cy="274320"/>
          </a:xfrm>
          <a:prstGeom prst="rect">
            <a:avLst/>
          </a:prstGeom>
          <a:noFill/>
        </p:spPr>
        <p:txBody>
          <a:bodyPr wrap="square" lIns="0" rIns="0" tIns="0" bIns="0" anchor="t">
            <a:spAutoFit/>
          </a:bodyPr>
          <a:lstStyle/>
          <a:p>
            <a:pPr algn="l">
              <a:defRPr sz="1200" b="0">
                <a:solidFill>
                  <a:srgbClr val="58656D"/>
                </a:solidFill>
                <a:latin typeface="Calibri"/>
              </a:defRPr>
            </a:pPr>
            <a:r>
              <a:t>4 agents + model client</a:t>
            </a:r>
          </a:p>
        </p:txBody>
      </p:sp>
      <p:sp>
        <p:nvSpPr>
          <p:cNvPr id="45" name="Rectangle 44"/>
          <p:cNvSpPr/>
          <p:nvPr/>
        </p:nvSpPr>
        <p:spPr>
          <a:xfrm>
            <a:off x="6300216" y="4361688"/>
            <a:ext cx="24505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0216" y="4361688"/>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6520" y="4480559"/>
            <a:ext cx="2176272" cy="310896"/>
          </a:xfrm>
          <a:prstGeom prst="rect">
            <a:avLst/>
          </a:prstGeom>
          <a:noFill/>
        </p:spPr>
        <p:txBody>
          <a:bodyPr wrap="square" lIns="0" rIns="0" tIns="0" bIns="0" anchor="t">
            <a:spAutoFit/>
          </a:bodyPr>
          <a:lstStyle/>
          <a:p>
            <a:pPr algn="l">
              <a:defRPr sz="1800" b="1">
                <a:solidFill>
                  <a:srgbClr val="20252A"/>
                </a:solidFill>
                <a:latin typeface="Bahnschrift"/>
              </a:defRPr>
            </a:pPr>
            <a:r>
              <a:t>CLI / JSON bridge</a:t>
            </a:r>
          </a:p>
        </p:txBody>
      </p:sp>
      <p:sp>
        <p:nvSpPr>
          <p:cNvPr id="48" name="TextBox 47"/>
          <p:cNvSpPr txBox="1"/>
          <p:nvPr/>
        </p:nvSpPr>
        <p:spPr>
          <a:xfrm>
            <a:off x="6446520" y="4892040"/>
            <a:ext cx="2176272" cy="274320"/>
          </a:xfrm>
          <a:prstGeom prst="rect">
            <a:avLst/>
          </a:prstGeom>
          <a:noFill/>
        </p:spPr>
        <p:txBody>
          <a:bodyPr wrap="square" lIns="0" rIns="0" tIns="0" bIns="0" anchor="t">
            <a:spAutoFit/>
          </a:bodyPr>
          <a:lstStyle/>
          <a:p>
            <a:pPr algn="l">
              <a:defRPr sz="1200" b="0">
                <a:solidFill>
                  <a:srgbClr val="58656D"/>
                </a:solidFill>
                <a:latin typeface="Calibri"/>
              </a:defRPr>
            </a:pPr>
            <a:r>
              <a:t>Read-only allowlist</a:t>
            </a:r>
          </a:p>
        </p:txBody>
      </p:sp>
      <p:sp>
        <p:nvSpPr>
          <p:cNvPr id="49" name="Rectangle 48"/>
          <p:cNvSpPr/>
          <p:nvPr/>
        </p:nvSpPr>
        <p:spPr>
          <a:xfrm>
            <a:off x="9153144" y="4361688"/>
            <a:ext cx="24505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153144" y="4361688"/>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99448" y="4480559"/>
            <a:ext cx="2176272" cy="310896"/>
          </a:xfrm>
          <a:prstGeom prst="rect">
            <a:avLst/>
          </a:prstGeom>
          <a:noFill/>
        </p:spPr>
        <p:txBody>
          <a:bodyPr wrap="square" lIns="0" rIns="0" tIns="0" bIns="0" anchor="t">
            <a:spAutoFit/>
          </a:bodyPr>
          <a:lstStyle/>
          <a:p>
            <a:pPr algn="l">
              <a:defRPr sz="1800" b="1">
                <a:solidFill>
                  <a:srgbClr val="20252A"/>
                </a:solidFill>
                <a:latin typeface="Bahnschrift"/>
              </a:defRPr>
            </a:pPr>
            <a:r>
              <a:t>In-process MCP</a:t>
            </a:r>
          </a:p>
        </p:txBody>
      </p:sp>
      <p:sp>
        <p:nvSpPr>
          <p:cNvPr id="52" name="TextBox 51"/>
          <p:cNvSpPr txBox="1"/>
          <p:nvPr/>
        </p:nvSpPr>
        <p:spPr>
          <a:xfrm>
            <a:off x="9299448" y="4892040"/>
            <a:ext cx="2176272" cy="274320"/>
          </a:xfrm>
          <a:prstGeom prst="rect">
            <a:avLst/>
          </a:prstGeom>
          <a:noFill/>
        </p:spPr>
        <p:txBody>
          <a:bodyPr wrap="square" lIns="0" rIns="0" tIns="0" bIns="0" anchor="t">
            <a:spAutoFit/>
          </a:bodyPr>
          <a:lstStyle/>
          <a:p>
            <a:pPr algn="l">
              <a:defRPr sz="1200" b="0">
                <a:solidFill>
                  <a:srgbClr val="58656D"/>
                </a:solidFill>
                <a:latin typeface="Calibri"/>
              </a:defRPr>
            </a:pPr>
            <a:r>
              <a:t>Isolated interpreter + fixtures</a:t>
            </a:r>
          </a:p>
        </p:txBody>
      </p:sp>
      <p:cxnSp>
        <p:nvCxnSpPr>
          <p:cNvPr id="53" name="Connector 52"/>
          <p:cNvCxnSpPr/>
          <p:nvPr/>
        </p:nvCxnSpPr>
        <p:spPr>
          <a:xfrm>
            <a:off x="3054096" y="4828032"/>
            <a:ext cx="310895"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273551" y="475488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273551" y="482803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7024" y="4828032"/>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126480" y="475488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126480" y="482803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759952" y="4828032"/>
            <a:ext cx="310896"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979408" y="4754880"/>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979408" y="482803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94360" y="5760720"/>
            <a:ext cx="10972800" cy="484632"/>
          </a:xfrm>
          <a:prstGeom prst="rect">
            <a:avLst/>
          </a:prstGeom>
          <a:noFill/>
        </p:spPr>
        <p:txBody>
          <a:bodyPr wrap="square" lIns="0" rIns="0" tIns="0" bIns="0" anchor="t">
            <a:spAutoFit/>
          </a:bodyPr>
          <a:lstStyle/>
          <a:p>
            <a:pPr algn="l">
              <a:defRPr sz="1700" b="0">
                <a:solidFill>
                  <a:srgbClr val="58656D"/>
                </a:solidFill>
                <a:latin typeface="Calibri"/>
              </a:defRPr>
            </a:pPr>
            <a:r>
              <a:t>Shared domain code and synthetic data, not a shared live store or a wired UI-to-agent call.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20</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TECHNICAL APPENDIX | ROLES + SCOPE</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MCP is a protocol, not the agent's brain.</a:t>
            </a:r>
          </a:p>
        </p:txBody>
      </p:sp>
      <p:sp>
        <p:nvSpPr>
          <p:cNvPr id="9" name="Rectangle 8"/>
          <p:cNvSpPr/>
          <p:nvPr/>
        </p:nvSpPr>
        <p:spPr>
          <a:xfrm>
            <a:off x="594360" y="1874519"/>
            <a:ext cx="33649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74519"/>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1993391"/>
            <a:ext cx="3090672" cy="310896"/>
          </a:xfrm>
          <a:prstGeom prst="rect">
            <a:avLst/>
          </a:prstGeom>
          <a:noFill/>
        </p:spPr>
        <p:txBody>
          <a:bodyPr wrap="square" lIns="0" rIns="0" tIns="0" bIns="0" anchor="t">
            <a:spAutoFit/>
          </a:bodyPr>
          <a:lstStyle/>
          <a:p>
            <a:pPr algn="l">
              <a:defRPr sz="1800" b="1">
                <a:solidFill>
                  <a:srgbClr val="20252A"/>
                </a:solidFill>
                <a:latin typeface="Bahnschrift"/>
              </a:defRPr>
            </a:pPr>
            <a:r>
              <a:t>HOST</a:t>
            </a:r>
          </a:p>
        </p:txBody>
      </p:sp>
      <p:sp>
        <p:nvSpPr>
          <p:cNvPr id="12" name="TextBox 11"/>
          <p:cNvSpPr txBox="1"/>
          <p:nvPr/>
        </p:nvSpPr>
        <p:spPr>
          <a:xfrm>
            <a:off x="740664" y="2404872"/>
            <a:ext cx="3090672" cy="274320"/>
          </a:xfrm>
          <a:prstGeom prst="rect">
            <a:avLst/>
          </a:prstGeom>
          <a:noFill/>
        </p:spPr>
        <p:txBody>
          <a:bodyPr wrap="square" lIns="0" rIns="0" tIns="0" bIns="0" anchor="t">
            <a:spAutoFit/>
          </a:bodyPr>
          <a:lstStyle/>
          <a:p>
            <a:pPr algn="l">
              <a:defRPr sz="1200" b="0">
                <a:solidFill>
                  <a:srgbClr val="58656D"/>
                </a:solidFill>
                <a:latin typeface="Calibri"/>
              </a:defRPr>
            </a:pPr>
            <a:r>
              <a:t>Application + tool-use policy</a:t>
            </a:r>
          </a:p>
        </p:txBody>
      </p:sp>
      <p:sp>
        <p:nvSpPr>
          <p:cNvPr id="13" name="Rectangle 12"/>
          <p:cNvSpPr/>
          <p:nvPr/>
        </p:nvSpPr>
        <p:spPr>
          <a:xfrm>
            <a:off x="4389120" y="1874519"/>
            <a:ext cx="33649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874519"/>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1993391"/>
            <a:ext cx="3090672" cy="310896"/>
          </a:xfrm>
          <a:prstGeom prst="rect">
            <a:avLst/>
          </a:prstGeom>
          <a:noFill/>
        </p:spPr>
        <p:txBody>
          <a:bodyPr wrap="square" lIns="0" rIns="0" tIns="0" bIns="0" anchor="t">
            <a:spAutoFit/>
          </a:bodyPr>
          <a:lstStyle/>
          <a:p>
            <a:pPr algn="l">
              <a:defRPr sz="1800" b="1">
                <a:solidFill>
                  <a:srgbClr val="20252A"/>
                </a:solidFill>
                <a:latin typeface="Bahnschrift"/>
              </a:defRPr>
            </a:pPr>
            <a:r>
              <a:t>CLIENT</a:t>
            </a:r>
          </a:p>
        </p:txBody>
      </p:sp>
      <p:sp>
        <p:nvSpPr>
          <p:cNvPr id="16" name="TextBox 15"/>
          <p:cNvSpPr txBox="1"/>
          <p:nvPr/>
        </p:nvSpPr>
        <p:spPr>
          <a:xfrm>
            <a:off x="4535424" y="2404872"/>
            <a:ext cx="3090672" cy="274320"/>
          </a:xfrm>
          <a:prstGeom prst="rect">
            <a:avLst/>
          </a:prstGeom>
          <a:noFill/>
        </p:spPr>
        <p:txBody>
          <a:bodyPr wrap="square" lIns="0" rIns="0" tIns="0" bIns="0" anchor="t">
            <a:spAutoFit/>
          </a:bodyPr>
          <a:lstStyle/>
          <a:p>
            <a:pPr algn="l">
              <a:defRPr sz="1200" b="0">
                <a:solidFill>
                  <a:srgbClr val="58656D"/>
                </a:solidFill>
                <a:latin typeface="Calibri"/>
              </a:defRPr>
            </a:pPr>
            <a:r>
              <a:t>Protocol session + requests</a:t>
            </a:r>
          </a:p>
        </p:txBody>
      </p:sp>
      <p:sp>
        <p:nvSpPr>
          <p:cNvPr id="17" name="Rectangle 16"/>
          <p:cNvSpPr/>
          <p:nvPr/>
        </p:nvSpPr>
        <p:spPr>
          <a:xfrm>
            <a:off x="8183879" y="1874519"/>
            <a:ext cx="3364992" cy="932688"/>
          </a:xfrm>
          <a:prstGeom prst="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874519"/>
            <a:ext cx="50292" cy="932688"/>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0183" y="1993391"/>
            <a:ext cx="3090672" cy="310896"/>
          </a:xfrm>
          <a:prstGeom prst="rect">
            <a:avLst/>
          </a:prstGeom>
          <a:noFill/>
        </p:spPr>
        <p:txBody>
          <a:bodyPr wrap="square" lIns="0" rIns="0" tIns="0" bIns="0" anchor="t">
            <a:spAutoFit/>
          </a:bodyPr>
          <a:lstStyle/>
          <a:p>
            <a:pPr algn="l">
              <a:defRPr sz="1800" b="1">
                <a:solidFill>
                  <a:srgbClr val="20252A"/>
                </a:solidFill>
                <a:latin typeface="Bahnschrift"/>
              </a:defRPr>
            </a:pPr>
            <a:r>
              <a:t>SERVER</a:t>
            </a:r>
          </a:p>
        </p:txBody>
      </p:sp>
      <p:sp>
        <p:nvSpPr>
          <p:cNvPr id="20" name="TextBox 19"/>
          <p:cNvSpPr txBox="1"/>
          <p:nvPr/>
        </p:nvSpPr>
        <p:spPr>
          <a:xfrm>
            <a:off x="8330183" y="2404872"/>
            <a:ext cx="3090672" cy="274320"/>
          </a:xfrm>
          <a:prstGeom prst="rect">
            <a:avLst/>
          </a:prstGeom>
          <a:noFill/>
        </p:spPr>
        <p:txBody>
          <a:bodyPr wrap="square" lIns="0" rIns="0" tIns="0" bIns="0" anchor="t">
            <a:spAutoFit/>
          </a:bodyPr>
          <a:lstStyle/>
          <a:p>
            <a:pPr algn="l">
              <a:defRPr sz="1200" b="0">
                <a:solidFill>
                  <a:srgbClr val="58656D"/>
                </a:solidFill>
                <a:latin typeface="Calibri"/>
              </a:defRPr>
            </a:pPr>
            <a:r>
              <a:t>Capabilities + tool handlers</a:t>
            </a:r>
          </a:p>
        </p:txBody>
      </p:sp>
      <p:cxnSp>
        <p:nvCxnSpPr>
          <p:cNvPr id="21" name="Connector 20"/>
          <p:cNvCxnSpPr/>
          <p:nvPr/>
        </p:nvCxnSpPr>
        <p:spPr>
          <a:xfrm>
            <a:off x="4014215" y="2340864"/>
            <a:ext cx="274321"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197096" y="226771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197096" y="2340864"/>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08975" y="2340864"/>
            <a:ext cx="274321" cy="0"/>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991856" y="2267712"/>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991856" y="2340864"/>
            <a:ext cx="91440" cy="73152"/>
          </a:xfrm>
          <a:prstGeom prst="line">
            <a:avLst/>
          </a:prstGeom>
          <a:ln w="22860">
            <a:solidFill>
              <a:srgbClr val="006F7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94360" y="3355848"/>
            <a:ext cx="1828800" cy="365760"/>
          </a:xfrm>
          <a:prstGeom prst="rect">
            <a:avLst/>
          </a:prstGeom>
          <a:noFill/>
        </p:spPr>
        <p:txBody>
          <a:bodyPr wrap="square" lIns="0" rIns="0" tIns="0" bIns="0" anchor="t">
            <a:spAutoFit/>
          </a:bodyPr>
          <a:lstStyle/>
          <a:p>
            <a:pPr algn="l">
              <a:defRPr sz="2300" b="1">
                <a:solidFill>
                  <a:srgbClr val="20252A"/>
                </a:solidFill>
                <a:latin typeface="Bahnschrift"/>
              </a:defRPr>
            </a:pPr>
            <a:r>
              <a:t>Tools</a:t>
            </a:r>
          </a:p>
        </p:txBody>
      </p:sp>
      <p:sp>
        <p:nvSpPr>
          <p:cNvPr id="28" name="TextBox 27"/>
          <p:cNvSpPr txBox="1"/>
          <p:nvPr/>
        </p:nvSpPr>
        <p:spPr>
          <a:xfrm>
            <a:off x="2743200" y="3355848"/>
            <a:ext cx="3657600" cy="548640"/>
          </a:xfrm>
          <a:prstGeom prst="rect">
            <a:avLst/>
          </a:prstGeom>
          <a:noFill/>
        </p:spPr>
        <p:txBody>
          <a:bodyPr wrap="square" lIns="0" rIns="0" tIns="0" bIns="0" anchor="t">
            <a:spAutoFit/>
          </a:bodyPr>
          <a:lstStyle/>
          <a:p>
            <a:pPr algn="l">
              <a:defRPr sz="1800" b="0">
                <a:solidFill>
                  <a:srgbClr val="20252A"/>
                </a:solidFill>
                <a:latin typeface="Calibri"/>
              </a:defRPr>
            </a:pPr>
            <a:r>
              <a:t>Callable operations</a:t>
            </a:r>
          </a:p>
        </p:txBody>
      </p:sp>
      <p:sp>
        <p:nvSpPr>
          <p:cNvPr id="29" name="TextBox 28"/>
          <p:cNvSpPr txBox="1"/>
          <p:nvPr/>
        </p:nvSpPr>
        <p:spPr>
          <a:xfrm>
            <a:off x="6766560" y="3355848"/>
            <a:ext cx="4754880" cy="548640"/>
          </a:xfrm>
          <a:prstGeom prst="rect">
            <a:avLst/>
          </a:prstGeom>
          <a:noFill/>
        </p:spPr>
        <p:txBody>
          <a:bodyPr wrap="square" lIns="0" rIns="0" tIns="0" bIns="0" anchor="t">
            <a:spAutoFit/>
          </a:bodyPr>
          <a:lstStyle/>
          <a:p>
            <a:pPr algn="l">
              <a:defRPr sz="1600" b="0">
                <a:solidFill>
                  <a:srgbClr val="006F78"/>
                </a:solidFill>
                <a:latin typeface="Calibri"/>
              </a:defRPr>
            </a:pPr>
            <a:r>
              <a:t>DEMONSTRATED: inventory lookup</a:t>
            </a:r>
          </a:p>
        </p:txBody>
      </p:sp>
      <p:sp>
        <p:nvSpPr>
          <p:cNvPr id="30" name="TextBox 29"/>
          <p:cNvSpPr txBox="1"/>
          <p:nvPr/>
        </p:nvSpPr>
        <p:spPr>
          <a:xfrm>
            <a:off x="594360" y="4123944"/>
            <a:ext cx="1828800" cy="365760"/>
          </a:xfrm>
          <a:prstGeom prst="rect">
            <a:avLst/>
          </a:prstGeom>
          <a:noFill/>
        </p:spPr>
        <p:txBody>
          <a:bodyPr wrap="square" lIns="0" rIns="0" tIns="0" bIns="0" anchor="t">
            <a:spAutoFit/>
          </a:bodyPr>
          <a:lstStyle/>
          <a:p>
            <a:pPr algn="l">
              <a:defRPr sz="2300" b="1">
                <a:solidFill>
                  <a:srgbClr val="20252A"/>
                </a:solidFill>
                <a:latin typeface="Bahnschrift"/>
              </a:defRPr>
            </a:pPr>
            <a:r>
              <a:t>Resources</a:t>
            </a:r>
          </a:p>
        </p:txBody>
      </p:sp>
      <p:sp>
        <p:nvSpPr>
          <p:cNvPr id="31" name="TextBox 30"/>
          <p:cNvSpPr txBox="1"/>
          <p:nvPr/>
        </p:nvSpPr>
        <p:spPr>
          <a:xfrm>
            <a:off x="2743200" y="4123944"/>
            <a:ext cx="3657600" cy="548640"/>
          </a:xfrm>
          <a:prstGeom prst="rect">
            <a:avLst/>
          </a:prstGeom>
          <a:noFill/>
        </p:spPr>
        <p:txBody>
          <a:bodyPr wrap="square" lIns="0" rIns="0" tIns="0" bIns="0" anchor="t">
            <a:spAutoFit/>
          </a:bodyPr>
          <a:lstStyle/>
          <a:p>
            <a:pPr algn="l">
              <a:defRPr sz="1800" b="0">
                <a:solidFill>
                  <a:srgbClr val="20252A"/>
                </a:solidFill>
                <a:latin typeface="Calibri"/>
              </a:defRPr>
            </a:pPr>
            <a:r>
              <a:t>Addressable context / data</a:t>
            </a:r>
          </a:p>
        </p:txBody>
      </p:sp>
      <p:sp>
        <p:nvSpPr>
          <p:cNvPr id="32" name="TextBox 31"/>
          <p:cNvSpPr txBox="1"/>
          <p:nvPr/>
        </p:nvSpPr>
        <p:spPr>
          <a:xfrm>
            <a:off x="6766560" y="4123944"/>
            <a:ext cx="4754880" cy="548640"/>
          </a:xfrm>
          <a:prstGeom prst="rect">
            <a:avLst/>
          </a:prstGeom>
          <a:noFill/>
        </p:spPr>
        <p:txBody>
          <a:bodyPr wrap="square" lIns="0" rIns="0" tIns="0" bIns="0" anchor="t">
            <a:spAutoFit/>
          </a:bodyPr>
          <a:lstStyle/>
          <a:p>
            <a:pPr algn="l">
              <a:defRPr sz="1600" b="0">
                <a:solidFill>
                  <a:srgbClr val="006F78"/>
                </a:solidFill>
                <a:latin typeface="Calibri"/>
              </a:defRPr>
            </a:pPr>
            <a:r>
              <a:t>NOT EXPOSED: recall document URI</a:t>
            </a:r>
          </a:p>
        </p:txBody>
      </p:sp>
      <p:sp>
        <p:nvSpPr>
          <p:cNvPr id="33" name="TextBox 32"/>
          <p:cNvSpPr txBox="1"/>
          <p:nvPr/>
        </p:nvSpPr>
        <p:spPr>
          <a:xfrm>
            <a:off x="594360" y="4892040"/>
            <a:ext cx="1828800" cy="365760"/>
          </a:xfrm>
          <a:prstGeom prst="rect">
            <a:avLst/>
          </a:prstGeom>
          <a:noFill/>
        </p:spPr>
        <p:txBody>
          <a:bodyPr wrap="square" lIns="0" rIns="0" tIns="0" bIns="0" anchor="t">
            <a:spAutoFit/>
          </a:bodyPr>
          <a:lstStyle/>
          <a:p>
            <a:pPr algn="l">
              <a:defRPr sz="2300" b="1">
                <a:solidFill>
                  <a:srgbClr val="20252A"/>
                </a:solidFill>
                <a:latin typeface="Bahnschrift"/>
              </a:defRPr>
            </a:pPr>
            <a:r>
              <a:t>Prompts</a:t>
            </a:r>
          </a:p>
        </p:txBody>
      </p:sp>
      <p:sp>
        <p:nvSpPr>
          <p:cNvPr id="34" name="TextBox 33"/>
          <p:cNvSpPr txBox="1"/>
          <p:nvPr/>
        </p:nvSpPr>
        <p:spPr>
          <a:xfrm>
            <a:off x="2743200" y="4892040"/>
            <a:ext cx="3657600" cy="548640"/>
          </a:xfrm>
          <a:prstGeom prst="rect">
            <a:avLst/>
          </a:prstGeom>
          <a:noFill/>
        </p:spPr>
        <p:txBody>
          <a:bodyPr wrap="square" lIns="0" rIns="0" tIns="0" bIns="0" anchor="t">
            <a:spAutoFit/>
          </a:bodyPr>
          <a:lstStyle/>
          <a:p>
            <a:pPr algn="l">
              <a:defRPr sz="1800" b="0">
                <a:solidFill>
                  <a:srgbClr val="20252A"/>
                </a:solidFill>
                <a:latin typeface="Calibri"/>
              </a:defRPr>
            </a:pPr>
            <a:r>
              <a:t>Reusable interaction templates</a:t>
            </a:r>
          </a:p>
        </p:txBody>
      </p:sp>
      <p:sp>
        <p:nvSpPr>
          <p:cNvPr id="35" name="TextBox 34"/>
          <p:cNvSpPr txBox="1"/>
          <p:nvPr/>
        </p:nvSpPr>
        <p:spPr>
          <a:xfrm>
            <a:off x="6766560" y="4892040"/>
            <a:ext cx="4754880" cy="548640"/>
          </a:xfrm>
          <a:prstGeom prst="rect">
            <a:avLst/>
          </a:prstGeom>
          <a:noFill/>
        </p:spPr>
        <p:txBody>
          <a:bodyPr wrap="square" lIns="0" rIns="0" tIns="0" bIns="0" anchor="t">
            <a:spAutoFit/>
          </a:bodyPr>
          <a:lstStyle/>
          <a:p>
            <a:pPr algn="l">
              <a:defRPr sz="1600" b="0">
                <a:solidFill>
                  <a:srgbClr val="006F78"/>
                </a:solidFill>
                <a:latin typeface="Calibri"/>
              </a:defRPr>
            </a:pPr>
            <a:r>
              <a:t>NOT EXPOSED: assessment template</a:t>
            </a:r>
          </a:p>
        </p:txBody>
      </p:sp>
      <p:sp>
        <p:nvSpPr>
          <p:cNvPr id="36" name="TextBox 35"/>
          <p:cNvSpPr txBox="1"/>
          <p:nvPr/>
        </p:nvSpPr>
        <p:spPr>
          <a:xfrm>
            <a:off x="594360" y="6035040"/>
            <a:ext cx="10972800" cy="365760"/>
          </a:xfrm>
          <a:prstGeom prst="rect">
            <a:avLst/>
          </a:prstGeom>
          <a:noFill/>
        </p:spPr>
        <p:txBody>
          <a:bodyPr wrap="square" lIns="0" rIns="0" tIns="0" bIns="0" anchor="t">
            <a:spAutoFit/>
          </a:bodyPr>
          <a:lstStyle/>
          <a:p>
            <a:pPr algn="l">
              <a:defRPr sz="1700" b="1">
                <a:solidFill>
                  <a:srgbClr val="B73935"/>
                </a:solidFill>
                <a:latin typeface="Calibri"/>
              </a:defRPr>
            </a:pPr>
            <a:r>
              <a:t>REST can stay behind the server. MCP standardizes the AI-facing capability interface.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21</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TECHNICAL APPENDIX | REPOSITORY CODE EXCERPTS</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Follow one call from Python to MCP and back.</a:t>
            </a:r>
          </a:p>
        </p:txBody>
      </p:sp>
      <p:sp>
        <p:nvSpPr>
          <p:cNvPr id="9" name="TextBox 8"/>
          <p:cNvSpPr txBox="1"/>
          <p:nvPr/>
        </p:nvSpPr>
        <p:spPr>
          <a:xfrm>
            <a:off x="594360" y="1828800"/>
            <a:ext cx="5212080" cy="347472"/>
          </a:xfrm>
          <a:prstGeom prst="rect">
            <a:avLst/>
          </a:prstGeom>
          <a:noFill/>
        </p:spPr>
        <p:txBody>
          <a:bodyPr wrap="square" lIns="0" rIns="0" tIns="0" bIns="0" anchor="t">
            <a:spAutoFit/>
          </a:bodyPr>
          <a:lstStyle/>
          <a:p>
            <a:pPr algn="l">
              <a:defRPr sz="1900" b="1">
                <a:solidFill>
                  <a:srgbClr val="006F78"/>
                </a:solidFill>
                <a:latin typeface="Bahnschrift"/>
              </a:defRPr>
            </a:pPr>
            <a:r>
              <a:t>SERVER  /  caldova_mcp.py</a:t>
            </a:r>
          </a:p>
        </p:txBody>
      </p:sp>
      <p:sp>
        <p:nvSpPr>
          <p:cNvPr id="10" name="TextBox 9"/>
          <p:cNvSpPr txBox="1"/>
          <p:nvPr/>
        </p:nvSpPr>
        <p:spPr>
          <a:xfrm>
            <a:off x="594360" y="2423160"/>
            <a:ext cx="5440680" cy="3291840"/>
          </a:xfrm>
          <a:prstGeom prst="rect">
            <a:avLst/>
          </a:prstGeom>
          <a:noFill/>
        </p:spPr>
        <p:txBody>
          <a:bodyPr wrap="square" lIns="0" rIns="0" tIns="0" bIns="0" anchor="t">
            <a:spAutoFit/>
          </a:bodyPr>
          <a:lstStyle/>
          <a:p>
            <a:pPr algn="l">
              <a:defRPr sz="1500" b="0">
                <a:solidFill>
                  <a:srgbClr val="20252A"/>
                </a:solidFill>
                <a:latin typeface="Cascadia Code"/>
              </a:defRPr>
            </a:pPr>
            <a:r>
              <a:t>@mcp.tool(</a:t>
            </a:r>
            <a:br/>
            <a:r>
              <a:t>    title="Locate affected inventory",</a:t>
            </a:r>
            <a:br/>
            <a:r>
              <a:t>    annotations=ToolAnnotations(</a:t>
            </a:r>
            <a:br/>
            <a:r>
              <a:t>        read_only_hint=True,</a:t>
            </a:r>
            <a:br/>
            <a:r>
              <a:t>        open_world_hint=False),</a:t>
            </a:r>
            <a:br/>
            <a:r>
              <a:t>)</a:t>
            </a:r>
            <a:br/>
            <a:r>
              <a:t>def locate_inventory(</a:t>
            </a:r>
            <a:br/>
            <a:r>
              <a:t>    batch_id: BatchId</a:t>
            </a:r>
            <a:br/>
            <a:r>
              <a:t>) -&gt; dict[str, Any]:</a:t>
            </a:r>
            <a:br/>
            <a:r>
              <a:t>    return STORE.locate_inventory(batch_id)</a:t>
            </a:r>
          </a:p>
        </p:txBody>
      </p:sp>
      <p:cxnSp>
        <p:nvCxnSpPr>
          <p:cNvPr id="11" name="Connector 10"/>
          <p:cNvCxnSpPr/>
          <p:nvPr/>
        </p:nvCxnSpPr>
        <p:spPr>
          <a:xfrm>
            <a:off x="6080760" y="1828800"/>
            <a:ext cx="0" cy="393192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0" y="1828800"/>
            <a:ext cx="5166360" cy="347472"/>
          </a:xfrm>
          <a:prstGeom prst="rect">
            <a:avLst/>
          </a:prstGeom>
          <a:noFill/>
        </p:spPr>
        <p:txBody>
          <a:bodyPr wrap="square" lIns="0" rIns="0" tIns="0" bIns="0" anchor="t">
            <a:spAutoFit/>
          </a:bodyPr>
          <a:lstStyle/>
          <a:p>
            <a:pPr algn="l">
              <a:defRPr sz="1900" b="1">
                <a:solidFill>
                  <a:srgbClr val="006F78"/>
                </a:solidFill>
                <a:latin typeface="Bahnschrift"/>
              </a:defRPr>
            </a:pPr>
            <a:r>
              <a:t>CLIENT  /  inspect_mcp.py</a:t>
            </a:r>
          </a:p>
        </p:txBody>
      </p:sp>
      <p:sp>
        <p:nvSpPr>
          <p:cNvPr id="13" name="TextBox 12"/>
          <p:cNvSpPr txBox="1"/>
          <p:nvPr/>
        </p:nvSpPr>
        <p:spPr>
          <a:xfrm>
            <a:off x="6400800" y="2423160"/>
            <a:ext cx="5166360" cy="2651760"/>
          </a:xfrm>
          <a:prstGeom prst="rect">
            <a:avLst/>
          </a:prstGeom>
          <a:noFill/>
        </p:spPr>
        <p:txBody>
          <a:bodyPr wrap="square" lIns="0" rIns="0" tIns="0" bIns="0" anchor="t">
            <a:spAutoFit/>
          </a:bodyPr>
          <a:lstStyle/>
          <a:p>
            <a:pPr algn="l">
              <a:defRPr sz="1500" b="0">
                <a:solidFill>
                  <a:srgbClr val="20252A"/>
                </a:solidFill>
                <a:latin typeface="Cascadia Code"/>
              </a:defRPr>
            </a:pPr>
            <a:r>
              <a:t>async with Client(server) as client:</a:t>
            </a:r>
            <a:br/>
            <a:r>
              <a:t>    listing = await client.list_tools()</a:t>
            </a:r>
            <a:br/>
            <a:r>
              <a:t>    result = await client.call_tool(</a:t>
            </a:r>
            <a:br/>
            <a:r>
              <a:t>        "locate_inventory",</a:t>
            </a:r>
            <a:br/>
            <a:r>
              <a:t>        {"batch_id": "B-2408-AX7"},</a:t>
            </a:r>
            <a:br/>
            <a:r>
              <a:t>    )</a:t>
            </a:r>
            <a:br/>
            <a:r>
              <a:t>    facts = result.structured_content</a:t>
            </a:r>
          </a:p>
        </p:txBody>
      </p:sp>
      <p:sp>
        <p:nvSpPr>
          <p:cNvPr id="14" name="TextBox 13"/>
          <p:cNvSpPr txBox="1"/>
          <p:nvPr/>
        </p:nvSpPr>
        <p:spPr>
          <a:xfrm>
            <a:off x="6400800" y="5074920"/>
            <a:ext cx="5166360" cy="731520"/>
          </a:xfrm>
          <a:prstGeom prst="rect">
            <a:avLst/>
          </a:prstGeom>
          <a:noFill/>
        </p:spPr>
        <p:txBody>
          <a:bodyPr wrap="square" lIns="0" rIns="0" tIns="0" bIns="0" anchor="t">
            <a:spAutoFit/>
          </a:bodyPr>
          <a:lstStyle/>
          <a:p>
            <a:pPr algn="l">
              <a:defRPr sz="1800" b="0">
                <a:solidFill>
                  <a:srgbClr val="58656D"/>
                </a:solidFill>
                <a:latin typeface="Calibri"/>
              </a:defRPr>
            </a:pPr>
            <a:r>
              <a:t>Validate the result and domain invariants.</a:t>
            </a:r>
            <a:br/>
            <a:r>
              <a:t>Do not scrape prose to recover inventory.</a:t>
            </a:r>
          </a:p>
        </p:txBody>
      </p:sp>
      <p:sp>
        <p:nvSpPr>
          <p:cNvPr id="15" name="TextBox 14"/>
          <p:cNvSpPr txBox="1"/>
          <p:nvPr/>
        </p:nvSpPr>
        <p:spPr>
          <a:xfrm>
            <a:off x="594360" y="6053328"/>
            <a:ext cx="10972800" cy="292608"/>
          </a:xfrm>
          <a:prstGeom prst="rect">
            <a:avLst/>
          </a:prstGeom>
          <a:noFill/>
        </p:spPr>
        <p:txBody>
          <a:bodyPr wrap="square" lIns="0" rIns="0" tIns="0" bIns="0" anchor="t">
            <a:spAutoFit/>
          </a:bodyPr>
          <a:lstStyle/>
          <a:p>
            <a:pPr algn="l">
              <a:defRPr sz="1400" b="0">
                <a:solidFill>
                  <a:srgbClr val="58656D"/>
                </a:solidFill>
                <a:latin typeface="Calibri"/>
              </a:defRPr>
            </a:pPr>
            <a:r>
              <a:t>Imports, setup and docstring omitted. BatchId supplies the validated input constraints.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22</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TECHNICAL APPENDIX | TEST THE BOUNDARY</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Different failures need different responses.</a:t>
            </a:r>
          </a:p>
        </p:txBody>
      </p:sp>
      <p:sp>
        <p:nvSpPr>
          <p:cNvPr id="9" name="TextBox 8"/>
          <p:cNvSpPr txBox="1"/>
          <p:nvPr/>
        </p:nvSpPr>
        <p:spPr>
          <a:xfrm>
            <a:off x="594360" y="2148840"/>
            <a:ext cx="3657600" cy="594360"/>
          </a:xfrm>
          <a:prstGeom prst="rect">
            <a:avLst/>
          </a:prstGeom>
          <a:noFill/>
        </p:spPr>
        <p:txBody>
          <a:bodyPr wrap="square" lIns="0" rIns="0" tIns="0" bIns="0" anchor="t">
            <a:spAutoFit/>
          </a:bodyPr>
          <a:lstStyle/>
          <a:p>
            <a:pPr algn="l">
              <a:defRPr sz="2100" b="1">
                <a:solidFill>
                  <a:srgbClr val="20252A"/>
                </a:solidFill>
                <a:latin typeface="Bahnschrift"/>
              </a:defRPr>
            </a:pPr>
            <a:r>
              <a:t>Malformed batch</a:t>
            </a:r>
          </a:p>
        </p:txBody>
      </p:sp>
      <p:sp>
        <p:nvSpPr>
          <p:cNvPr id="10" name="TextBox 9"/>
          <p:cNvSpPr txBox="1"/>
          <p:nvPr/>
        </p:nvSpPr>
        <p:spPr>
          <a:xfrm>
            <a:off x="4480560" y="2148840"/>
            <a:ext cx="3154680" cy="594360"/>
          </a:xfrm>
          <a:prstGeom prst="rect">
            <a:avLst/>
          </a:prstGeom>
          <a:noFill/>
        </p:spPr>
        <p:txBody>
          <a:bodyPr wrap="square" lIns="0" rIns="0" tIns="0" bIns="0" anchor="t">
            <a:spAutoFit/>
          </a:bodyPr>
          <a:lstStyle/>
          <a:p>
            <a:pPr algn="l">
              <a:defRPr sz="1800" b="0">
                <a:solidFill>
                  <a:srgbClr val="006F78"/>
                </a:solidFill>
                <a:latin typeface="Calibri"/>
              </a:defRPr>
            </a:pPr>
            <a:r>
              <a:t>MCP isError: true</a:t>
            </a:r>
          </a:p>
        </p:txBody>
      </p:sp>
      <p:sp>
        <p:nvSpPr>
          <p:cNvPr id="11" name="TextBox 10"/>
          <p:cNvSpPr txBox="1"/>
          <p:nvPr/>
        </p:nvSpPr>
        <p:spPr>
          <a:xfrm>
            <a:off x="8046720" y="2148840"/>
            <a:ext cx="3520440" cy="594360"/>
          </a:xfrm>
          <a:prstGeom prst="rect">
            <a:avLst/>
          </a:prstGeom>
          <a:noFill/>
        </p:spPr>
        <p:txBody>
          <a:bodyPr wrap="square" lIns="0" rIns="0" tIns="0" bIns="0" anchor="t">
            <a:spAutoFit/>
          </a:bodyPr>
          <a:lstStyle/>
          <a:p>
            <a:pPr algn="l">
              <a:defRPr sz="1800" b="0">
                <a:solidFill>
                  <a:srgbClr val="20252A"/>
                </a:solidFill>
                <a:latin typeface="Calibri"/>
              </a:defRPr>
            </a:pPr>
            <a:r>
              <a:t>Correct input; no blind retry</a:t>
            </a:r>
          </a:p>
        </p:txBody>
      </p:sp>
      <p:cxnSp>
        <p:nvCxnSpPr>
          <p:cNvPr id="12" name="Connector 11"/>
          <p:cNvCxnSpPr/>
          <p:nvPr/>
        </p:nvCxnSpPr>
        <p:spPr>
          <a:xfrm>
            <a:off x="594360" y="2852928"/>
            <a:ext cx="1097280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026664"/>
            <a:ext cx="3657600" cy="594360"/>
          </a:xfrm>
          <a:prstGeom prst="rect">
            <a:avLst/>
          </a:prstGeom>
          <a:noFill/>
        </p:spPr>
        <p:txBody>
          <a:bodyPr wrap="square" lIns="0" rIns="0" tIns="0" bIns="0" anchor="t">
            <a:spAutoFit/>
          </a:bodyPr>
          <a:lstStyle/>
          <a:p>
            <a:pPr algn="l">
              <a:defRPr sz="2100" b="1">
                <a:solidFill>
                  <a:srgbClr val="20252A"/>
                </a:solidFill>
                <a:latin typeface="Bahnschrift"/>
              </a:defRPr>
            </a:pPr>
            <a:r>
              <a:t>Invalid approval credential</a:t>
            </a:r>
          </a:p>
        </p:txBody>
      </p:sp>
      <p:sp>
        <p:nvSpPr>
          <p:cNvPr id="14" name="TextBox 13"/>
          <p:cNvSpPr txBox="1"/>
          <p:nvPr/>
        </p:nvSpPr>
        <p:spPr>
          <a:xfrm>
            <a:off x="4480560" y="3026664"/>
            <a:ext cx="3154680" cy="594360"/>
          </a:xfrm>
          <a:prstGeom prst="rect">
            <a:avLst/>
          </a:prstGeom>
          <a:noFill/>
        </p:spPr>
        <p:txBody>
          <a:bodyPr wrap="square" lIns="0" rIns="0" tIns="0" bIns="0" anchor="t">
            <a:spAutoFit/>
          </a:bodyPr>
          <a:lstStyle/>
          <a:p>
            <a:pPr algn="l">
              <a:defRPr sz="1800" b="0">
                <a:solidFill>
                  <a:srgbClr val="006F78"/>
                </a:solidFill>
                <a:latin typeface="Calibri"/>
              </a:defRPr>
            </a:pPr>
            <a:r>
              <a:t>MCP isError: true</a:t>
            </a:r>
          </a:p>
        </p:txBody>
      </p:sp>
      <p:sp>
        <p:nvSpPr>
          <p:cNvPr id="15" name="TextBox 14"/>
          <p:cNvSpPr txBox="1"/>
          <p:nvPr/>
        </p:nvSpPr>
        <p:spPr>
          <a:xfrm>
            <a:off x="8046720" y="3026664"/>
            <a:ext cx="3520440" cy="594360"/>
          </a:xfrm>
          <a:prstGeom prst="rect">
            <a:avLst/>
          </a:prstGeom>
          <a:noFill/>
        </p:spPr>
        <p:txBody>
          <a:bodyPr wrap="square" lIns="0" rIns="0" tIns="0" bIns="0" anchor="t">
            <a:spAutoFit/>
          </a:bodyPr>
          <a:lstStyle/>
          <a:p>
            <a:pPr algn="l">
              <a:defRPr sz="1800" b="0">
                <a:solidFill>
                  <a:srgbClr val="20252A"/>
                </a:solidFill>
                <a:latin typeface="Calibri"/>
              </a:defRPr>
            </a:pPr>
            <a:r>
              <a:t>Require real authority</a:t>
            </a:r>
          </a:p>
        </p:txBody>
      </p:sp>
      <p:cxnSp>
        <p:nvCxnSpPr>
          <p:cNvPr id="16" name="Connector 15"/>
          <p:cNvCxnSpPr/>
          <p:nvPr/>
        </p:nvCxnSpPr>
        <p:spPr>
          <a:xfrm>
            <a:off x="594360" y="3730752"/>
            <a:ext cx="1097280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3904487"/>
            <a:ext cx="3657600" cy="594360"/>
          </a:xfrm>
          <a:prstGeom prst="rect">
            <a:avLst/>
          </a:prstGeom>
          <a:noFill/>
        </p:spPr>
        <p:txBody>
          <a:bodyPr wrap="square" lIns="0" rIns="0" tIns="0" bIns="0" anchor="t">
            <a:spAutoFit/>
          </a:bodyPr>
          <a:lstStyle/>
          <a:p>
            <a:pPr algn="l">
              <a:defRPr sz="2100" b="1">
                <a:solidFill>
                  <a:srgbClr val="20252A"/>
                </a:solidFill>
                <a:latin typeface="Bahnschrift"/>
              </a:defRPr>
            </a:pPr>
            <a:r>
              <a:t>Invalid UI approval handle</a:t>
            </a:r>
          </a:p>
        </p:txBody>
      </p:sp>
      <p:sp>
        <p:nvSpPr>
          <p:cNvPr id="18" name="TextBox 17"/>
          <p:cNvSpPr txBox="1"/>
          <p:nvPr/>
        </p:nvSpPr>
        <p:spPr>
          <a:xfrm>
            <a:off x="4480560" y="3904487"/>
            <a:ext cx="3154680" cy="594360"/>
          </a:xfrm>
          <a:prstGeom prst="rect">
            <a:avLst/>
          </a:prstGeom>
          <a:noFill/>
        </p:spPr>
        <p:txBody>
          <a:bodyPr wrap="square" lIns="0" rIns="0" tIns="0" bIns="0" anchor="t">
            <a:spAutoFit/>
          </a:bodyPr>
          <a:lstStyle/>
          <a:p>
            <a:pPr algn="l">
              <a:defRPr sz="1800" b="0">
                <a:solidFill>
                  <a:srgbClr val="006F78"/>
                </a:solidFill>
                <a:latin typeface="Calibri"/>
              </a:defRPr>
            </a:pPr>
            <a:r>
              <a:t>HTTP 403 from FastAPI</a:t>
            </a:r>
          </a:p>
        </p:txBody>
      </p:sp>
      <p:sp>
        <p:nvSpPr>
          <p:cNvPr id="19" name="TextBox 18"/>
          <p:cNvSpPr txBox="1"/>
          <p:nvPr/>
        </p:nvSpPr>
        <p:spPr>
          <a:xfrm>
            <a:off x="8046720" y="3904487"/>
            <a:ext cx="3520440" cy="594360"/>
          </a:xfrm>
          <a:prstGeom prst="rect">
            <a:avLst/>
          </a:prstGeom>
          <a:noFill/>
        </p:spPr>
        <p:txBody>
          <a:bodyPr wrap="square" lIns="0" rIns="0" tIns="0" bIns="0" anchor="t">
            <a:spAutoFit/>
          </a:bodyPr>
          <a:lstStyle/>
          <a:p>
            <a:pPr algn="l">
              <a:defRPr sz="1800" b="0">
                <a:solidFill>
                  <a:srgbClr val="20252A"/>
                </a:solidFill>
                <a:latin typeface="Calibri"/>
              </a:defRPr>
            </a:pPr>
            <a:r>
              <a:t>Application gate, not MCP RPC</a:t>
            </a:r>
          </a:p>
        </p:txBody>
      </p:sp>
      <p:cxnSp>
        <p:nvCxnSpPr>
          <p:cNvPr id="20" name="Connector 19"/>
          <p:cNvCxnSpPr/>
          <p:nvPr/>
        </p:nvCxnSpPr>
        <p:spPr>
          <a:xfrm>
            <a:off x="594360" y="4608575"/>
            <a:ext cx="10972800" cy="0"/>
          </a:xfrm>
          <a:prstGeom prst="line">
            <a:avLst/>
          </a:prstGeom>
          <a:ln w="12700">
            <a:solidFill>
              <a:srgbClr val="D9E3E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4782312"/>
            <a:ext cx="3657600" cy="594360"/>
          </a:xfrm>
          <a:prstGeom prst="rect">
            <a:avLst/>
          </a:prstGeom>
          <a:noFill/>
        </p:spPr>
        <p:txBody>
          <a:bodyPr wrap="square" lIns="0" rIns="0" tIns="0" bIns="0" anchor="t">
            <a:spAutoFit/>
          </a:bodyPr>
          <a:lstStyle/>
          <a:p>
            <a:pPr algn="l">
              <a:defRPr sz="2100" b="1">
                <a:solidFill>
                  <a:srgbClr val="20252A"/>
                </a:solidFill>
                <a:latin typeface="Bahnschrift"/>
              </a:defRPr>
            </a:pPr>
            <a:r>
              <a:t>Correct facts, wrong brief</a:t>
            </a:r>
          </a:p>
        </p:txBody>
      </p:sp>
      <p:sp>
        <p:nvSpPr>
          <p:cNvPr id="22" name="TextBox 21"/>
          <p:cNvSpPr txBox="1"/>
          <p:nvPr/>
        </p:nvSpPr>
        <p:spPr>
          <a:xfrm>
            <a:off x="4480560" y="4782312"/>
            <a:ext cx="3154680" cy="594360"/>
          </a:xfrm>
          <a:prstGeom prst="rect">
            <a:avLst/>
          </a:prstGeom>
          <a:noFill/>
        </p:spPr>
        <p:txBody>
          <a:bodyPr wrap="square" lIns="0" rIns="0" tIns="0" bIns="0" anchor="t">
            <a:spAutoFit/>
          </a:bodyPr>
          <a:lstStyle/>
          <a:p>
            <a:pPr algn="l">
              <a:defRPr sz="1800" b="0">
                <a:solidFill>
                  <a:srgbClr val="006F78"/>
                </a:solidFill>
                <a:latin typeface="Calibri"/>
              </a:defRPr>
            </a:pPr>
            <a:r>
              <a:t>Agent quality failure</a:t>
            </a:r>
          </a:p>
        </p:txBody>
      </p:sp>
      <p:sp>
        <p:nvSpPr>
          <p:cNvPr id="23" name="TextBox 22"/>
          <p:cNvSpPr txBox="1"/>
          <p:nvPr/>
        </p:nvSpPr>
        <p:spPr>
          <a:xfrm>
            <a:off x="8046720" y="4782312"/>
            <a:ext cx="3520440" cy="594360"/>
          </a:xfrm>
          <a:prstGeom prst="rect">
            <a:avLst/>
          </a:prstGeom>
          <a:noFill/>
        </p:spPr>
        <p:txBody>
          <a:bodyPr wrap="square" lIns="0" rIns="0" tIns="0" bIns="0" anchor="t">
            <a:spAutoFit/>
          </a:bodyPr>
          <a:lstStyle/>
          <a:p>
            <a:pPr algn="l">
              <a:defRPr sz="1800" b="0">
                <a:solidFill>
                  <a:srgbClr val="20252A"/>
                </a:solidFill>
                <a:latin typeface="Calibri"/>
              </a:defRPr>
            </a:pPr>
            <a:r>
              <a:t>Check handoff + evaluation</a:t>
            </a:r>
          </a:p>
        </p:txBody>
      </p:sp>
      <p:sp>
        <p:nvSpPr>
          <p:cNvPr id="24" name="TextBox 23"/>
          <p:cNvSpPr txBox="1"/>
          <p:nvPr/>
        </p:nvSpPr>
        <p:spPr>
          <a:xfrm>
            <a:off x="594360" y="6080760"/>
            <a:ext cx="10972800" cy="310896"/>
          </a:xfrm>
          <a:prstGeom prst="rect">
            <a:avLst/>
          </a:prstGeom>
          <a:noFill/>
        </p:spPr>
        <p:txBody>
          <a:bodyPr wrap="square" lIns="0" rIns="0" tIns="0" bIns="0" anchor="t">
            <a:spAutoFit/>
          </a:bodyPr>
          <a:lstStyle/>
          <a:p>
            <a:pPr algn="l">
              <a:defRPr sz="1500" b="1">
                <a:solidFill>
                  <a:srgbClr val="B73935"/>
                </a:solidFill>
                <a:latin typeface="Calibri"/>
              </a:defRPr>
            </a:pPr>
            <a:r>
              <a:t>Also test: unknown tool / timeout / malicious output / lost response / restart / replicas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23</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MCP LIVE! | NEXT DESIGN QUESTIONS</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Extend the experience. Keep the controls.</a:t>
            </a:r>
          </a:p>
        </p:txBody>
      </p:sp>
      <p:sp>
        <p:nvSpPr>
          <p:cNvPr id="9" name="TextBox 8"/>
          <p:cNvSpPr txBox="1"/>
          <p:nvPr/>
        </p:nvSpPr>
        <p:spPr>
          <a:xfrm>
            <a:off x="594360" y="1874519"/>
            <a:ext cx="5120640" cy="228600"/>
          </a:xfrm>
          <a:prstGeom prst="rect">
            <a:avLst/>
          </a:prstGeom>
          <a:noFill/>
        </p:spPr>
        <p:txBody>
          <a:bodyPr wrap="square" lIns="0" rIns="0" tIns="0" bIns="0" anchor="t">
            <a:spAutoFit/>
          </a:bodyPr>
          <a:lstStyle/>
          <a:p>
            <a:pPr algn="l">
              <a:defRPr sz="1200" b="1">
                <a:solidFill>
                  <a:srgbClr val="006F78"/>
                </a:solidFill>
                <a:latin typeface="Calibri"/>
              </a:defRPr>
            </a:pPr>
            <a:r>
              <a:t>01:20:23</a:t>
            </a:r>
          </a:p>
        </p:txBody>
      </p:sp>
      <p:sp>
        <p:nvSpPr>
          <p:cNvPr id="10" name="TextBox 9"/>
          <p:cNvSpPr txBox="1"/>
          <p:nvPr/>
        </p:nvSpPr>
        <p:spPr>
          <a:xfrm>
            <a:off x="594360" y="2295144"/>
            <a:ext cx="5120640" cy="475488"/>
          </a:xfrm>
          <a:prstGeom prst="rect">
            <a:avLst/>
          </a:prstGeom>
          <a:noFill/>
        </p:spPr>
        <p:txBody>
          <a:bodyPr wrap="square" lIns="0" rIns="0" tIns="0" bIns="0" anchor="t">
            <a:spAutoFit/>
          </a:bodyPr>
          <a:lstStyle/>
          <a:p>
            <a:pPr algn="l">
              <a:defRPr sz="2700" b="1">
                <a:solidFill>
                  <a:srgbClr val="20252A"/>
                </a:solidFill>
                <a:latin typeface="Bahnschrift"/>
              </a:defRPr>
            </a:pPr>
            <a:r>
              <a:t>Toolboxes</a:t>
            </a:r>
          </a:p>
        </p:txBody>
      </p:sp>
      <p:sp>
        <p:nvSpPr>
          <p:cNvPr id="11" name="TextBox 10"/>
          <p:cNvSpPr txBox="1"/>
          <p:nvPr/>
        </p:nvSpPr>
        <p:spPr>
          <a:xfrm>
            <a:off x="594360" y="2926079"/>
            <a:ext cx="5120640" cy="731520"/>
          </a:xfrm>
          <a:prstGeom prst="rect">
            <a:avLst/>
          </a:prstGeom>
          <a:noFill/>
        </p:spPr>
        <p:txBody>
          <a:bodyPr wrap="square" lIns="0" rIns="0" tIns="0" bIns="0" anchor="t">
            <a:spAutoFit/>
          </a:bodyPr>
          <a:lstStyle/>
          <a:p>
            <a:pPr algn="l">
              <a:defRPr sz="2100" b="0">
                <a:solidFill>
                  <a:srgbClr val="58656D"/>
                </a:solidFill>
                <a:latin typeface="Calibri"/>
              </a:defRPr>
            </a:pPr>
            <a:r>
              <a:t>Which tools should a workload discover?</a:t>
            </a:r>
          </a:p>
        </p:txBody>
      </p:sp>
      <p:sp>
        <p:nvSpPr>
          <p:cNvPr id="12" name="TextBox 11"/>
          <p:cNvSpPr txBox="1"/>
          <p:nvPr/>
        </p:nvSpPr>
        <p:spPr>
          <a:xfrm>
            <a:off x="6309360" y="1874519"/>
            <a:ext cx="5120640" cy="228600"/>
          </a:xfrm>
          <a:prstGeom prst="rect">
            <a:avLst/>
          </a:prstGeom>
          <a:noFill/>
        </p:spPr>
        <p:txBody>
          <a:bodyPr wrap="square" lIns="0" rIns="0" tIns="0" bIns="0" anchor="t">
            <a:spAutoFit/>
          </a:bodyPr>
          <a:lstStyle/>
          <a:p>
            <a:pPr algn="l">
              <a:defRPr sz="1200" b="1">
                <a:solidFill>
                  <a:srgbClr val="20252A"/>
                </a:solidFill>
                <a:latin typeface="Calibri"/>
              </a:defRPr>
            </a:pPr>
            <a:r>
              <a:t>02:32:29</a:t>
            </a:r>
          </a:p>
        </p:txBody>
      </p:sp>
      <p:sp>
        <p:nvSpPr>
          <p:cNvPr id="13" name="TextBox 12"/>
          <p:cNvSpPr txBox="1"/>
          <p:nvPr/>
        </p:nvSpPr>
        <p:spPr>
          <a:xfrm>
            <a:off x="6309360" y="2295144"/>
            <a:ext cx="5120640" cy="475488"/>
          </a:xfrm>
          <a:prstGeom prst="rect">
            <a:avLst/>
          </a:prstGeom>
          <a:noFill/>
        </p:spPr>
        <p:txBody>
          <a:bodyPr wrap="square" lIns="0" rIns="0" tIns="0" bIns="0" anchor="t">
            <a:spAutoFit/>
          </a:bodyPr>
          <a:lstStyle/>
          <a:p>
            <a:pPr algn="l">
              <a:defRPr sz="2700" b="1">
                <a:solidFill>
                  <a:srgbClr val="20252A"/>
                </a:solidFill>
                <a:latin typeface="Bahnschrift"/>
              </a:defRPr>
            </a:pPr>
            <a:r>
              <a:t>MCP auth</a:t>
            </a:r>
          </a:p>
        </p:txBody>
      </p:sp>
      <p:sp>
        <p:nvSpPr>
          <p:cNvPr id="14" name="TextBox 13"/>
          <p:cNvSpPr txBox="1"/>
          <p:nvPr/>
        </p:nvSpPr>
        <p:spPr>
          <a:xfrm>
            <a:off x="6309360" y="2926079"/>
            <a:ext cx="5120640" cy="731520"/>
          </a:xfrm>
          <a:prstGeom prst="rect">
            <a:avLst/>
          </a:prstGeom>
          <a:noFill/>
        </p:spPr>
        <p:txBody>
          <a:bodyPr wrap="square" lIns="0" rIns="0" tIns="0" bIns="0" anchor="t">
            <a:spAutoFit/>
          </a:bodyPr>
          <a:lstStyle/>
          <a:p>
            <a:pPr algn="l">
              <a:defRPr sz="2100" b="0">
                <a:solidFill>
                  <a:srgbClr val="58656D"/>
                </a:solidFill>
                <a:latin typeface="Calibri"/>
              </a:defRPr>
            </a:pPr>
            <a:r>
              <a:t>Which caller may act on this resource?</a:t>
            </a:r>
          </a:p>
        </p:txBody>
      </p:sp>
      <p:sp>
        <p:nvSpPr>
          <p:cNvPr id="15" name="TextBox 14"/>
          <p:cNvSpPr txBox="1"/>
          <p:nvPr/>
        </p:nvSpPr>
        <p:spPr>
          <a:xfrm>
            <a:off x="594360" y="3867912"/>
            <a:ext cx="5120640" cy="228600"/>
          </a:xfrm>
          <a:prstGeom prst="rect">
            <a:avLst/>
          </a:prstGeom>
          <a:noFill/>
        </p:spPr>
        <p:txBody>
          <a:bodyPr wrap="square" lIns="0" rIns="0" tIns="0" bIns="0" anchor="t">
            <a:spAutoFit/>
          </a:bodyPr>
          <a:lstStyle/>
          <a:p>
            <a:pPr algn="l">
              <a:defRPr sz="1200" b="1">
                <a:solidFill>
                  <a:srgbClr val="B73935"/>
                </a:solidFill>
                <a:latin typeface="Calibri"/>
              </a:defRPr>
            </a:pPr>
            <a:r>
              <a:t>03:21:05</a:t>
            </a:r>
          </a:p>
        </p:txBody>
      </p:sp>
      <p:sp>
        <p:nvSpPr>
          <p:cNvPr id="16" name="TextBox 15"/>
          <p:cNvSpPr txBox="1"/>
          <p:nvPr/>
        </p:nvSpPr>
        <p:spPr>
          <a:xfrm>
            <a:off x="594360" y="4288536"/>
            <a:ext cx="5120640" cy="475488"/>
          </a:xfrm>
          <a:prstGeom prst="rect">
            <a:avLst/>
          </a:prstGeom>
          <a:noFill/>
        </p:spPr>
        <p:txBody>
          <a:bodyPr wrap="square" lIns="0" rIns="0" tIns="0" bIns="0" anchor="t">
            <a:spAutoFit/>
          </a:bodyPr>
          <a:lstStyle/>
          <a:p>
            <a:pPr algn="l">
              <a:defRPr sz="2700" b="1">
                <a:solidFill>
                  <a:srgbClr val="20252A"/>
                </a:solidFill>
                <a:latin typeface="Bahnschrift"/>
              </a:defRPr>
            </a:pPr>
            <a:r>
              <a:t>MCP Apps</a:t>
            </a:r>
          </a:p>
        </p:txBody>
      </p:sp>
      <p:sp>
        <p:nvSpPr>
          <p:cNvPr id="17" name="TextBox 16"/>
          <p:cNvSpPr txBox="1"/>
          <p:nvPr/>
        </p:nvSpPr>
        <p:spPr>
          <a:xfrm>
            <a:off x="594360" y="4919472"/>
            <a:ext cx="5120640" cy="731520"/>
          </a:xfrm>
          <a:prstGeom prst="rect">
            <a:avLst/>
          </a:prstGeom>
          <a:noFill/>
        </p:spPr>
        <p:txBody>
          <a:bodyPr wrap="square" lIns="0" rIns="0" tIns="0" bIns="0" anchor="t">
            <a:spAutoFit/>
          </a:bodyPr>
          <a:lstStyle/>
          <a:p>
            <a:pPr algn="l">
              <a:defRPr sz="2100" b="0">
                <a:solidFill>
                  <a:srgbClr val="58656D"/>
                </a:solidFill>
                <a:latin typeface="Calibri"/>
              </a:defRPr>
            </a:pPr>
            <a:r>
              <a:t>Can an embedded UI improve evidence review?</a:t>
            </a:r>
          </a:p>
        </p:txBody>
      </p:sp>
      <p:sp>
        <p:nvSpPr>
          <p:cNvPr id="18" name="TextBox 17"/>
          <p:cNvSpPr txBox="1"/>
          <p:nvPr/>
        </p:nvSpPr>
        <p:spPr>
          <a:xfrm>
            <a:off x="6309360" y="3867912"/>
            <a:ext cx="5120640" cy="228600"/>
          </a:xfrm>
          <a:prstGeom prst="rect">
            <a:avLst/>
          </a:prstGeom>
          <a:noFill/>
        </p:spPr>
        <p:txBody>
          <a:bodyPr wrap="square" lIns="0" rIns="0" tIns="0" bIns="0" anchor="t">
            <a:spAutoFit/>
          </a:bodyPr>
          <a:lstStyle/>
          <a:p>
            <a:pPr algn="l">
              <a:defRPr sz="1200" b="1">
                <a:solidFill>
                  <a:srgbClr val="006F78"/>
                </a:solidFill>
                <a:latin typeface="Calibri"/>
              </a:defRPr>
            </a:pPr>
            <a:r>
              <a:t>03:45:08</a:t>
            </a:r>
          </a:p>
        </p:txBody>
      </p:sp>
      <p:sp>
        <p:nvSpPr>
          <p:cNvPr id="19" name="TextBox 18"/>
          <p:cNvSpPr txBox="1"/>
          <p:nvPr/>
        </p:nvSpPr>
        <p:spPr>
          <a:xfrm>
            <a:off x="6309360" y="4288536"/>
            <a:ext cx="5120640" cy="475488"/>
          </a:xfrm>
          <a:prstGeom prst="rect">
            <a:avLst/>
          </a:prstGeom>
          <a:noFill/>
        </p:spPr>
        <p:txBody>
          <a:bodyPr wrap="square" lIns="0" rIns="0" tIns="0" bIns="0" anchor="t">
            <a:spAutoFit/>
          </a:bodyPr>
          <a:lstStyle/>
          <a:p>
            <a:pPr algn="l">
              <a:defRPr sz="2700" b="1">
                <a:solidFill>
                  <a:srgbClr val="20252A"/>
                </a:solidFill>
                <a:latin typeface="Bahnschrift"/>
              </a:defRPr>
            </a:pPr>
            <a:r>
              <a:t>Event-driven agents</a:t>
            </a:r>
          </a:p>
        </p:txBody>
      </p:sp>
      <p:sp>
        <p:nvSpPr>
          <p:cNvPr id="20" name="TextBox 19"/>
          <p:cNvSpPr txBox="1"/>
          <p:nvPr/>
        </p:nvSpPr>
        <p:spPr>
          <a:xfrm>
            <a:off x="6309360" y="4919472"/>
            <a:ext cx="5120640" cy="731520"/>
          </a:xfrm>
          <a:prstGeom prst="rect">
            <a:avLst/>
          </a:prstGeom>
          <a:noFill/>
        </p:spPr>
        <p:txBody>
          <a:bodyPr wrap="square" lIns="0" rIns="0" tIns="0" bIns="0" anchor="t">
            <a:spAutoFit/>
          </a:bodyPr>
          <a:lstStyle/>
          <a:p>
            <a:pPr algn="l">
              <a:defRPr sz="2100" b="0">
                <a:solidFill>
                  <a:srgbClr val="58656D"/>
                </a:solidFill>
                <a:latin typeface="Calibri"/>
              </a:defRPr>
            </a:pPr>
            <a:r>
              <a:t>Can recall arrival trigger analysis, not approval?</a:t>
            </a:r>
          </a:p>
        </p:txBody>
      </p:sp>
      <p:sp>
        <p:nvSpPr>
          <p:cNvPr id="21" name="TextBox 20"/>
          <p:cNvSpPr txBox="1"/>
          <p:nvPr/>
        </p:nvSpPr>
        <p:spPr>
          <a:xfrm>
            <a:off x="1234440" y="6080760"/>
            <a:ext cx="10241280" cy="256032"/>
          </a:xfrm>
          <a:prstGeom prst="rect">
            <a:avLst/>
          </a:prstGeom>
          <a:noFill/>
        </p:spPr>
        <p:txBody>
          <a:bodyPr wrap="square" lIns="0" rIns="0" tIns="0" bIns="0" anchor="t">
            <a:spAutoFit/>
          </a:bodyPr>
          <a:lstStyle/>
          <a:p>
            <a:pPr algn="l">
              <a:defRPr sz="1300" b="1">
                <a:solidFill>
                  <a:srgbClr val="B73935"/>
                </a:solidFill>
                <a:latin typeface="Calibri"/>
              </a:defRPr>
            </a:pPr>
            <a:r>
              <a:t>Extension ideas, not implemented features of this demo.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24</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APPENDIX | CLICKABLE SOURCES</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Continue exploring MCP</a:t>
            </a:r>
          </a:p>
        </p:txBody>
      </p:sp>
      <p:sp>
        <p:nvSpPr>
          <p:cNvPr id="9" name="TextBox 8"/>
          <p:cNvSpPr txBox="1"/>
          <p:nvPr/>
        </p:nvSpPr>
        <p:spPr>
          <a:xfrm>
            <a:off x="685800" y="1783080"/>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2"/>
              </a:rPr>
              <a:t>MCP Community Connect Bengaluru | event and session</a:t>
            </a:r>
          </a:p>
        </p:txBody>
      </p:sp>
      <p:sp>
        <p:nvSpPr>
          <p:cNvPr id="10" name="TextBox 9"/>
          <p:cNvSpPr txBox="1"/>
          <p:nvPr/>
        </p:nvSpPr>
        <p:spPr>
          <a:xfrm>
            <a:off x="685800" y="2185416"/>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3"/>
              </a:rPr>
              <a:t>MCP architecture | clients, servers and tools</a:t>
            </a:r>
          </a:p>
        </p:txBody>
      </p:sp>
      <p:sp>
        <p:nvSpPr>
          <p:cNvPr id="11" name="TextBox 10"/>
          <p:cNvSpPr txBox="1"/>
          <p:nvPr/>
        </p:nvSpPr>
        <p:spPr>
          <a:xfrm>
            <a:off x="685800" y="2587752"/>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4"/>
              </a:rPr>
              <a:t>MCP tools | schemas, results and errors</a:t>
            </a:r>
          </a:p>
        </p:txBody>
      </p:sp>
      <p:sp>
        <p:nvSpPr>
          <p:cNvPr id="12" name="TextBox 11"/>
          <p:cNvSpPr txBox="1"/>
          <p:nvPr/>
        </p:nvSpPr>
        <p:spPr>
          <a:xfrm>
            <a:off x="685800" y="2990088"/>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5"/>
              </a:rPr>
              <a:t>MCP lifecycle | initialization and capabilities</a:t>
            </a:r>
          </a:p>
        </p:txBody>
      </p:sp>
      <p:sp>
        <p:nvSpPr>
          <p:cNvPr id="13" name="TextBox 12"/>
          <p:cNvSpPr txBox="1"/>
          <p:nvPr/>
        </p:nvSpPr>
        <p:spPr>
          <a:xfrm>
            <a:off x="685800" y="3392424"/>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6"/>
              </a:rPr>
              <a:t>Agent Framework | orchestration patterns</a:t>
            </a:r>
          </a:p>
        </p:txBody>
      </p:sp>
      <p:sp>
        <p:nvSpPr>
          <p:cNvPr id="14" name="TextBox 13"/>
          <p:cNvSpPr txBox="1"/>
          <p:nvPr/>
        </p:nvSpPr>
        <p:spPr>
          <a:xfrm>
            <a:off x="685800" y="3794760"/>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7"/>
              </a:rPr>
              <a:t>MCP Live! | Toolboxes in Microsoft Foundry | 1:20:23</a:t>
            </a:r>
          </a:p>
        </p:txBody>
      </p:sp>
      <p:sp>
        <p:nvSpPr>
          <p:cNvPr id="15" name="TextBox 14"/>
          <p:cNvSpPr txBox="1"/>
          <p:nvPr/>
        </p:nvSpPr>
        <p:spPr>
          <a:xfrm>
            <a:off x="685800" y="4197096"/>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8"/>
              </a:rPr>
              <a:t>MCP Live! | Evolution of MCP auth | 2:32:29</a:t>
            </a:r>
          </a:p>
        </p:txBody>
      </p:sp>
      <p:sp>
        <p:nvSpPr>
          <p:cNvPr id="16" name="TextBox 15"/>
          <p:cNvSpPr txBox="1"/>
          <p:nvPr/>
        </p:nvSpPr>
        <p:spPr>
          <a:xfrm>
            <a:off x="685800" y="4599432"/>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9"/>
              </a:rPr>
              <a:t>MCP Live! | Building MCP Apps | 3:21:05</a:t>
            </a:r>
          </a:p>
        </p:txBody>
      </p:sp>
      <p:sp>
        <p:nvSpPr>
          <p:cNvPr id="17" name="TextBox 16"/>
          <p:cNvSpPr txBox="1"/>
          <p:nvPr/>
        </p:nvSpPr>
        <p:spPr>
          <a:xfrm>
            <a:off x="685800" y="5001768"/>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10"/>
              </a:rPr>
              <a:t>MCP Live! | Event-driven agents | 3:45:08</a:t>
            </a:r>
          </a:p>
        </p:txBody>
      </p:sp>
      <p:sp>
        <p:nvSpPr>
          <p:cNvPr id="18" name="TextBox 17"/>
          <p:cNvSpPr txBox="1"/>
          <p:nvPr/>
        </p:nvSpPr>
        <p:spPr>
          <a:xfrm>
            <a:off x="685800" y="5404104"/>
            <a:ext cx="10881360" cy="365760"/>
          </a:xfrm>
          <a:prstGeom prst="rect">
            <a:avLst/>
          </a:prstGeom>
          <a:noFill/>
        </p:spPr>
        <p:txBody>
          <a:bodyPr wrap="square" lIns="0" rIns="0" tIns="0" bIns="0" anchor="t">
            <a:spAutoFit/>
          </a:bodyPr>
          <a:lstStyle/>
          <a:p>
            <a:pPr algn="l">
              <a:defRPr sz="1600" b="0">
                <a:solidFill>
                  <a:srgbClr val="006F78"/>
                </a:solidFill>
                <a:latin typeface="Calibri"/>
              </a:defRPr>
            </a:pPr>
            <a:r>
              <a:rPr>
                <a:hlinkClick r:id="rId11"/>
              </a:rPr>
              <a:t>MCP Live! | official resource collection</a:t>
            </a:r>
          </a:p>
        </p:txBody>
      </p:sp>
      <p:sp>
        <p:nvSpPr>
          <p:cNvPr id="19" name="TextBox 18"/>
          <p:cNvSpPr txBox="1"/>
          <p:nvPr/>
        </p:nvSpPr>
        <p:spPr>
          <a:xfrm>
            <a:off x="685800" y="5943600"/>
            <a:ext cx="10881360" cy="365760"/>
          </a:xfrm>
          <a:prstGeom prst="rect">
            <a:avLst/>
          </a:prstGeom>
          <a:noFill/>
        </p:spPr>
        <p:txBody>
          <a:bodyPr wrap="square" lIns="0" rIns="0" tIns="0" bIns="0" anchor="t">
            <a:spAutoFit/>
          </a:bodyPr>
          <a:lstStyle/>
          <a:p>
            <a:pPr algn="l">
              <a:defRPr sz="1300" b="0">
                <a:solidFill>
                  <a:srgbClr val="58656D"/>
                </a:solidFill>
                <a:latin typeface="Calibri"/>
              </a:defRPr>
            </a:pPr>
            <a:r>
              <a:t>MCP Live additions are based on its published agenda, not a full transcript review.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3931920" cy="182880"/>
          </a:xfrm>
          <a:prstGeom prst="rect">
            <a:avLst/>
          </a:prstGeom>
          <a:noFill/>
        </p:spPr>
        <p:txBody>
          <a:bodyPr wrap="square" lIns="0" rIns="0" tIns="0" bIns="0" anchor="t">
            <a:spAutoFit/>
          </a:bodyPr>
          <a:lstStyle/>
          <a:p>
            <a:pPr algn="l">
              <a:defRPr sz="900" b="1">
                <a:solidFill>
                  <a:srgbClr val="006F78"/>
                </a:solidFill>
                <a:latin typeface="Calibri"/>
              </a:defRPr>
            </a:pPr>
            <a:r>
              <a:t>MCP COMMUNITY CONNECT</a:t>
            </a:r>
          </a:p>
        </p:txBody>
      </p:sp>
      <p:sp>
        <p:nvSpPr>
          <p:cNvPr id="5" name="TextBox 4"/>
          <p:cNvSpPr txBox="1"/>
          <p:nvPr/>
        </p:nvSpPr>
        <p:spPr>
          <a:xfrm>
            <a:off x="7498079" y="6510528"/>
            <a:ext cx="3566160" cy="182880"/>
          </a:xfrm>
          <a:prstGeom prst="rect">
            <a:avLst/>
          </a:prstGeom>
          <a:noFill/>
        </p:spPr>
        <p:txBody>
          <a:bodyPr wrap="square" lIns="0" rIns="0" tIns="0" bIns="0" anchor="t">
            <a:spAutoFit/>
          </a:bodyPr>
          <a:lstStyle/>
          <a:p>
            <a:pPr algn="r">
              <a:defRPr sz="900" b="0">
                <a:solidFill>
                  <a:srgbClr val="58656D"/>
                </a:solidFill>
                <a:latin typeface="Calibri"/>
              </a:defRPr>
            </a:pPr>
            <a:r>
              <a:t>BENGALURU  /  26 SEP 2026</a:t>
            </a:r>
          </a:p>
        </p:txBody>
      </p:sp>
      <p:sp>
        <p:nvSpPr>
          <p:cNvPr id="6" name="TextBox 5"/>
          <p:cNvSpPr txBox="1"/>
          <p:nvPr/>
        </p:nvSpPr>
        <p:spPr>
          <a:xfrm>
            <a:off x="11292840" y="6455664"/>
            <a:ext cx="411480" cy="274320"/>
          </a:xfrm>
          <a:prstGeom prst="rect">
            <a:avLst/>
          </a:prstGeom>
          <a:noFill/>
        </p:spPr>
        <p:txBody>
          <a:bodyPr wrap="square" lIns="0" rIns="0" tIns="0" bIns="0" anchor="t">
            <a:spAutoFit/>
          </a:bodyPr>
          <a:lstStyle/>
          <a:p>
            <a:pPr algn="l">
              <a:defRPr sz="1300" b="0">
                <a:solidFill>
                  <a:srgbClr val="006F78"/>
                </a:solidFill>
                <a:latin typeface="Bahnschrift"/>
              </a:defRPr>
            </a:pPr>
            <a:r>
              <a:t>25</a:t>
            </a:r>
          </a:p>
        </p:txBody>
      </p:sp>
      <p:sp>
        <p:nvSpPr>
          <p:cNvPr id="7" name="TextBox 6"/>
          <p:cNvSpPr txBox="1"/>
          <p:nvPr/>
        </p:nvSpPr>
        <p:spPr>
          <a:xfrm>
            <a:off x="594360" y="384048"/>
            <a:ext cx="10972800" cy="256032"/>
          </a:xfrm>
          <a:prstGeom prst="rect">
            <a:avLst/>
          </a:prstGeom>
          <a:noFill/>
        </p:spPr>
        <p:txBody>
          <a:bodyPr wrap="square" lIns="0" rIns="0" tIns="0" bIns="0" anchor="t">
            <a:spAutoFit/>
          </a:bodyPr>
          <a:lstStyle/>
          <a:p>
            <a:pPr algn="l">
              <a:defRPr sz="1100" b="1">
                <a:solidFill>
                  <a:srgbClr val="006F78"/>
                </a:solidFill>
                <a:latin typeface="Calibri"/>
              </a:defRPr>
            </a:pPr>
            <a:r>
              <a:t>PRESENTER NAVIGATION | OUTSIDE TIMED SHOW</a:t>
            </a:r>
          </a:p>
        </p:txBody>
      </p:sp>
      <p:sp>
        <p:nvSpPr>
          <p:cNvPr id="8" name="TextBox 7"/>
          <p:cNvSpPr txBox="1"/>
          <p:nvPr/>
        </p:nvSpPr>
        <p:spPr>
          <a:xfrm>
            <a:off x="566928" y="786384"/>
            <a:ext cx="11064240" cy="777240"/>
          </a:xfrm>
          <a:prstGeom prst="rect">
            <a:avLst/>
          </a:prstGeom>
          <a:noFill/>
        </p:spPr>
        <p:txBody>
          <a:bodyPr wrap="square" lIns="0" rIns="0" tIns="0" bIns="0" anchor="t">
            <a:spAutoFit/>
          </a:bodyPr>
          <a:lstStyle/>
          <a:p>
            <a:pPr algn="l">
              <a:defRPr sz="3200" b="1">
                <a:solidFill>
                  <a:srgbClr val="20252A"/>
                </a:solidFill>
                <a:latin typeface="Bahnschrift"/>
              </a:defRPr>
            </a:pPr>
            <a:r>
              <a:t>Demo Index</a:t>
            </a:r>
          </a:p>
        </p:txBody>
      </p:sp>
      <p:sp>
        <p:nvSpPr>
          <p:cNvPr id="9" name="TextBox 8">
            <a:hlinkClick action="ppaction://hlinksldjump" r:id="rId2"/>
          </p:cNvPr>
          <p:cNvSpPr txBox="1"/>
          <p:nvPr/>
        </p:nvSpPr>
        <p:spPr>
          <a:xfrm>
            <a:off x="594360" y="1828800"/>
            <a:ext cx="5120640" cy="457200"/>
          </a:xfrm>
          <a:prstGeom prst="rect">
            <a:avLst/>
          </a:prstGeom>
          <a:noFill/>
        </p:spPr>
        <p:txBody>
          <a:bodyPr wrap="square" lIns="0" rIns="0" tIns="0" bIns="0" anchor="t">
            <a:spAutoFit/>
          </a:bodyPr>
          <a:lstStyle/>
          <a:p>
            <a:pPr algn="l">
              <a:defRPr sz="2200" b="1">
                <a:solidFill>
                  <a:srgbClr val="006F78"/>
                </a:solidFill>
                <a:latin typeface="Calibri"/>
              </a:defRPr>
            </a:pPr>
            <a:r>
              <a:t>01  Find the Stock</a:t>
            </a:r>
          </a:p>
        </p:txBody>
      </p:sp>
      <p:sp>
        <p:nvSpPr>
          <p:cNvPr id="10" name="TextBox 9"/>
          <p:cNvSpPr txBox="1"/>
          <p:nvPr/>
        </p:nvSpPr>
        <p:spPr>
          <a:xfrm>
            <a:off x="5852160" y="1828800"/>
            <a:ext cx="5486400" cy="594360"/>
          </a:xfrm>
          <a:prstGeom prst="rect">
            <a:avLst/>
          </a:prstGeom>
          <a:noFill/>
        </p:spPr>
        <p:txBody>
          <a:bodyPr wrap="square" lIns="0" rIns="0" tIns="0" bIns="0" anchor="t">
            <a:spAutoFit/>
          </a:bodyPr>
          <a:lstStyle/>
          <a:p>
            <a:pPr algn="l">
              <a:defRPr sz="1800" b="0">
                <a:solidFill>
                  <a:srgbClr val="20252A"/>
                </a:solidFill>
                <a:latin typeface="Calibri"/>
              </a:defRPr>
            </a:pPr>
            <a:r>
              <a:t>Prepared MCP terminal: discovery and valid read</a:t>
            </a:r>
          </a:p>
        </p:txBody>
      </p:sp>
      <p:sp>
        <p:nvSpPr>
          <p:cNvPr id="11" name="TextBox 10">
            <a:hlinkClick action="ppaction://hlinksldjump" r:id="rId3"/>
          </p:cNvPr>
          <p:cNvSpPr txBox="1"/>
          <p:nvPr/>
        </p:nvSpPr>
        <p:spPr>
          <a:xfrm>
            <a:off x="594360" y="2633472"/>
            <a:ext cx="5120640" cy="457200"/>
          </a:xfrm>
          <a:prstGeom prst="rect">
            <a:avLst/>
          </a:prstGeom>
          <a:noFill/>
        </p:spPr>
        <p:txBody>
          <a:bodyPr wrap="square" lIns="0" rIns="0" tIns="0" bIns="0" anchor="t">
            <a:spAutoFit/>
          </a:bodyPr>
          <a:lstStyle/>
          <a:p>
            <a:pPr algn="l">
              <a:defRPr sz="2200" b="1">
                <a:solidFill>
                  <a:srgbClr val="006F78"/>
                </a:solidFill>
                <a:latin typeface="Calibri"/>
              </a:defRPr>
            </a:pPr>
            <a:r>
              <a:t>02  Produce the Brief</a:t>
            </a:r>
          </a:p>
        </p:txBody>
      </p:sp>
      <p:sp>
        <p:nvSpPr>
          <p:cNvPr id="12" name="TextBox 11"/>
          <p:cNvSpPr txBox="1"/>
          <p:nvPr/>
        </p:nvSpPr>
        <p:spPr>
          <a:xfrm>
            <a:off x="5852160" y="2633472"/>
            <a:ext cx="5486400" cy="594360"/>
          </a:xfrm>
          <a:prstGeom prst="rect">
            <a:avLst/>
          </a:prstGeom>
          <a:noFill/>
        </p:spPr>
        <p:txBody>
          <a:bodyPr wrap="square" lIns="0" rIns="0" tIns="0" bIns="0" anchor="t">
            <a:spAutoFit/>
          </a:bodyPr>
          <a:lstStyle/>
          <a:p>
            <a:pPr algn="l">
              <a:defRPr sz="1800" b="0">
                <a:solidFill>
                  <a:srgbClr val="20252A"/>
                </a:solidFill>
                <a:latin typeface="Calibri"/>
              </a:defRPr>
            </a:pPr>
            <a:r>
              <a:t>Hosted Control Tower: Run analysis; inspect response ID</a:t>
            </a:r>
          </a:p>
        </p:txBody>
      </p:sp>
      <p:sp>
        <p:nvSpPr>
          <p:cNvPr id="13" name="TextBox 12">
            <a:hlinkClick action="ppaction://hlinksldjump" r:id="rId4"/>
          </p:cNvPr>
          <p:cNvSpPr txBox="1"/>
          <p:nvPr/>
        </p:nvSpPr>
        <p:spPr>
          <a:xfrm>
            <a:off x="594360" y="3438144"/>
            <a:ext cx="5120640" cy="457200"/>
          </a:xfrm>
          <a:prstGeom prst="rect">
            <a:avLst/>
          </a:prstGeom>
          <a:noFill/>
        </p:spPr>
        <p:txBody>
          <a:bodyPr wrap="square" lIns="0" rIns="0" tIns="0" bIns="0" anchor="t">
            <a:spAutoFit/>
          </a:bodyPr>
          <a:lstStyle/>
          <a:p>
            <a:pPr algn="l">
              <a:defRPr sz="2200" b="1">
                <a:solidFill>
                  <a:srgbClr val="006F78"/>
                </a:solidFill>
                <a:latin typeface="Calibri"/>
              </a:defRPr>
            </a:pPr>
            <a:r>
              <a:t>03  Investigate a Failure</a:t>
            </a:r>
          </a:p>
        </p:txBody>
      </p:sp>
      <p:sp>
        <p:nvSpPr>
          <p:cNvPr id="14" name="TextBox 13"/>
          <p:cNvSpPr txBox="1"/>
          <p:nvPr/>
        </p:nvSpPr>
        <p:spPr>
          <a:xfrm>
            <a:off x="5852160" y="3438144"/>
            <a:ext cx="5486400" cy="594360"/>
          </a:xfrm>
          <a:prstGeom prst="rect">
            <a:avLst/>
          </a:prstGeom>
          <a:noFill/>
        </p:spPr>
        <p:txBody>
          <a:bodyPr wrap="square" lIns="0" rIns="0" tIns="0" bIns="0" anchor="t">
            <a:spAutoFit/>
          </a:bodyPr>
          <a:lstStyle/>
          <a:p>
            <a:pPr algn="l">
              <a:defRPr sz="1800" b="0">
                <a:solidFill>
                  <a:srgbClr val="20252A"/>
                </a:solidFill>
                <a:latin typeface="Calibri"/>
              </a:defRPr>
            </a:pPr>
            <a:r>
              <a:t>Same MCP terminal: validation, denial, unchanged state</a:t>
            </a:r>
          </a:p>
        </p:txBody>
      </p:sp>
      <p:sp>
        <p:nvSpPr>
          <p:cNvPr id="15" name="TextBox 14">
            <a:hlinkClick action="ppaction://hlinksldjump" r:id="rId5"/>
          </p:cNvPr>
          <p:cNvSpPr txBox="1"/>
          <p:nvPr/>
        </p:nvSpPr>
        <p:spPr>
          <a:xfrm>
            <a:off x="594360" y="4242816"/>
            <a:ext cx="5120640" cy="457200"/>
          </a:xfrm>
          <a:prstGeom prst="rect">
            <a:avLst/>
          </a:prstGeom>
          <a:noFill/>
        </p:spPr>
        <p:txBody>
          <a:bodyPr wrap="square" lIns="0" rIns="0" tIns="0" bIns="0" anchor="t">
            <a:spAutoFit/>
          </a:bodyPr>
          <a:lstStyle/>
          <a:p>
            <a:pPr algn="l">
              <a:defRPr sz="2200" b="1">
                <a:solidFill>
                  <a:srgbClr val="006F78"/>
                </a:solidFill>
                <a:latin typeface="Calibri"/>
              </a:defRPr>
            </a:pPr>
            <a:r>
              <a:t>04  Give Authority to the Person</a:t>
            </a:r>
          </a:p>
        </p:txBody>
      </p:sp>
      <p:sp>
        <p:nvSpPr>
          <p:cNvPr id="16" name="TextBox 15"/>
          <p:cNvSpPr txBox="1"/>
          <p:nvPr/>
        </p:nvSpPr>
        <p:spPr>
          <a:xfrm>
            <a:off x="5852160" y="4242816"/>
            <a:ext cx="5486400" cy="594360"/>
          </a:xfrm>
          <a:prstGeom prst="rect">
            <a:avLst/>
          </a:prstGeom>
          <a:noFill/>
        </p:spPr>
        <p:txBody>
          <a:bodyPr wrap="square" lIns="0" rIns="0" tIns="0" bIns="0" anchor="t">
            <a:spAutoFit/>
          </a:bodyPr>
          <a:lstStyle/>
          <a:p>
            <a:pPr algn="l">
              <a:defRPr sz="1800" b="0">
                <a:solidFill>
                  <a:srgbClr val="20252A"/>
                </a:solidFill>
                <a:latin typeface="Calibri"/>
              </a:defRPr>
            </a:pPr>
            <a:r>
              <a:t>Same hosted session: authenticated approval and audit</a:t>
            </a:r>
          </a:p>
        </p:txBody>
      </p:sp>
      <p:sp>
        <p:nvSpPr>
          <p:cNvPr id="17" name="TextBox 16">
            <a:hlinkClick action="ppaction://hlinksldjump" r:id="rId6"/>
          </p:cNvPr>
          <p:cNvSpPr txBox="1"/>
          <p:nvPr/>
        </p:nvSpPr>
        <p:spPr>
          <a:xfrm>
            <a:off x="594360" y="5047488"/>
            <a:ext cx="5120640" cy="457200"/>
          </a:xfrm>
          <a:prstGeom prst="rect">
            <a:avLst/>
          </a:prstGeom>
          <a:noFill/>
        </p:spPr>
        <p:txBody>
          <a:bodyPr wrap="square" lIns="0" rIns="0" tIns="0" bIns="0" anchor="t">
            <a:spAutoFit/>
          </a:bodyPr>
          <a:lstStyle/>
          <a:p>
            <a:pPr algn="l">
              <a:defRPr sz="2200" b="1">
                <a:solidFill>
                  <a:srgbClr val="006F78"/>
                </a:solidFill>
                <a:latin typeface="Calibri"/>
              </a:defRPr>
            </a:pPr>
            <a:r>
              <a:t>05  Prove the Outcome</a:t>
            </a:r>
          </a:p>
        </p:txBody>
      </p:sp>
      <p:sp>
        <p:nvSpPr>
          <p:cNvPr id="18" name="TextBox 17"/>
          <p:cNvSpPr txBox="1"/>
          <p:nvPr/>
        </p:nvSpPr>
        <p:spPr>
          <a:xfrm>
            <a:off x="5852160" y="5047488"/>
            <a:ext cx="5486400" cy="594360"/>
          </a:xfrm>
          <a:prstGeom prst="rect">
            <a:avLst/>
          </a:prstGeom>
          <a:noFill/>
        </p:spPr>
        <p:txBody>
          <a:bodyPr wrap="square" lIns="0" rIns="0" tIns="0" bIns="0" anchor="t">
            <a:spAutoFit/>
          </a:bodyPr>
          <a:lstStyle/>
          <a:p>
            <a:pPr algn="l">
              <a:defRPr sz="1800" b="0">
                <a:solidFill>
                  <a:srgbClr val="20252A"/>
                </a:solidFill>
                <a:latin typeface="Calibri"/>
              </a:defRPr>
            </a:pPr>
            <a:r>
              <a:t>Keep browser open: first call and latest replay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Prototype to Production: Engineering Agent Systems with MCP, Multi-Agent Patterns and Real Work | Story Edition</dc:title>
  <dc:subject>Synthetic recall: problem, decision, demonstration, evidence, lesson</dc:subject>
  <dc:creator>Lee Stott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